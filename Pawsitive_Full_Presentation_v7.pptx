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83" r:id="rId35"/>
    <p:sldId id="266" r:id="rId18"/>
    <p:sldId id="267" r:id="rId19"/>
    <p:sldId id="268" r:id="rId20"/>
    <p:sldId id="269" r:id="rId21"/>
    <p:sldId id="285" r:id="rId37"/>
    <p:sldId id="270" r:id="rId22"/>
    <p:sldId id="281" r:id="rId33"/>
    <p:sldId id="284" r:id="rId36"/>
    <p:sldId id="261" r:id="rId13"/>
    <p:sldId id="262" r:id="rId14"/>
    <p:sldId id="263" r:id="rId15"/>
    <p:sldId id="264" r:id="rId16"/>
    <p:sldId id="265" r:id="rId17"/>
    <p:sldId id="271" r:id="rId23"/>
    <p:sldId id="272" r:id="rId24"/>
    <p:sldId id="273" r:id="rId25"/>
    <p:sldId id="274" r:id="rId26"/>
    <p:sldId id="275" r:id="rId27"/>
    <p:sldId id="276" r:id="rId28"/>
    <p:sldId id="277" r:id="rId29"/>
    <p:sldId id="278" r:id="rId30"/>
    <p:sldId id="279" r:id="rId31"/>
    <p:sldId id="280" r:id="rId32"/>
    <p:sldId id="282" r:id="rId34"/>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We are Meridian Tech Group. We built a website and a native Android app for Pawsitive Pet Academy. Today we explain why we chose this design, how it looks, how it works, and then we show it running.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us had a lead role, but we all worked across the project. Kelebogile leads the website, Mohamed leads UI/UX design, Theolin leads the mobile app.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client is Sarah Smith, who runs Pawsitive Pet Academy in Durban. She offers seven courses. Her goals: let people browse, get a quote, and be rewarded with a discount for taking more than one course.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scored the three proposals. The Pawsitive Pet Academy proposal scored 27, ahead of 24 and 20. It also had the most detail, so it was easier to turn into a real website and app. That is the motivation for our design selection.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Logo: Mohamed's dog logo scored 27 against 21. Palette: Kelebogile's cream, powder blue and tan was chosen because it felt softer and more welcoming. The final design combines both.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is my original Phase 1 logo: sage green background and charcoal outline with a brown dog. Right is the final logo. The dog, the layout, the heart and the vines are all kept. Only the colours changed, to cream, powder blue and tan, so the logo matches the website and the app. When we voted between a full redesign and a simple recolour it was a 50-50 tie, so we spun a wheel and it landed on recolour. Everyone was happy with that.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each symbol in one sentence. Dog: most courses are about dogs, and the smile makes the brand friendly. Heart: care for animals. Vines: nature, growth and wellbeing. Then say why we recoloured: it kept a design that already worked and made it match the palette.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Low-fi was built in Figma in August: 6 web and 6 mobile screens, boxes and layout only, to agree on structure before colour. High-fi came in September: 6 desktop and 7 mobile screens (the mobile set adds the splash screen) with the real palette, fonts, photos and copy. Next slides show two before-and-after examples.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grey placeholder boxes, just a rates table, the discount structure and a summary line. After: the same structure with the real palette, a powder blue summary box for the total, and tan for the action. The structure survived because it worked.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Low-fi was a cart and a grey summary. High-fi added colour and a clean summary card. The Figma screens were a guide, not an exact copy: the finished Android app lists all seven courses, adds 15% VAT after the discount and uses a bottom navigation bar.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planned the structure before designing. Home, About Us, a summary of courses, a detail page per course, the Fees Calculator and Contact Us. The two journeys we designed for are browsing courses and getting a quote.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Website: HTML, CSS and JavaScript. App: native Android in Kotlin with XML layouts. We started the app in React Native but moved to Kotlin. For teamwork: Figma, GitHub, Teams, WhatsApp and shared drives.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screenshots of the finished website. Home gives a quick welcome, key facts and a clear way to view courses or work out fees. Courses lists all seven courses with price and length. About Us introduces Sarah and the team.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 seven courses has a detail page with description and fee. Contact Us shows phone, email, address, office hours and a map, plus a message form.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 is a native Android app. It follows the same structure and brand as the website. The bottom bar gives one-tap access to Home, Courses, Fees and Contact. The screens here are the Figma designs the app was built from; the finished app lists all seven courses and adds VAT to the fees calculator.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Palette: cream for backgrounds, powder blue for grouping information, tan only for actions. That keeps the site and the app consistent and easy to scan. Fonts: Book Antiqua for headings, Arial Narrow for subheadings, Calibri for body text. In Figma the brand fonts were not available so I used close substitutes in the high-fi screens.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 from Nielsen Norman Group says tab bars are one of the most reliable mobile patterns because key destinations stay visible, and hiding navigation behind a hamburger reduces use. On the web we use a persistent top bar; on mobile we switched to bottom tabs. The final app has Home, Courses, Fees and Contact in the bar, with About Us and Pricing in a top menu.</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logic on both platforms. Web is HTML, CSS and JavaScript; the app is Kotlin on Android. A user ticks courses and the maths updates immediately. 6-month courses are R1,500 and 6-week courses are R750.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Contact Us gives phone, email, the Morningside address, office hours Monday to Friday 08:00 to 17:00, social media, a map with a Get directions link, and a short message form that confirms when it is sent. The app has the same details with directions.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Rules: one course gets no discount, two courses 5%, three courses 10%, four or more 15%. The discount comes off the subtotal first, then VAT of 15% is added to the discounted amount. Why that order? VAT is charged on the price the customer actually pays, so the invoice shows VAT on the discounted amount (R573.75), not on the R4,500 list price (which would be R675).</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example I'll run live: Canine Obedience, Pet Grooming, Puppy Care and Pet First Aid. Subtotal R4,500. At four courses the discount is 15%, which is R675. That leaves R3,825. VAT at 15% on that is R573.75. Total R4,398.75.</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website. After ticking four courses the discount label says 15%, the discount is R675, VAT is R573.75 and the estimated total is R4,398.75. The page notes that it is an estimate and Sarah emails the official quote.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works on their own branch (I made MoZa-Website and MoZa-mobile on 21 September). You pull main first, make a branch, commit, push, then open a Pull Request. Someone else reviews it and merges it. I explained this to the group, wrote a guide, and recorded a screen video for a teammate who found the written steps hard. Honest lesson: early on I merged one of my own pull requests before it was reviewed, and that is why we agreed to always have someone else review and merge.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 #7 is a clean example of the whole workflow. Kelebogile pushed her branch kele-css, opened Pull Request #7 with her CSS (a shared base plus her summary page and detail page styles), and I reviewed and merged it on 22 October. It became the first main.css in the repository, and the other members added theirs after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Rehearse this twice before presenting. Tick Canine Obedience, Pet Grooming, Puppy Care and Pet First Aid. Subtotal R4,500, discount 15% = R675, VAT R573.75, total R4,398.75. Then untick one course and show the discount fall to 10%. If the live site fails, use the app version or the slide with the worked numbers as a backup. Tip: on the website a course page link such as calculator page with #puppy in the address pre-ticks that course.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real problems. Merge conflicts taught us to pull before pushing and review before merging. The app first had only three courses, which meant the 15 percent discount could never show, so we added all seven. We fixed a manifest merger error and replaced paid stock images with royalty-free icons.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 Kele covers the website.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 Mohamed covers the logo, wireframes, design choices, his pages, Git and the live demo.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 Theolin covers the mobile app and what we learned.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Scan the QR code to watch the full recorded demo of our website and app on YouTube (unlisted): https://youtu.be/iXkaTIPUEzo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6.jpg"/><Relationship Id="rId6" Type="http://schemas.openxmlformats.org/officeDocument/2006/relationships/image" Target="../media/image7.jpg"/><Relationship Id="rId7" Type="http://schemas.openxmlformats.org/officeDocument/2006/relationships/image" Target="../media/image8.jpg"/><Relationship Id="rId8" Type="http://schemas.openxmlformats.org/officeDocument/2006/relationships/image" Target="../media/image9.jpg"/><Relationship Id="rId9" Type="http://schemas.openxmlformats.org/officeDocument/2006/relationships/image" Target="../media/image10.jpg"/><Relationship Id="rId10" Type="http://schemas.openxmlformats.org/officeDocument/2006/relationships/image" Target="../media/image11.jpg"/><Relationship Id="rId11" Type="http://schemas.openxmlformats.org/officeDocument/2006/relationships/image" Target="../media/image12.jpg"/><Relationship Id="rId12" Type="http://schemas.openxmlformats.org/officeDocument/2006/relationships/image" Target="../media/image13.jpg"/><Relationship Id="rId13" Type="http://schemas.openxmlformats.org/officeDocument/2006/relationships/image" Target="../media/image14.jpg"/><Relationship Id="rId14" Type="http://schemas.openxmlformats.org/officeDocument/2006/relationships/image" Target="../media/image15.jpg"/><Relationship Id="rId15" Type="http://schemas.openxmlformats.org/officeDocument/2006/relationships/image" Target="../media/image16.jpg"/><Relationship Id="rId16" Type="http://schemas.openxmlformats.org/officeDocument/2006/relationships/image" Target="../media/image17.jpg"/><Relationship Id="rId17" Type="http://schemas.openxmlformats.org/officeDocument/2006/relationships/image" Target="../media/image18.jpg"/><Relationship Id="rId18" Type="http://schemas.openxmlformats.org/officeDocument/2006/relationships/image" Target="../media/image19.jpg"/><Relationship Id="rId19" Type="http://schemas.openxmlformats.org/officeDocument/2006/relationships/image" Target="../media/image20.jpg"/><Relationship Id="rId20" Type="http://schemas.openxmlformats.org/officeDocument/2006/relationships/image" Target="../media/image21.jpg"/><Relationship Id="rId21" Type="http://schemas.openxmlformats.org/officeDocument/2006/relationships/image" Target="../media/image22.jpg"/><Relationship Id="rId22" Type="http://schemas.openxmlformats.org/officeDocument/2006/relationships/image" Target="../media/image23.jpg"/><Relationship Id="rId23" Type="http://schemas.openxmlformats.org/officeDocument/2006/relationships/image" Target="../media/image24.jpg"/><Relationship Id="rId24" Type="http://schemas.openxmlformats.org/officeDocument/2006/relationships/image" Target="../media/image25.jpg"/><Relationship Id="rId25" Type="http://schemas.openxmlformats.org/officeDocument/2006/relationships/image" Target="../media/image26.jpg"/><Relationship Id="rId26" Type="http://schemas.openxmlformats.org/officeDocument/2006/relationships/image" Target="../media/image27.jpg"/><Relationship Id="rId2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19.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26.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 Id="rId4" Type="http://schemas.openxmlformats.org/officeDocument/2006/relationships/image" Target="../media/image24.jpg"/><Relationship Id="rId5" Type="http://schemas.openxmlformats.org/officeDocument/2006/relationships/image" Target="../media/image25.jpg"/><Relationship Id="rId6" Type="http://schemas.openxmlformats.org/officeDocument/2006/relationships/image" Target="../media/image26.jpg"/><Relationship Id="rId7" Type="http://schemas.openxmlformats.org/officeDocument/2006/relationships/image" Target="../media/image27.jpg"/><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26.jp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image" Target="../media/image27.jp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Rectangle 1"/>
          <p:cNvSpPr/>
          <p:nvPr/>
        </p:nvSpPr>
        <p:spPr>
          <a:xfrm>
            <a:off x="0" y="5394960"/>
            <a:ext cx="12191695" cy="1463040"/>
          </a:xfrm>
          <a:prstGeom prst="rect">
            <a:avLst/>
          </a:prstGeom>
          <a:solidFill>
            <a:srgbClr val="5A3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inal_site.jpg"/>
          <p:cNvPicPr>
            <a:picLocks noChangeAspect="1"/>
          </p:cNvPicPr>
          <p:nvPr/>
        </p:nvPicPr>
        <p:blipFill>
          <a:blip r:embed="rId2"/>
          <a:stretch>
            <a:fillRect/>
          </a:stretch>
        </p:blipFill>
        <p:spPr>
          <a:xfrm>
            <a:off x="6949440" y="822960"/>
            <a:ext cx="4572000" cy="2421731"/>
          </a:xfrm>
          <a:prstGeom prst="rect">
            <a:avLst/>
          </a:prstGeom>
        </p:spPr>
      </p:pic>
      <p:sp>
        <p:nvSpPr>
          <p:cNvPr id="4" name="TextBox 3"/>
          <p:cNvSpPr txBox="1"/>
          <p:nvPr/>
        </p:nvSpPr>
        <p:spPr>
          <a:xfrm>
            <a:off x="731520" y="1371600"/>
            <a:ext cx="6217920" cy="1645920"/>
          </a:xfrm>
          <a:prstGeom prst="rect">
            <a:avLst/>
          </a:prstGeom>
          <a:noFill/>
        </p:spPr>
        <p:txBody>
          <a:bodyPr wrap="square" anchor="t" lIns="45720" rIns="45720">
            <a:spAutoFit/>
          </a:bodyPr>
          <a:lstStyle/>
          <a:p>
            <a:pPr algn="l">
              <a:spcAft>
                <a:spcPts val="600"/>
              </a:spcAft>
            </a:pPr>
            <a:r>
              <a:rPr sz="4400" b="1">
                <a:solidFill>
                  <a:srgbClr val="5A3E2B"/>
                </a:solidFill>
                <a:latin typeface="Book Antiqua"/>
              </a:rPr>
              <a:t>Pawsitive Pet Academy</a:t>
            </a:r>
          </a:p>
        </p:txBody>
      </p:sp>
      <p:sp>
        <p:nvSpPr>
          <p:cNvPr id="5" name="TextBox 4"/>
          <p:cNvSpPr txBox="1"/>
          <p:nvPr/>
        </p:nvSpPr>
        <p:spPr>
          <a:xfrm>
            <a:off x="731520" y="3200400"/>
            <a:ext cx="6035040" cy="914400"/>
          </a:xfrm>
          <a:prstGeom prst="rect">
            <a:avLst/>
          </a:prstGeom>
          <a:noFill/>
        </p:spPr>
        <p:txBody>
          <a:bodyPr wrap="square" anchor="t" lIns="45720" rIns="45720">
            <a:spAutoFit/>
          </a:bodyPr>
          <a:lstStyle/>
          <a:p>
            <a:pPr algn="l">
              <a:spcAft>
                <a:spcPts val="600"/>
              </a:spcAft>
            </a:pPr>
            <a:r>
              <a:rPr sz="2200" b="0">
                <a:solidFill>
                  <a:srgbClr val="2F302D"/>
                </a:solidFill>
                <a:latin typeface="Calibri"/>
              </a:rPr>
              <a:t>Our website and mobile app: design, build and demo</a:t>
            </a:r>
          </a:p>
        </p:txBody>
      </p:sp>
      <p:sp>
        <p:nvSpPr>
          <p:cNvPr id="6" name="TextBox 5"/>
          <p:cNvSpPr txBox="1"/>
          <p:nvPr/>
        </p:nvSpPr>
        <p:spPr>
          <a:xfrm>
            <a:off x="731520" y="4297680"/>
            <a:ext cx="6217920" cy="91440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Meridian Tech Group</a:t>
            </a:r>
          </a:p>
          <a:p>
            <a:pPr algn="l">
              <a:spcAft>
                <a:spcPts val="600"/>
              </a:spcAft>
            </a:pPr>
            <a:r>
              <a:rPr sz="1700" b="0">
                <a:solidFill>
                  <a:srgbClr val="2F302D"/>
                </a:solidFill>
                <a:latin typeface="Calibri"/>
              </a:rPr>
              <a:t>Mohamed Motala  |  Kelebogile Tema  |  Theolin Chetty</a:t>
            </a:r>
          </a:p>
        </p:txBody>
      </p:sp>
      <p:sp>
        <p:nvSpPr>
          <p:cNvPr id="7" name="TextBox 6"/>
          <p:cNvSpPr txBox="1"/>
          <p:nvPr/>
        </p:nvSpPr>
        <p:spPr>
          <a:xfrm>
            <a:off x="731520" y="5760720"/>
            <a:ext cx="10972800" cy="548640"/>
          </a:xfrm>
          <a:prstGeom prst="rect">
            <a:avLst/>
          </a:prstGeom>
          <a:noFill/>
        </p:spPr>
        <p:txBody>
          <a:bodyPr wrap="square" anchor="t" lIns="45720" rIns="45720">
            <a:spAutoFit/>
          </a:bodyPr>
          <a:lstStyle/>
          <a:p>
            <a:pPr algn="l">
              <a:spcAft>
                <a:spcPts val="600"/>
              </a:spcAft>
            </a:pPr>
            <a:r>
              <a:rPr sz="1600" b="0">
                <a:solidFill>
                  <a:srgbClr val="FFFDD0"/>
                </a:solidFill>
                <a:latin typeface="Calibri"/>
              </a:rPr>
              <a:t>XHAW5112 Work Integrated Learning  |  Group presentation</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28"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1000"/>
                                        <p:tgtEl>
                                          <p:spTgt spid="3"/>
                                        </p:tgtEl>
                                      </p:cBhvr>
                                    </p:animEffect>
                                  </p:childTnLst>
                                </p:cTn>
                              </p:par>
                              <p:par>
                                <p:cTn id="8" presetID="10" presetClass="entr" presetSubtype="0" fill="hold" nodeType="withEffect">
                                  <p:stCondLst>
                                    <p:cond delay="1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par>
                                <p:cTn id="12" presetID="10" presetClass="entr" presetSubtype="0" fill="hold" nodeType="withEffect">
                                  <p:stCondLst>
                                    <p:cond delay="30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childTnLst>
                                </p:cTn>
                              </p:par>
                              <p:par>
                                <p:cTn id="16" presetID="10" presetClass="entr" presetSubtype="0" fill="hold" nodeType="withEffect">
                                  <p:stCondLst>
                                    <p:cond delay="45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1000"/>
                                        <p:tgtEl>
                                          <p:spTgt spid="6"/>
                                        </p:tgtEl>
                                      </p:cBhvr>
                                    </p:animEffect>
                                  </p:childTnLst>
                                </p:cTn>
                              </p:par>
                              <p:par>
                                <p:cTn id="20" presetID="10" presetClass="entr" presetSubtype="0" fill="hold" nodeType="withEffect">
                                  <p:stCondLst>
                                    <p:cond delay="60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1000"/>
                                        <p:tgtEl>
                                          <p:spTgt spid="2"/>
                                        </p:tgtEl>
                                      </p:cBhvr>
                                    </p:animEffect>
                                  </p:childTnLst>
                                </p:cTn>
                              </p:par>
                              <p:par>
                                <p:cTn id="24" presetID="10" presetClass="entr" presetSubtype="0" fill="hold" nodeType="withEffect">
                                  <p:stCondLst>
                                    <p:cond delay="75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Meet the team</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Three members, three lead roles, one shared project</a:t>
            </a:r>
          </a:p>
        </p:txBody>
      </p:sp>
      <p:sp>
        <p:nvSpPr>
          <p:cNvPr id="5" name="Rounded Rectangle 4"/>
          <p:cNvSpPr/>
          <p:nvPr/>
        </p:nvSpPr>
        <p:spPr>
          <a:xfrm>
            <a:off x="640080" y="1828800"/>
            <a:ext cx="3566160" cy="356616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2011680"/>
            <a:ext cx="3200400" cy="548640"/>
          </a:xfrm>
          <a:prstGeom prst="rect">
            <a:avLst/>
          </a:prstGeom>
          <a:noFill/>
        </p:spPr>
        <p:txBody>
          <a:bodyPr wrap="square" anchor="t" lIns="45720" rIns="45720">
            <a:spAutoFit/>
          </a:bodyPr>
          <a:lstStyle/>
          <a:p>
            <a:pPr algn="l">
              <a:spcAft>
                <a:spcPts val="600"/>
              </a:spcAft>
            </a:pPr>
            <a:r>
              <a:rPr sz="2400" b="1">
                <a:solidFill>
                  <a:srgbClr val="5A3E2B"/>
                </a:solidFill>
                <a:latin typeface="Book Antiqua"/>
              </a:rPr>
              <a:t>Kelebogile Tema</a:t>
            </a:r>
          </a:p>
        </p:txBody>
      </p:sp>
      <p:sp>
        <p:nvSpPr>
          <p:cNvPr id="7" name="TextBox 6"/>
          <p:cNvSpPr txBox="1"/>
          <p:nvPr/>
        </p:nvSpPr>
        <p:spPr>
          <a:xfrm>
            <a:off x="822959" y="2697480"/>
            <a:ext cx="3200400" cy="457200"/>
          </a:xfrm>
          <a:prstGeom prst="rect">
            <a:avLst/>
          </a:prstGeom>
          <a:noFill/>
        </p:spPr>
        <p:txBody>
          <a:bodyPr wrap="square" anchor="t" lIns="45720" rIns="45720">
            <a:spAutoFit/>
          </a:bodyPr>
          <a:lstStyle/>
          <a:p>
            <a:pPr algn="l">
              <a:spcAft>
                <a:spcPts val="600"/>
              </a:spcAft>
            </a:pPr>
            <a:r>
              <a:rPr sz="1600" b="1">
                <a:solidFill>
                  <a:srgbClr val="C68B59"/>
                </a:solidFill>
                <a:latin typeface="Calibri"/>
              </a:rPr>
              <a:t>Website Development Lead</a:t>
            </a:r>
          </a:p>
        </p:txBody>
      </p:sp>
      <p:sp>
        <p:nvSpPr>
          <p:cNvPr id="8" name="TextBox 7"/>
          <p:cNvSpPr txBox="1"/>
          <p:nvPr/>
        </p:nvSpPr>
        <p:spPr>
          <a:xfrm>
            <a:off x="822959" y="3291840"/>
            <a:ext cx="3200400" cy="201168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Leads the website build and the colour palette we chose.</a:t>
            </a:r>
          </a:p>
        </p:txBody>
      </p:sp>
      <p:sp>
        <p:nvSpPr>
          <p:cNvPr id="9" name="Rounded Rectangle 8"/>
          <p:cNvSpPr/>
          <p:nvPr/>
        </p:nvSpPr>
        <p:spPr>
          <a:xfrm>
            <a:off x="4434840" y="1828800"/>
            <a:ext cx="3566160" cy="3566160"/>
          </a:xfrm>
          <a:prstGeom prst="roundRect">
            <a:avLst>
              <a:gd name="adj" fmla="val 6000"/>
            </a:avLst>
          </a:prstGeom>
          <a:solidFill>
            <a:srgbClr val="B0E0E6"/>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2011680"/>
            <a:ext cx="3200400" cy="548640"/>
          </a:xfrm>
          <a:prstGeom prst="rect">
            <a:avLst/>
          </a:prstGeom>
          <a:noFill/>
        </p:spPr>
        <p:txBody>
          <a:bodyPr wrap="square" anchor="t" lIns="45720" rIns="45720">
            <a:spAutoFit/>
          </a:bodyPr>
          <a:lstStyle/>
          <a:p>
            <a:pPr algn="l">
              <a:spcAft>
                <a:spcPts val="600"/>
              </a:spcAft>
            </a:pPr>
            <a:r>
              <a:rPr sz="2400" b="1">
                <a:solidFill>
                  <a:srgbClr val="5A3E2B"/>
                </a:solidFill>
                <a:latin typeface="Book Antiqua"/>
              </a:rPr>
              <a:t>Mohamed Motala</a:t>
            </a:r>
          </a:p>
        </p:txBody>
      </p:sp>
      <p:sp>
        <p:nvSpPr>
          <p:cNvPr id="11" name="TextBox 10"/>
          <p:cNvSpPr txBox="1"/>
          <p:nvPr/>
        </p:nvSpPr>
        <p:spPr>
          <a:xfrm>
            <a:off x="4617720" y="2697480"/>
            <a:ext cx="3200400" cy="457200"/>
          </a:xfrm>
          <a:prstGeom prst="rect">
            <a:avLst/>
          </a:prstGeom>
          <a:noFill/>
        </p:spPr>
        <p:txBody>
          <a:bodyPr wrap="square" anchor="t" lIns="45720" rIns="45720">
            <a:spAutoFit/>
          </a:bodyPr>
          <a:lstStyle/>
          <a:p>
            <a:pPr algn="l">
              <a:spcAft>
                <a:spcPts val="600"/>
              </a:spcAft>
            </a:pPr>
            <a:r>
              <a:rPr sz="1600" b="1">
                <a:solidFill>
                  <a:srgbClr val="C68B59"/>
                </a:solidFill>
                <a:latin typeface="Calibri"/>
              </a:rPr>
              <a:t>UI/UX Design Lead</a:t>
            </a:r>
          </a:p>
        </p:txBody>
      </p:sp>
      <p:sp>
        <p:nvSpPr>
          <p:cNvPr id="12" name="TextBox 11"/>
          <p:cNvSpPr txBox="1"/>
          <p:nvPr/>
        </p:nvSpPr>
        <p:spPr>
          <a:xfrm>
            <a:off x="4617720" y="3291840"/>
            <a:ext cx="3200400" cy="201168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Logo and branding, wireframes, Git workflow, Fees Calculator and Contact Us pages.</a:t>
            </a:r>
          </a:p>
        </p:txBody>
      </p:sp>
      <p:sp>
        <p:nvSpPr>
          <p:cNvPr id="13" name="Rounded Rectangle 12"/>
          <p:cNvSpPr/>
          <p:nvPr/>
        </p:nvSpPr>
        <p:spPr>
          <a:xfrm>
            <a:off x="8229600" y="1828800"/>
            <a:ext cx="3566160" cy="356616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011680"/>
            <a:ext cx="3200400" cy="548640"/>
          </a:xfrm>
          <a:prstGeom prst="rect">
            <a:avLst/>
          </a:prstGeom>
          <a:noFill/>
        </p:spPr>
        <p:txBody>
          <a:bodyPr wrap="square" anchor="t" lIns="45720" rIns="45720">
            <a:spAutoFit/>
          </a:bodyPr>
          <a:lstStyle/>
          <a:p>
            <a:pPr algn="l">
              <a:spcAft>
                <a:spcPts val="600"/>
              </a:spcAft>
            </a:pPr>
            <a:r>
              <a:rPr sz="2400" b="1">
                <a:solidFill>
                  <a:srgbClr val="5A3E2B"/>
                </a:solidFill>
                <a:latin typeface="Book Antiqua"/>
              </a:rPr>
              <a:t>Theolin Chetty</a:t>
            </a:r>
          </a:p>
        </p:txBody>
      </p:sp>
      <p:sp>
        <p:nvSpPr>
          <p:cNvPr id="15" name="TextBox 14"/>
          <p:cNvSpPr txBox="1"/>
          <p:nvPr/>
        </p:nvSpPr>
        <p:spPr>
          <a:xfrm>
            <a:off x="8412480" y="2697480"/>
            <a:ext cx="3200400" cy="457200"/>
          </a:xfrm>
          <a:prstGeom prst="rect">
            <a:avLst/>
          </a:prstGeom>
          <a:noFill/>
        </p:spPr>
        <p:txBody>
          <a:bodyPr wrap="square" anchor="t" lIns="45720" rIns="45720">
            <a:spAutoFit/>
          </a:bodyPr>
          <a:lstStyle/>
          <a:p>
            <a:pPr algn="l">
              <a:spcAft>
                <a:spcPts val="600"/>
              </a:spcAft>
            </a:pPr>
            <a:r>
              <a:rPr sz="1600" b="1">
                <a:solidFill>
                  <a:srgbClr val="C68B59"/>
                </a:solidFill>
                <a:latin typeface="Calibri"/>
              </a:rPr>
              <a:t>Mobile App Lead</a:t>
            </a:r>
          </a:p>
        </p:txBody>
      </p:sp>
      <p:sp>
        <p:nvSpPr>
          <p:cNvPr id="16" name="TextBox 15"/>
          <p:cNvSpPr txBox="1"/>
          <p:nvPr/>
        </p:nvSpPr>
        <p:spPr>
          <a:xfrm>
            <a:off x="8412480" y="3291840"/>
            <a:ext cx="3200400" cy="201168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Leads the native Android app built in Kotlin.</a:t>
            </a:r>
          </a:p>
        </p:txBody>
      </p:sp>
      <p:sp>
        <p:nvSpPr>
          <p:cNvPr id="17" name="TextBox 16"/>
          <p:cNvSpPr txBox="1"/>
          <p:nvPr/>
        </p:nvSpPr>
        <p:spPr>
          <a:xfrm>
            <a:off x="640080" y="5669280"/>
            <a:ext cx="10972800" cy="640080"/>
          </a:xfrm>
          <a:prstGeom prst="rect">
            <a:avLst/>
          </a:prstGeom>
          <a:noFill/>
        </p:spPr>
        <p:txBody>
          <a:bodyPr wrap="square" anchor="t" lIns="45720" rIns="45720">
            <a:spAutoFit/>
          </a:bodyPr>
          <a:lstStyle/>
          <a:p>
            <a:pPr algn="l">
              <a:spcAft>
                <a:spcPts val="600"/>
              </a:spcAft>
            </a:pPr>
            <a:r>
              <a:rPr sz="1600" b="0">
                <a:solidFill>
                  <a:srgbClr val="5A3E2B"/>
                </a:solidFill>
                <a:latin typeface="Calibri"/>
              </a:rPr>
              <a:t>All three of us built the presentation, recorded the video and wrote the final report together.</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8"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childTnLst>
                                </p:cTn>
                              </p:par>
                              <p:par>
                                <p:cTn id="24" presetID="10" presetClass="entr" presetSubtype="0" fill="hold" nodeType="withEffect">
                                  <p:stCondLst>
                                    <p:cond delay="75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1000"/>
                                        <p:tgtEl>
                                          <p:spTgt spid="13"/>
                                        </p:tgtEl>
                                      </p:cBhvr>
                                    </p:animEffect>
                                  </p:childTnLst>
                                </p:cTn>
                              </p:par>
                              <p:par>
                                <p:cTn id="28" presetID="10" presetClass="entr" presetSubtype="0" fill="hold" nodeType="withEffect">
                                  <p:stCondLst>
                                    <p:cond delay="90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1000"/>
                                        <p:tgtEl>
                                          <p:spTgt spid="6"/>
                                        </p:tgtEl>
                                      </p:cBhvr>
                                    </p:animEffect>
                                  </p:childTnLst>
                                </p:cTn>
                              </p:par>
                              <p:par>
                                <p:cTn id="32" presetID="10" presetClass="entr" presetSubtype="0" fill="hold" nodeType="withEffect">
                                  <p:stCondLst>
                                    <p:cond delay="105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1000"/>
                                        <p:tgtEl>
                                          <p:spTgt spid="10"/>
                                        </p:tgtEl>
                                      </p:cBhvr>
                                    </p:animEffect>
                                  </p:childTnLst>
                                </p:cTn>
                              </p:par>
                              <p:par>
                                <p:cTn id="36" presetID="10" presetClass="entr" presetSubtype="0" fill="hold" nodeType="withEffect">
                                  <p:stCondLst>
                                    <p:cond delay="120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1000"/>
                                        <p:tgtEl>
                                          <p:spTgt spid="14"/>
                                        </p:tgtEl>
                                      </p:cBhvr>
                                    </p:animEffect>
                                  </p:childTnLst>
                                </p:cTn>
                              </p:par>
                              <p:par>
                                <p:cTn id="40" presetID="10" presetClass="entr" presetSubtype="0" fill="hold" nodeType="withEffect">
                                  <p:stCondLst>
                                    <p:cond delay="135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1000"/>
                                        <p:tgtEl>
                                          <p:spTgt spid="7"/>
                                        </p:tgtEl>
                                      </p:cBhvr>
                                    </p:animEffect>
                                  </p:childTnLst>
                                </p:cTn>
                              </p:par>
                              <p:par>
                                <p:cTn id="44" presetID="10" presetClass="entr" presetSubtype="0" fill="hold" nodeType="withEffect">
                                  <p:stCondLst>
                                    <p:cond delay="150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1000"/>
                                        <p:tgtEl>
                                          <p:spTgt spid="11"/>
                                        </p:tgtEl>
                                      </p:cBhvr>
                                    </p:animEffect>
                                  </p:childTnLst>
                                </p:cTn>
                              </p:par>
                              <p:par>
                                <p:cTn id="48" presetID="10" presetClass="entr" presetSubtype="0" fill="hold" nodeType="withEffect">
                                  <p:stCondLst>
                                    <p:cond delay="165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1000"/>
                                        <p:tgtEl>
                                          <p:spTgt spid="15"/>
                                        </p:tgtEl>
                                      </p:cBhvr>
                                    </p:animEffect>
                                  </p:childTnLst>
                                </p:cTn>
                              </p:par>
                              <p:par>
                                <p:cTn id="52" presetID="10" presetClass="entr" presetSubtype="0" fill="hold" nodeType="withEffect">
                                  <p:stCondLst>
                                    <p:cond delay="1800"/>
                                  </p:stCondLst>
                                  <p:childTnLst>
                                    <p:set>
                                      <p:cBhvr>
                                        <p:cTn id="53" dur="1" fill="hold">
                                          <p:stCondLst>
                                            <p:cond delay="0"/>
                                          </p:stCondLst>
                                        </p:cTn>
                                        <p:tgtEl>
                                          <p:spTgt spid="8"/>
                                        </p:tgtEl>
                                        <p:attrNameLst>
                                          <p:attrName>style.visibility</p:attrName>
                                        </p:attrNameLst>
                                      </p:cBhvr>
                                      <p:to>
                                        <p:strVal val="visible"/>
                                      </p:to>
                                    </p:set>
                                    <p:animEffect transition="in" filter="fade">
                                      <p:cBhvr>
                                        <p:cTn id="54" dur="1000"/>
                                        <p:tgtEl>
                                          <p:spTgt spid="8"/>
                                        </p:tgtEl>
                                      </p:cBhvr>
                                    </p:animEffect>
                                  </p:childTnLst>
                                </p:cTn>
                              </p:par>
                              <p:par>
                                <p:cTn id="56" presetID="10" presetClass="entr" presetSubtype="0" fill="hold" nodeType="withEffect">
                                  <p:stCondLst>
                                    <p:cond delay="180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1000"/>
                                        <p:tgtEl>
                                          <p:spTgt spid="12"/>
                                        </p:tgtEl>
                                      </p:cBhvr>
                                    </p:animEffect>
                                  </p:childTnLst>
                                </p:cTn>
                              </p:par>
                              <p:par>
                                <p:cTn id="60" presetID="10" presetClass="entr" presetSubtype="0" fill="hold" nodeType="withEffect">
                                  <p:stCondLst>
                                    <p:cond delay="180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1000"/>
                                        <p:tgtEl>
                                          <p:spTgt spid="16"/>
                                        </p:tgtEl>
                                      </p:cBhvr>
                                    </p:animEffect>
                                  </p:childTnLst>
                                </p:cTn>
                              </p:par>
                              <p:par>
                                <p:cTn id="64" presetID="10" presetClass="entr" presetSubtype="0" fill="hold" nodeType="withEffect">
                                  <p:stCondLst>
                                    <p:cond delay="180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The client and the brief</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Pawsitive Pet Academy, run by Sarah Smith in Morningside, Durban</a:t>
            </a:r>
          </a:p>
        </p:txBody>
      </p:sp>
      <p:sp>
        <p:nvSpPr>
          <p:cNvPr id="5" name="TextBox 4"/>
          <p:cNvSpPr txBox="1"/>
          <p:nvPr/>
        </p:nvSpPr>
        <p:spPr>
          <a:xfrm>
            <a:off x="640080" y="1828800"/>
            <a:ext cx="6217920" cy="4114800"/>
          </a:xfrm>
          <a:prstGeom prst="rect">
            <a:avLst/>
          </a:prstGeom>
          <a:noFill/>
        </p:spPr>
        <p:txBody>
          <a:bodyPr wrap="square">
            <a:spAutoFit/>
          </a:bodyPr>
          <a:lstStyle/>
          <a:p>
            <a:pPr>
              <a:spcAft>
                <a:spcPts val="1000"/>
              </a:spcAft>
            </a:pPr>
            <a:r>
              <a:rPr sz="1800">
                <a:solidFill>
                  <a:srgbClr val="2F302D"/>
                </a:solidFill>
                <a:latin typeface="Calibri"/>
              </a:rPr>
              <a:t>•  A pet care and training academy with 7 courses</a:t>
            </a:r>
          </a:p>
          <a:p>
            <a:pPr>
              <a:spcAft>
                <a:spcPts val="1000"/>
              </a:spcAft>
            </a:pPr>
            <a:r>
              <a:rPr sz="1800">
                <a:solidFill>
                  <a:srgbClr val="2F302D"/>
                </a:solidFill>
                <a:latin typeface="Calibri"/>
              </a:rPr>
              <a:t>•  Four 6-month courses: Canine Obedience, Pet Grooming, Animal Behaviour, Pet Business Management (R1,500 each)</a:t>
            </a:r>
          </a:p>
          <a:p>
            <a:pPr>
              <a:spcAft>
                <a:spcPts val="1000"/>
              </a:spcAft>
            </a:pPr>
            <a:r>
              <a:rPr sz="1800">
                <a:solidFill>
                  <a:srgbClr val="2F302D"/>
                </a:solidFill>
                <a:latin typeface="Calibri"/>
              </a:rPr>
              <a:t>•  Three 6-week courses: Puppy Care, Pet First Aid, Basic Dog Walking (R750 each)</a:t>
            </a:r>
          </a:p>
          <a:p>
            <a:pPr>
              <a:spcAft>
                <a:spcPts val="1000"/>
              </a:spcAft>
            </a:pPr>
            <a:r>
              <a:rPr sz="1800">
                <a:solidFill>
                  <a:srgbClr val="2F302D"/>
                </a:solidFill>
                <a:latin typeface="Calibri"/>
              </a:rPr>
              <a:t>•  Customers: individuals, families, schools and corporate clients</a:t>
            </a:r>
          </a:p>
          <a:p>
            <a:pPr>
              <a:spcAft>
                <a:spcPts val="1000"/>
              </a:spcAft>
            </a:pPr>
            <a:r>
              <a:rPr sz="1800">
                <a:solidFill>
                  <a:srgbClr val="2F302D"/>
                </a:solidFill>
                <a:latin typeface="Calibri"/>
              </a:rPr>
              <a:t>•  Sarah wants people to browse courses and get an accurate quote, with a discount for booking more than one course</a:t>
            </a:r>
          </a:p>
        </p:txBody>
      </p:sp>
      <p:sp>
        <p:nvSpPr>
          <p:cNvPr id="6" name="Rounded Rectangle 5"/>
          <p:cNvSpPr/>
          <p:nvPr/>
        </p:nvSpPr>
        <p:spPr>
          <a:xfrm>
            <a:off x="7315200" y="1828800"/>
            <a:ext cx="4297680" cy="4023360"/>
          </a:xfrm>
          <a:prstGeom prst="roundRect">
            <a:avLst>
              <a:gd name="adj" fmla="val 6000"/>
            </a:avLst>
          </a:prstGeom>
          <a:solidFill>
            <a:srgbClr val="B0E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43800" y="1965960"/>
            <a:ext cx="3840480" cy="457200"/>
          </a:xfrm>
          <a:prstGeom prst="rect">
            <a:avLst/>
          </a:prstGeom>
          <a:noFill/>
        </p:spPr>
        <p:txBody>
          <a:bodyPr wrap="square" anchor="t" lIns="45720" rIns="45720">
            <a:spAutoFit/>
          </a:bodyPr>
          <a:lstStyle/>
          <a:p>
            <a:pPr algn="l">
              <a:spcAft>
                <a:spcPts val="600"/>
              </a:spcAft>
            </a:pPr>
            <a:r>
              <a:rPr sz="2200" b="1">
                <a:solidFill>
                  <a:srgbClr val="5A3E2B"/>
                </a:solidFill>
                <a:latin typeface="Book Antiqua"/>
              </a:rPr>
              <a:t>What we delivered</a:t>
            </a:r>
          </a:p>
        </p:txBody>
      </p:sp>
      <p:sp>
        <p:nvSpPr>
          <p:cNvPr id="8" name="TextBox 7"/>
          <p:cNvSpPr txBox="1"/>
          <p:nvPr/>
        </p:nvSpPr>
        <p:spPr>
          <a:xfrm>
            <a:off x="7543800" y="2560320"/>
            <a:ext cx="3931920" cy="4114800"/>
          </a:xfrm>
          <a:prstGeom prst="rect">
            <a:avLst/>
          </a:prstGeom>
          <a:noFill/>
        </p:spPr>
        <p:txBody>
          <a:bodyPr wrap="square">
            <a:spAutoFit/>
          </a:bodyPr>
          <a:lstStyle/>
          <a:p>
            <a:pPr>
              <a:spcAft>
                <a:spcPts val="800"/>
              </a:spcAft>
            </a:pPr>
            <a:r>
              <a:rPr sz="1800">
                <a:solidFill>
                  <a:srgbClr val="2F302D"/>
                </a:solidFill>
                <a:latin typeface="Calibri"/>
              </a:rPr>
              <a:t>•  A website with 6 page types</a:t>
            </a:r>
          </a:p>
          <a:p>
            <a:pPr>
              <a:spcAft>
                <a:spcPts val="800"/>
              </a:spcAft>
            </a:pPr>
            <a:r>
              <a:rPr sz="1800">
                <a:solidFill>
                  <a:srgbClr val="2F302D"/>
                </a:solidFill>
                <a:latin typeface="Calibri"/>
              </a:rPr>
              <a:t>•  A native Android app</a:t>
            </a:r>
          </a:p>
          <a:p>
            <a:pPr>
              <a:spcAft>
                <a:spcPts val="800"/>
              </a:spcAft>
            </a:pPr>
            <a:r>
              <a:rPr sz="1800">
                <a:solidFill>
                  <a:srgbClr val="2F302D"/>
                </a:solidFill>
                <a:latin typeface="Calibri"/>
              </a:rPr>
              <a:t>•  A fees calculator on both</a:t>
            </a:r>
          </a:p>
          <a:p>
            <a:pPr>
              <a:spcAft>
                <a:spcPts val="800"/>
              </a:spcAft>
            </a:pPr>
            <a:r>
              <a:rPr sz="1800">
                <a:solidFill>
                  <a:srgbClr val="2F302D"/>
                </a:solidFill>
                <a:latin typeface="Calibri"/>
              </a:rPr>
              <a:t>•  One shared brand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2"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childTnLst>
                                </p:cTn>
                              </p:par>
                              <p:par>
                                <p:cTn id="24" presetID="10" presetClass="entr" presetSubtype="0" fill="hold" nodeType="withEffect">
                                  <p:stCondLst>
                                    <p:cond delay="75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childTnLst>
                                </p:cTn>
                              </p:par>
                              <p:par>
                                <p:cTn id="28" presetID="10" presetClass="entr" presetSubtype="0" fill="hold" nodeType="withEffect">
                                  <p:stCondLst>
                                    <p:cond delay="90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Why this design was selected</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We scored each member's Phase 1 proposal against the same criteria</a:t>
            </a:r>
          </a:p>
        </p:txBody>
      </p:sp>
      <p:sp>
        <p:nvSpPr>
          <p:cNvPr id="5" name="Rectangle 4"/>
          <p:cNvSpPr/>
          <p:nvPr/>
        </p:nvSpPr>
        <p:spPr>
          <a:xfrm>
            <a:off x="640080" y="1783080"/>
            <a:ext cx="7132320" cy="438912"/>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01368"/>
            <a:ext cx="2926080" cy="411480"/>
          </a:xfrm>
          <a:prstGeom prst="rect">
            <a:avLst/>
          </a:prstGeom>
          <a:noFill/>
        </p:spPr>
        <p:txBody>
          <a:bodyPr wrap="square" anchor="ctr" lIns="45720" rIns="45720">
            <a:spAutoFit/>
          </a:bodyPr>
          <a:lstStyle/>
          <a:p>
            <a:pPr algn="l">
              <a:spcAft>
                <a:spcPts val="600"/>
              </a:spcAft>
            </a:pPr>
            <a:r>
              <a:rPr sz="1500" b="1">
                <a:solidFill>
                  <a:srgbClr val="FFFFFF"/>
                </a:solidFill>
                <a:latin typeface="Calibri"/>
              </a:rPr>
              <a:t>Criteria</a:t>
            </a:r>
          </a:p>
        </p:txBody>
      </p:sp>
      <p:sp>
        <p:nvSpPr>
          <p:cNvPr id="7" name="TextBox 6"/>
          <p:cNvSpPr txBox="1"/>
          <p:nvPr/>
        </p:nvSpPr>
        <p:spPr>
          <a:xfrm>
            <a:off x="3657600" y="1801368"/>
            <a:ext cx="1280160" cy="411480"/>
          </a:xfrm>
          <a:prstGeom prst="rect">
            <a:avLst/>
          </a:prstGeom>
          <a:noFill/>
        </p:spPr>
        <p:txBody>
          <a:bodyPr wrap="square" anchor="ctr" lIns="45720" rIns="45720">
            <a:spAutoFit/>
          </a:bodyPr>
          <a:lstStyle/>
          <a:p>
            <a:pPr algn="ctr">
              <a:spcAft>
                <a:spcPts val="600"/>
              </a:spcAft>
            </a:pPr>
            <a:r>
              <a:rPr sz="1500" b="1">
                <a:solidFill>
                  <a:srgbClr val="FFFFFF"/>
                </a:solidFill>
                <a:latin typeface="Calibri"/>
              </a:rPr>
              <a:t>Kelebogile</a:t>
            </a:r>
          </a:p>
        </p:txBody>
      </p:sp>
      <p:sp>
        <p:nvSpPr>
          <p:cNvPr id="8" name="TextBox 7"/>
          <p:cNvSpPr txBox="1"/>
          <p:nvPr/>
        </p:nvSpPr>
        <p:spPr>
          <a:xfrm>
            <a:off x="5074920" y="1801368"/>
            <a:ext cx="1280160" cy="411480"/>
          </a:xfrm>
          <a:prstGeom prst="rect">
            <a:avLst/>
          </a:prstGeom>
          <a:noFill/>
        </p:spPr>
        <p:txBody>
          <a:bodyPr wrap="square" anchor="ctr" lIns="45720" rIns="45720">
            <a:spAutoFit/>
          </a:bodyPr>
          <a:lstStyle/>
          <a:p>
            <a:pPr algn="ctr">
              <a:spcAft>
                <a:spcPts val="600"/>
              </a:spcAft>
            </a:pPr>
            <a:r>
              <a:rPr sz="1500" b="1">
                <a:solidFill>
                  <a:srgbClr val="FFFFFF"/>
                </a:solidFill>
                <a:latin typeface="Calibri"/>
              </a:rPr>
              <a:t>Theolin</a:t>
            </a:r>
          </a:p>
        </p:txBody>
      </p:sp>
      <p:sp>
        <p:nvSpPr>
          <p:cNvPr id="9" name="TextBox 8"/>
          <p:cNvSpPr txBox="1"/>
          <p:nvPr/>
        </p:nvSpPr>
        <p:spPr>
          <a:xfrm>
            <a:off x="6492240" y="1801368"/>
            <a:ext cx="1280160" cy="411480"/>
          </a:xfrm>
          <a:prstGeom prst="rect">
            <a:avLst/>
          </a:prstGeom>
          <a:noFill/>
        </p:spPr>
        <p:txBody>
          <a:bodyPr wrap="square" anchor="ctr" lIns="45720" rIns="45720">
            <a:spAutoFit/>
          </a:bodyPr>
          <a:lstStyle/>
          <a:p>
            <a:pPr algn="ctr">
              <a:spcAft>
                <a:spcPts val="600"/>
              </a:spcAft>
            </a:pPr>
            <a:r>
              <a:rPr sz="1500" b="1">
                <a:solidFill>
                  <a:srgbClr val="FFFFFF"/>
                </a:solidFill>
                <a:latin typeface="Calibri"/>
              </a:rPr>
              <a:t>Mohamed</a:t>
            </a:r>
          </a:p>
        </p:txBody>
      </p:sp>
      <p:sp>
        <p:nvSpPr>
          <p:cNvPr id="10" name="Rectangle 9"/>
          <p:cNvSpPr/>
          <p:nvPr/>
        </p:nvSpPr>
        <p:spPr>
          <a:xfrm>
            <a:off x="640080" y="2258568"/>
            <a:ext cx="713232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276856"/>
            <a:ext cx="2926080" cy="411480"/>
          </a:xfrm>
          <a:prstGeom prst="rect">
            <a:avLst/>
          </a:prstGeom>
          <a:noFill/>
        </p:spPr>
        <p:txBody>
          <a:bodyPr wrap="square" anchor="ctr" lIns="45720" rIns="45720">
            <a:spAutoFit/>
          </a:bodyPr>
          <a:lstStyle/>
          <a:p>
            <a:pPr algn="l">
              <a:spcAft>
                <a:spcPts val="600"/>
              </a:spcAft>
            </a:pPr>
            <a:r>
              <a:rPr sz="1500" b="0">
                <a:solidFill>
                  <a:srgbClr val="2F302D"/>
                </a:solidFill>
                <a:latin typeface="Calibri"/>
              </a:rPr>
              <a:t>Strong branding potential</a:t>
            </a:r>
          </a:p>
        </p:txBody>
      </p:sp>
      <p:sp>
        <p:nvSpPr>
          <p:cNvPr id="12" name="TextBox 11"/>
          <p:cNvSpPr txBox="1"/>
          <p:nvPr/>
        </p:nvSpPr>
        <p:spPr>
          <a:xfrm>
            <a:off x="3657600" y="2276856"/>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3</a:t>
            </a:r>
          </a:p>
        </p:txBody>
      </p:sp>
      <p:sp>
        <p:nvSpPr>
          <p:cNvPr id="13" name="TextBox 12"/>
          <p:cNvSpPr txBox="1"/>
          <p:nvPr/>
        </p:nvSpPr>
        <p:spPr>
          <a:xfrm>
            <a:off x="5074920" y="2276856"/>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5</a:t>
            </a:r>
          </a:p>
        </p:txBody>
      </p:sp>
      <p:sp>
        <p:nvSpPr>
          <p:cNvPr id="14" name="TextBox 13"/>
          <p:cNvSpPr txBox="1"/>
          <p:nvPr/>
        </p:nvSpPr>
        <p:spPr>
          <a:xfrm>
            <a:off x="6492240" y="2276856"/>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4</a:t>
            </a:r>
          </a:p>
        </p:txBody>
      </p:sp>
      <p:sp>
        <p:nvSpPr>
          <p:cNvPr id="15" name="Rectangle 14"/>
          <p:cNvSpPr/>
          <p:nvPr/>
        </p:nvSpPr>
        <p:spPr>
          <a:xfrm>
            <a:off x="640080" y="2734056"/>
            <a:ext cx="7132320" cy="438912"/>
          </a:xfrm>
          <a:prstGeom prst="rect">
            <a:avLst/>
          </a:prstGeom>
          <a:solidFill>
            <a:srgbClr val="FFFD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752344"/>
            <a:ext cx="2926080" cy="411480"/>
          </a:xfrm>
          <a:prstGeom prst="rect">
            <a:avLst/>
          </a:prstGeom>
          <a:noFill/>
        </p:spPr>
        <p:txBody>
          <a:bodyPr wrap="square" anchor="ctr" lIns="45720" rIns="45720">
            <a:spAutoFit/>
          </a:bodyPr>
          <a:lstStyle/>
          <a:p>
            <a:pPr algn="l">
              <a:spcAft>
                <a:spcPts val="600"/>
              </a:spcAft>
            </a:pPr>
            <a:r>
              <a:rPr sz="1500" b="0">
                <a:solidFill>
                  <a:srgbClr val="2F302D"/>
                </a:solidFill>
                <a:latin typeface="Calibri"/>
              </a:rPr>
              <a:t>Easy to develop</a:t>
            </a:r>
          </a:p>
        </p:txBody>
      </p:sp>
      <p:sp>
        <p:nvSpPr>
          <p:cNvPr id="17" name="TextBox 16"/>
          <p:cNvSpPr txBox="1"/>
          <p:nvPr/>
        </p:nvSpPr>
        <p:spPr>
          <a:xfrm>
            <a:off x="3657600" y="2752344"/>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3</a:t>
            </a:r>
          </a:p>
        </p:txBody>
      </p:sp>
      <p:sp>
        <p:nvSpPr>
          <p:cNvPr id="18" name="TextBox 17"/>
          <p:cNvSpPr txBox="1"/>
          <p:nvPr/>
        </p:nvSpPr>
        <p:spPr>
          <a:xfrm>
            <a:off x="5074920" y="2752344"/>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4</a:t>
            </a:r>
          </a:p>
        </p:txBody>
      </p:sp>
      <p:sp>
        <p:nvSpPr>
          <p:cNvPr id="19" name="TextBox 18"/>
          <p:cNvSpPr txBox="1"/>
          <p:nvPr/>
        </p:nvSpPr>
        <p:spPr>
          <a:xfrm>
            <a:off x="6492240" y="2752344"/>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5</a:t>
            </a:r>
          </a:p>
        </p:txBody>
      </p:sp>
      <p:sp>
        <p:nvSpPr>
          <p:cNvPr id="20" name="Rectangle 19"/>
          <p:cNvSpPr/>
          <p:nvPr/>
        </p:nvSpPr>
        <p:spPr>
          <a:xfrm>
            <a:off x="640080" y="3209544"/>
            <a:ext cx="713232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227832"/>
            <a:ext cx="2926080" cy="411480"/>
          </a:xfrm>
          <a:prstGeom prst="rect">
            <a:avLst/>
          </a:prstGeom>
          <a:noFill/>
        </p:spPr>
        <p:txBody>
          <a:bodyPr wrap="square" anchor="ctr" lIns="45720" rIns="45720">
            <a:spAutoFit/>
          </a:bodyPr>
          <a:lstStyle/>
          <a:p>
            <a:pPr algn="l">
              <a:spcAft>
                <a:spcPts val="600"/>
              </a:spcAft>
            </a:pPr>
            <a:r>
              <a:rPr sz="1500" b="0">
                <a:solidFill>
                  <a:srgbClr val="2F302D"/>
                </a:solidFill>
                <a:latin typeface="Calibri"/>
              </a:rPr>
              <a:t>Suitable for mobile app</a:t>
            </a:r>
          </a:p>
        </p:txBody>
      </p:sp>
      <p:sp>
        <p:nvSpPr>
          <p:cNvPr id="22" name="TextBox 21"/>
          <p:cNvSpPr txBox="1"/>
          <p:nvPr/>
        </p:nvSpPr>
        <p:spPr>
          <a:xfrm>
            <a:off x="3657600" y="3227832"/>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3</a:t>
            </a:r>
          </a:p>
        </p:txBody>
      </p:sp>
      <p:sp>
        <p:nvSpPr>
          <p:cNvPr id="23" name="TextBox 22"/>
          <p:cNvSpPr txBox="1"/>
          <p:nvPr/>
        </p:nvSpPr>
        <p:spPr>
          <a:xfrm>
            <a:off x="5074920" y="3227832"/>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4</a:t>
            </a:r>
          </a:p>
        </p:txBody>
      </p:sp>
      <p:sp>
        <p:nvSpPr>
          <p:cNvPr id="24" name="TextBox 23"/>
          <p:cNvSpPr txBox="1"/>
          <p:nvPr/>
        </p:nvSpPr>
        <p:spPr>
          <a:xfrm>
            <a:off x="6492240" y="3227832"/>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5</a:t>
            </a:r>
          </a:p>
        </p:txBody>
      </p:sp>
      <p:sp>
        <p:nvSpPr>
          <p:cNvPr id="25" name="Rectangle 24"/>
          <p:cNvSpPr/>
          <p:nvPr/>
        </p:nvSpPr>
        <p:spPr>
          <a:xfrm>
            <a:off x="640080" y="3685032"/>
            <a:ext cx="7132320" cy="438912"/>
          </a:xfrm>
          <a:prstGeom prst="rect">
            <a:avLst/>
          </a:prstGeom>
          <a:solidFill>
            <a:srgbClr val="FFFD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703320"/>
            <a:ext cx="2926080" cy="411480"/>
          </a:xfrm>
          <a:prstGeom prst="rect">
            <a:avLst/>
          </a:prstGeom>
          <a:noFill/>
        </p:spPr>
        <p:txBody>
          <a:bodyPr wrap="square" anchor="ctr" lIns="45720" rIns="45720">
            <a:spAutoFit/>
          </a:bodyPr>
          <a:lstStyle/>
          <a:p>
            <a:pPr algn="l">
              <a:spcAft>
                <a:spcPts val="600"/>
              </a:spcAft>
            </a:pPr>
            <a:r>
              <a:rPr sz="1500" b="0">
                <a:solidFill>
                  <a:srgbClr val="2F302D"/>
                </a:solidFill>
                <a:latin typeface="Calibri"/>
              </a:rPr>
              <a:t>Suitable for website</a:t>
            </a:r>
          </a:p>
        </p:txBody>
      </p:sp>
      <p:sp>
        <p:nvSpPr>
          <p:cNvPr id="27" name="TextBox 26"/>
          <p:cNvSpPr txBox="1"/>
          <p:nvPr/>
        </p:nvSpPr>
        <p:spPr>
          <a:xfrm>
            <a:off x="3657600" y="3703320"/>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3</a:t>
            </a:r>
          </a:p>
        </p:txBody>
      </p:sp>
      <p:sp>
        <p:nvSpPr>
          <p:cNvPr id="28" name="TextBox 27"/>
          <p:cNvSpPr txBox="1"/>
          <p:nvPr/>
        </p:nvSpPr>
        <p:spPr>
          <a:xfrm>
            <a:off x="5074920" y="3703320"/>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5</a:t>
            </a:r>
          </a:p>
        </p:txBody>
      </p:sp>
      <p:sp>
        <p:nvSpPr>
          <p:cNvPr id="29" name="TextBox 28"/>
          <p:cNvSpPr txBox="1"/>
          <p:nvPr/>
        </p:nvSpPr>
        <p:spPr>
          <a:xfrm>
            <a:off x="6492240" y="3703320"/>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5</a:t>
            </a:r>
          </a:p>
        </p:txBody>
      </p:sp>
      <p:sp>
        <p:nvSpPr>
          <p:cNvPr id="30" name="Rectangle 29"/>
          <p:cNvSpPr/>
          <p:nvPr/>
        </p:nvSpPr>
        <p:spPr>
          <a:xfrm>
            <a:off x="640080" y="4160520"/>
            <a:ext cx="7132320"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178807"/>
            <a:ext cx="2926080" cy="411480"/>
          </a:xfrm>
          <a:prstGeom prst="rect">
            <a:avLst/>
          </a:prstGeom>
          <a:noFill/>
        </p:spPr>
        <p:txBody>
          <a:bodyPr wrap="square" anchor="ctr" lIns="45720" rIns="45720">
            <a:spAutoFit/>
          </a:bodyPr>
          <a:lstStyle/>
          <a:p>
            <a:pPr algn="l">
              <a:spcAft>
                <a:spcPts val="600"/>
              </a:spcAft>
            </a:pPr>
            <a:r>
              <a:rPr sz="1500" b="0">
                <a:solidFill>
                  <a:srgbClr val="2F302D"/>
                </a:solidFill>
                <a:latin typeface="Calibri"/>
              </a:rPr>
              <a:t>Easy to research</a:t>
            </a:r>
          </a:p>
        </p:txBody>
      </p:sp>
      <p:sp>
        <p:nvSpPr>
          <p:cNvPr id="32" name="TextBox 31"/>
          <p:cNvSpPr txBox="1"/>
          <p:nvPr/>
        </p:nvSpPr>
        <p:spPr>
          <a:xfrm>
            <a:off x="3657600" y="4178807"/>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4</a:t>
            </a:r>
          </a:p>
        </p:txBody>
      </p:sp>
      <p:sp>
        <p:nvSpPr>
          <p:cNvPr id="33" name="TextBox 32"/>
          <p:cNvSpPr txBox="1"/>
          <p:nvPr/>
        </p:nvSpPr>
        <p:spPr>
          <a:xfrm>
            <a:off x="5074920" y="4178807"/>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3</a:t>
            </a:r>
          </a:p>
        </p:txBody>
      </p:sp>
      <p:sp>
        <p:nvSpPr>
          <p:cNvPr id="34" name="TextBox 33"/>
          <p:cNvSpPr txBox="1"/>
          <p:nvPr/>
        </p:nvSpPr>
        <p:spPr>
          <a:xfrm>
            <a:off x="6492240" y="4178807"/>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4</a:t>
            </a:r>
          </a:p>
        </p:txBody>
      </p:sp>
      <p:sp>
        <p:nvSpPr>
          <p:cNvPr id="35" name="Rectangle 34"/>
          <p:cNvSpPr/>
          <p:nvPr/>
        </p:nvSpPr>
        <p:spPr>
          <a:xfrm>
            <a:off x="640080" y="4636008"/>
            <a:ext cx="7132320" cy="438912"/>
          </a:xfrm>
          <a:prstGeom prst="rect">
            <a:avLst/>
          </a:prstGeom>
          <a:solidFill>
            <a:srgbClr val="FFFD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654296"/>
            <a:ext cx="2926080" cy="411480"/>
          </a:xfrm>
          <a:prstGeom prst="rect">
            <a:avLst/>
          </a:prstGeom>
          <a:noFill/>
        </p:spPr>
        <p:txBody>
          <a:bodyPr wrap="square" anchor="ctr" lIns="45720" rIns="45720">
            <a:spAutoFit/>
          </a:bodyPr>
          <a:lstStyle/>
          <a:p>
            <a:pPr algn="l">
              <a:spcAft>
                <a:spcPts val="600"/>
              </a:spcAft>
            </a:pPr>
            <a:r>
              <a:rPr sz="1500" b="0">
                <a:solidFill>
                  <a:srgbClr val="2F302D"/>
                </a:solidFill>
                <a:latin typeface="Calibri"/>
              </a:rPr>
              <a:t>Strong user experience</a:t>
            </a:r>
          </a:p>
        </p:txBody>
      </p:sp>
      <p:sp>
        <p:nvSpPr>
          <p:cNvPr id="37" name="TextBox 36"/>
          <p:cNvSpPr txBox="1"/>
          <p:nvPr/>
        </p:nvSpPr>
        <p:spPr>
          <a:xfrm>
            <a:off x="3657600" y="4654296"/>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4</a:t>
            </a:r>
          </a:p>
        </p:txBody>
      </p:sp>
      <p:sp>
        <p:nvSpPr>
          <p:cNvPr id="38" name="TextBox 37"/>
          <p:cNvSpPr txBox="1"/>
          <p:nvPr/>
        </p:nvSpPr>
        <p:spPr>
          <a:xfrm>
            <a:off x="5074920" y="4654296"/>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3</a:t>
            </a:r>
          </a:p>
        </p:txBody>
      </p:sp>
      <p:sp>
        <p:nvSpPr>
          <p:cNvPr id="39" name="TextBox 38"/>
          <p:cNvSpPr txBox="1"/>
          <p:nvPr/>
        </p:nvSpPr>
        <p:spPr>
          <a:xfrm>
            <a:off x="6492240" y="4654296"/>
            <a:ext cx="1280160" cy="411480"/>
          </a:xfrm>
          <a:prstGeom prst="rect">
            <a:avLst/>
          </a:prstGeom>
          <a:noFill/>
        </p:spPr>
        <p:txBody>
          <a:bodyPr wrap="square" anchor="ctr" lIns="45720" rIns="45720">
            <a:spAutoFit/>
          </a:bodyPr>
          <a:lstStyle/>
          <a:p>
            <a:pPr algn="ctr">
              <a:spcAft>
                <a:spcPts val="600"/>
              </a:spcAft>
            </a:pPr>
            <a:r>
              <a:rPr sz="1500" b="0">
                <a:solidFill>
                  <a:srgbClr val="2F302D"/>
                </a:solidFill>
                <a:latin typeface="Calibri"/>
              </a:rPr>
              <a:t>4</a:t>
            </a:r>
          </a:p>
        </p:txBody>
      </p:sp>
      <p:sp>
        <p:nvSpPr>
          <p:cNvPr id="40" name="Rectangle 39"/>
          <p:cNvSpPr/>
          <p:nvPr/>
        </p:nvSpPr>
        <p:spPr>
          <a:xfrm>
            <a:off x="640080" y="5111496"/>
            <a:ext cx="7132320" cy="438912"/>
          </a:xfrm>
          <a:prstGeom prst="rect">
            <a:avLst/>
          </a:prstGeom>
          <a:solidFill>
            <a:srgbClr val="B0E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5129783"/>
            <a:ext cx="2926080" cy="411480"/>
          </a:xfrm>
          <a:prstGeom prst="rect">
            <a:avLst/>
          </a:prstGeom>
          <a:noFill/>
        </p:spPr>
        <p:txBody>
          <a:bodyPr wrap="square" anchor="ctr" lIns="45720" rIns="45720">
            <a:spAutoFit/>
          </a:bodyPr>
          <a:lstStyle/>
          <a:p>
            <a:pPr algn="l">
              <a:spcAft>
                <a:spcPts val="600"/>
              </a:spcAft>
            </a:pPr>
            <a:r>
              <a:rPr sz="1500" b="1">
                <a:solidFill>
                  <a:srgbClr val="2F302D"/>
                </a:solidFill>
                <a:latin typeface="Calibri"/>
              </a:rPr>
              <a:t>Total</a:t>
            </a:r>
          </a:p>
        </p:txBody>
      </p:sp>
      <p:sp>
        <p:nvSpPr>
          <p:cNvPr id="42" name="TextBox 41"/>
          <p:cNvSpPr txBox="1"/>
          <p:nvPr/>
        </p:nvSpPr>
        <p:spPr>
          <a:xfrm>
            <a:off x="3657600" y="5129783"/>
            <a:ext cx="1280160" cy="411480"/>
          </a:xfrm>
          <a:prstGeom prst="rect">
            <a:avLst/>
          </a:prstGeom>
          <a:noFill/>
        </p:spPr>
        <p:txBody>
          <a:bodyPr wrap="square" anchor="ctr" lIns="45720" rIns="45720">
            <a:spAutoFit/>
          </a:bodyPr>
          <a:lstStyle/>
          <a:p>
            <a:pPr algn="ctr">
              <a:spcAft>
                <a:spcPts val="600"/>
              </a:spcAft>
            </a:pPr>
            <a:r>
              <a:rPr sz="1500" b="1">
                <a:solidFill>
                  <a:srgbClr val="2F302D"/>
                </a:solidFill>
                <a:latin typeface="Calibri"/>
              </a:rPr>
              <a:t>20</a:t>
            </a:r>
          </a:p>
        </p:txBody>
      </p:sp>
      <p:sp>
        <p:nvSpPr>
          <p:cNvPr id="43" name="TextBox 42"/>
          <p:cNvSpPr txBox="1"/>
          <p:nvPr/>
        </p:nvSpPr>
        <p:spPr>
          <a:xfrm>
            <a:off x="5074920" y="5129783"/>
            <a:ext cx="1280160" cy="411480"/>
          </a:xfrm>
          <a:prstGeom prst="rect">
            <a:avLst/>
          </a:prstGeom>
          <a:noFill/>
        </p:spPr>
        <p:txBody>
          <a:bodyPr wrap="square" anchor="ctr" lIns="45720" rIns="45720">
            <a:spAutoFit/>
          </a:bodyPr>
          <a:lstStyle/>
          <a:p>
            <a:pPr algn="ctr">
              <a:spcAft>
                <a:spcPts val="600"/>
              </a:spcAft>
            </a:pPr>
            <a:r>
              <a:rPr sz="1500" b="1">
                <a:solidFill>
                  <a:srgbClr val="2F302D"/>
                </a:solidFill>
                <a:latin typeface="Calibri"/>
              </a:rPr>
              <a:t>24</a:t>
            </a:r>
          </a:p>
        </p:txBody>
      </p:sp>
      <p:sp>
        <p:nvSpPr>
          <p:cNvPr id="44" name="TextBox 43"/>
          <p:cNvSpPr txBox="1"/>
          <p:nvPr/>
        </p:nvSpPr>
        <p:spPr>
          <a:xfrm>
            <a:off x="6492240" y="5129783"/>
            <a:ext cx="1280160" cy="411480"/>
          </a:xfrm>
          <a:prstGeom prst="rect">
            <a:avLst/>
          </a:prstGeom>
          <a:noFill/>
        </p:spPr>
        <p:txBody>
          <a:bodyPr wrap="square" anchor="ctr" lIns="45720" rIns="45720">
            <a:spAutoFit/>
          </a:bodyPr>
          <a:lstStyle/>
          <a:p>
            <a:pPr algn="ctr">
              <a:spcAft>
                <a:spcPts val="600"/>
              </a:spcAft>
            </a:pPr>
            <a:r>
              <a:rPr sz="1500" b="1">
                <a:solidFill>
                  <a:srgbClr val="2F302D"/>
                </a:solidFill>
                <a:latin typeface="Calibri"/>
              </a:rPr>
              <a:t>27</a:t>
            </a:r>
          </a:p>
        </p:txBody>
      </p:sp>
      <p:sp>
        <p:nvSpPr>
          <p:cNvPr id="45" name="TextBox 44"/>
          <p:cNvSpPr txBox="1"/>
          <p:nvPr/>
        </p:nvSpPr>
        <p:spPr>
          <a:xfrm>
            <a:off x="8229600" y="1783080"/>
            <a:ext cx="3474720" cy="457200"/>
          </a:xfrm>
          <a:prstGeom prst="rect">
            <a:avLst/>
          </a:prstGeom>
          <a:noFill/>
        </p:spPr>
        <p:txBody>
          <a:bodyPr wrap="square" anchor="t" lIns="45720" rIns="45720">
            <a:spAutoFit/>
          </a:bodyPr>
          <a:lstStyle/>
          <a:p>
            <a:pPr algn="l">
              <a:spcAft>
                <a:spcPts val="600"/>
              </a:spcAft>
            </a:pPr>
            <a:r>
              <a:rPr sz="2200" b="1">
                <a:solidFill>
                  <a:srgbClr val="5A3E2B"/>
                </a:solidFill>
                <a:latin typeface="Book Antiqua"/>
              </a:rPr>
              <a:t>Our reasons</a:t>
            </a:r>
          </a:p>
        </p:txBody>
      </p:sp>
      <p:sp>
        <p:nvSpPr>
          <p:cNvPr id="46" name="TextBox 45"/>
          <p:cNvSpPr txBox="1"/>
          <p:nvPr/>
        </p:nvSpPr>
        <p:spPr>
          <a:xfrm>
            <a:off x="8229600" y="2331720"/>
            <a:ext cx="3474720" cy="4114800"/>
          </a:xfrm>
          <a:prstGeom prst="rect">
            <a:avLst/>
          </a:prstGeom>
          <a:noFill/>
        </p:spPr>
        <p:txBody>
          <a:bodyPr wrap="square">
            <a:spAutoFit/>
          </a:bodyPr>
          <a:lstStyle/>
          <a:p>
            <a:pPr>
              <a:spcAft>
                <a:spcPts val="800"/>
              </a:spcAft>
            </a:pPr>
            <a:r>
              <a:rPr sz="1600">
                <a:solidFill>
                  <a:srgbClr val="2F302D"/>
                </a:solidFill>
                <a:latin typeface="Calibri"/>
              </a:rPr>
              <a:t>•  Pawsitive Pet Academy scored highest overall (27)</a:t>
            </a:r>
          </a:p>
          <a:p>
            <a:pPr>
              <a:spcAft>
                <a:spcPts val="800"/>
              </a:spcAft>
            </a:pPr>
            <a:r>
              <a:rPr sz="1600">
                <a:solidFill>
                  <a:srgbClr val="2F302D"/>
                </a:solidFill>
                <a:latin typeface="Calibri"/>
              </a:rPr>
              <a:t>•  Theolin's gaming idea fitted a different topic</a:t>
            </a:r>
          </a:p>
          <a:p>
            <a:pPr>
              <a:spcAft>
                <a:spcPts val="800"/>
              </a:spcAft>
            </a:pPr>
            <a:r>
              <a:rPr sz="1600">
                <a:solidFill>
                  <a:srgbClr val="2F302D"/>
                </a:solidFill>
                <a:latin typeface="Calibri"/>
              </a:rPr>
              <a:t>•  The pet academy proposal had the most detail, so it was the easiest to build from</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84"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45"/>
                                        </p:tgtEl>
                                        <p:attrNameLst>
                                          <p:attrName>style.visibility</p:attrName>
                                        </p:attrNameLst>
                                      </p:cBhvr>
                                      <p:to>
                                        <p:strVal val="visible"/>
                                      </p:to>
                                    </p:set>
                                    <p:animEffect transition="in" filter="fade">
                                      <p:cBhvr>
                                        <p:cTn id="22" dur="1000"/>
                                        <p:tgtEl>
                                          <p:spTgt spid="45"/>
                                        </p:tgtEl>
                                      </p:cBhvr>
                                    </p:animEffect>
                                  </p:childTnLst>
                                </p:cTn>
                              </p:par>
                              <p:par>
                                <p:cTn id="24" presetID="10" presetClass="entr" presetSubtype="0" fill="hold" nodeType="withEffect">
                                  <p:stCondLst>
                                    <p:cond delay="75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childTnLst>
                                </p:cTn>
                              </p:par>
                              <p:par>
                                <p:cTn id="28" presetID="10" presetClass="entr" presetSubtype="0" fill="hold" nodeType="withEffect">
                                  <p:stCondLst>
                                    <p:cond delay="90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1000"/>
                                        <p:tgtEl>
                                          <p:spTgt spid="7"/>
                                        </p:tgtEl>
                                      </p:cBhvr>
                                    </p:animEffect>
                                  </p:childTnLst>
                                </p:cTn>
                              </p:par>
                              <p:par>
                                <p:cTn id="32" presetID="10" presetClass="entr" presetSubtype="0" fill="hold" nodeType="withEffect">
                                  <p:stCondLst>
                                    <p:cond delay="105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childTnLst>
                                </p:cTn>
                              </p:par>
                              <p:par>
                                <p:cTn id="36" presetID="10" presetClass="entr" presetSubtype="0" fill="hold" nodeType="withEffect">
                                  <p:stCondLst>
                                    <p:cond delay="12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1000"/>
                                        <p:tgtEl>
                                          <p:spTgt spid="9"/>
                                        </p:tgtEl>
                                      </p:cBhvr>
                                    </p:animEffect>
                                  </p:childTnLst>
                                </p:cTn>
                              </p:par>
                              <p:par>
                                <p:cTn id="40" presetID="10" presetClass="entr" presetSubtype="0" fill="hold" nodeType="withEffect">
                                  <p:stCondLst>
                                    <p:cond delay="135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childTnLst>
                                </p:cTn>
                              </p:par>
                              <p:par>
                                <p:cTn id="44" presetID="10" presetClass="entr" presetSubtype="0" fill="hold" nodeType="withEffect">
                                  <p:stCondLst>
                                    <p:cond delay="150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1000"/>
                                        <p:tgtEl>
                                          <p:spTgt spid="11"/>
                                        </p:tgtEl>
                                      </p:cBhvr>
                                    </p:animEffect>
                                  </p:childTnLst>
                                </p:cTn>
                              </p:par>
                              <p:par>
                                <p:cTn id="48" presetID="10" presetClass="entr" presetSubtype="0" fill="hold" nodeType="withEffect">
                                  <p:stCondLst>
                                    <p:cond delay="165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1000"/>
                                        <p:tgtEl>
                                          <p:spTgt spid="12"/>
                                        </p:tgtEl>
                                      </p:cBhvr>
                                    </p:animEffect>
                                  </p:childTnLst>
                                </p:cTn>
                              </p:par>
                              <p:par>
                                <p:cTn id="52" presetID="10" presetClass="entr" presetSubtype="0" fill="hold" nodeType="withEffect">
                                  <p:stCondLst>
                                    <p:cond delay="180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1000"/>
                                        <p:tgtEl>
                                          <p:spTgt spid="13"/>
                                        </p:tgtEl>
                                      </p:cBhvr>
                                    </p:animEffect>
                                  </p:childTnLst>
                                </p:cTn>
                              </p:par>
                              <p:par>
                                <p:cTn id="56" presetID="10" presetClass="entr" presetSubtype="0" fill="hold" nodeType="withEffect">
                                  <p:stCondLst>
                                    <p:cond delay="180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1000"/>
                                        <p:tgtEl>
                                          <p:spTgt spid="14"/>
                                        </p:tgtEl>
                                      </p:cBhvr>
                                    </p:animEffect>
                                  </p:childTnLst>
                                </p:cTn>
                              </p:par>
                              <p:par>
                                <p:cTn id="60" presetID="10" presetClass="entr" presetSubtype="0" fill="hold" nodeType="withEffect">
                                  <p:stCondLst>
                                    <p:cond delay="1800"/>
                                  </p:stCondLst>
                                  <p:childTnLst>
                                    <p:set>
                                      <p:cBhvr>
                                        <p:cTn id="61" dur="1" fill="hold">
                                          <p:stCondLst>
                                            <p:cond delay="0"/>
                                          </p:stCondLst>
                                        </p:cTn>
                                        <p:tgtEl>
                                          <p:spTgt spid="46"/>
                                        </p:tgtEl>
                                        <p:attrNameLst>
                                          <p:attrName>style.visibility</p:attrName>
                                        </p:attrNameLst>
                                      </p:cBhvr>
                                      <p:to>
                                        <p:strVal val="visible"/>
                                      </p:to>
                                    </p:set>
                                    <p:animEffect transition="in" filter="fade">
                                      <p:cBhvr>
                                        <p:cTn id="62" dur="1000"/>
                                        <p:tgtEl>
                                          <p:spTgt spid="46"/>
                                        </p:tgtEl>
                                      </p:cBhvr>
                                    </p:animEffect>
                                  </p:childTnLst>
                                </p:cTn>
                              </p:par>
                              <p:par>
                                <p:cTn id="64" presetID="10" presetClass="entr" presetSubtype="0" fill="hold" nodeType="withEffect">
                                  <p:stCondLst>
                                    <p:cond delay="1800"/>
                                  </p:stCondLst>
                                  <p:childTnLst>
                                    <p:set>
                                      <p:cBhvr>
                                        <p:cTn id="65" dur="1" fill="hold">
                                          <p:stCondLst>
                                            <p:cond delay="0"/>
                                          </p:stCondLst>
                                        </p:cTn>
                                        <p:tgtEl>
                                          <p:spTgt spid="15"/>
                                        </p:tgtEl>
                                        <p:attrNameLst>
                                          <p:attrName>style.visibility</p:attrName>
                                        </p:attrNameLst>
                                      </p:cBhvr>
                                      <p:to>
                                        <p:strVal val="visible"/>
                                      </p:to>
                                    </p:set>
                                    <p:animEffect transition="in" filter="fade">
                                      <p:cBhvr>
                                        <p:cTn id="66" dur="1000"/>
                                        <p:tgtEl>
                                          <p:spTgt spid="15"/>
                                        </p:tgtEl>
                                      </p:cBhvr>
                                    </p:animEffect>
                                  </p:childTnLst>
                                </p:cTn>
                              </p:par>
                              <p:par>
                                <p:cTn id="68" presetID="10" presetClass="entr" presetSubtype="0" fill="hold" nodeType="withEffect">
                                  <p:stCondLst>
                                    <p:cond delay="1800"/>
                                  </p:stCondLst>
                                  <p:childTnLst>
                                    <p:set>
                                      <p:cBhvr>
                                        <p:cTn id="69" dur="1" fill="hold">
                                          <p:stCondLst>
                                            <p:cond delay="0"/>
                                          </p:stCondLst>
                                        </p:cTn>
                                        <p:tgtEl>
                                          <p:spTgt spid="16"/>
                                        </p:tgtEl>
                                        <p:attrNameLst>
                                          <p:attrName>style.visibility</p:attrName>
                                        </p:attrNameLst>
                                      </p:cBhvr>
                                      <p:to>
                                        <p:strVal val="visible"/>
                                      </p:to>
                                    </p:set>
                                    <p:animEffect transition="in" filter="fade">
                                      <p:cBhvr>
                                        <p:cTn id="70" dur="1000"/>
                                        <p:tgtEl>
                                          <p:spTgt spid="16"/>
                                        </p:tgtEl>
                                      </p:cBhvr>
                                    </p:animEffect>
                                  </p:childTnLst>
                                </p:cTn>
                              </p:par>
                              <p:par>
                                <p:cTn id="72" presetID="10" presetClass="entr" presetSubtype="0" fill="hold" nodeType="withEffect">
                                  <p:stCondLst>
                                    <p:cond delay="180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1000"/>
                                        <p:tgtEl>
                                          <p:spTgt spid="17"/>
                                        </p:tgtEl>
                                      </p:cBhvr>
                                    </p:animEffect>
                                  </p:childTnLst>
                                </p:cTn>
                              </p:par>
                              <p:par>
                                <p:cTn id="76" presetID="10" presetClass="entr" presetSubtype="0" fill="hold" nodeType="withEffect">
                                  <p:stCondLst>
                                    <p:cond delay="180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1000"/>
                                        <p:tgtEl>
                                          <p:spTgt spid="18"/>
                                        </p:tgtEl>
                                      </p:cBhvr>
                                    </p:animEffect>
                                  </p:childTnLst>
                                </p:cTn>
                              </p:par>
                              <p:par>
                                <p:cTn id="80" presetID="10" presetClass="entr" presetSubtype="0" fill="hold" nodeType="withEffect">
                                  <p:stCondLst>
                                    <p:cond delay="180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1000"/>
                                        <p:tgtEl>
                                          <p:spTgt spid="19"/>
                                        </p:tgtEl>
                                      </p:cBhvr>
                                    </p:animEffect>
                                  </p:childTnLst>
                                </p:cTn>
                              </p:par>
                              <p:par>
                                <p:cTn id="84" presetID="10" presetClass="entr" presetSubtype="0" fill="hold" nodeType="withEffect">
                                  <p:stCondLst>
                                    <p:cond delay="1800"/>
                                  </p:stCondLst>
                                  <p:childTnLst>
                                    <p:set>
                                      <p:cBhvr>
                                        <p:cTn id="85" dur="1" fill="hold">
                                          <p:stCondLst>
                                            <p:cond delay="0"/>
                                          </p:stCondLst>
                                        </p:cTn>
                                        <p:tgtEl>
                                          <p:spTgt spid="20"/>
                                        </p:tgtEl>
                                        <p:attrNameLst>
                                          <p:attrName>style.visibility</p:attrName>
                                        </p:attrNameLst>
                                      </p:cBhvr>
                                      <p:to>
                                        <p:strVal val="visible"/>
                                      </p:to>
                                    </p:set>
                                    <p:animEffect transition="in" filter="fade">
                                      <p:cBhvr>
                                        <p:cTn id="86" dur="1000"/>
                                        <p:tgtEl>
                                          <p:spTgt spid="20"/>
                                        </p:tgtEl>
                                      </p:cBhvr>
                                    </p:animEffect>
                                  </p:childTnLst>
                                </p:cTn>
                              </p:par>
                              <p:par>
                                <p:cTn id="88" presetID="10" presetClass="entr" presetSubtype="0" fill="hold" nodeType="withEffect">
                                  <p:stCondLst>
                                    <p:cond delay="180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1000"/>
                                        <p:tgtEl>
                                          <p:spTgt spid="21"/>
                                        </p:tgtEl>
                                      </p:cBhvr>
                                    </p:animEffect>
                                  </p:childTnLst>
                                </p:cTn>
                              </p:par>
                              <p:par>
                                <p:cTn id="92" presetID="10" presetClass="entr" presetSubtype="0" fill="hold" nodeType="withEffect">
                                  <p:stCondLst>
                                    <p:cond delay="1800"/>
                                  </p:stCondLst>
                                  <p:childTnLst>
                                    <p:set>
                                      <p:cBhvr>
                                        <p:cTn id="93" dur="1" fill="hold">
                                          <p:stCondLst>
                                            <p:cond delay="0"/>
                                          </p:stCondLst>
                                        </p:cTn>
                                        <p:tgtEl>
                                          <p:spTgt spid="22"/>
                                        </p:tgtEl>
                                        <p:attrNameLst>
                                          <p:attrName>style.visibility</p:attrName>
                                        </p:attrNameLst>
                                      </p:cBhvr>
                                      <p:to>
                                        <p:strVal val="visible"/>
                                      </p:to>
                                    </p:set>
                                    <p:animEffect transition="in" filter="fade">
                                      <p:cBhvr>
                                        <p:cTn id="94" dur="1000"/>
                                        <p:tgtEl>
                                          <p:spTgt spid="22"/>
                                        </p:tgtEl>
                                      </p:cBhvr>
                                    </p:animEffect>
                                  </p:childTnLst>
                                </p:cTn>
                              </p:par>
                              <p:par>
                                <p:cTn id="96" presetID="10" presetClass="entr" presetSubtype="0" fill="hold" nodeType="withEffect">
                                  <p:stCondLst>
                                    <p:cond delay="1800"/>
                                  </p:stCondLst>
                                  <p:childTnLst>
                                    <p:set>
                                      <p:cBhvr>
                                        <p:cTn id="97" dur="1" fill="hold">
                                          <p:stCondLst>
                                            <p:cond delay="0"/>
                                          </p:stCondLst>
                                        </p:cTn>
                                        <p:tgtEl>
                                          <p:spTgt spid="23"/>
                                        </p:tgtEl>
                                        <p:attrNameLst>
                                          <p:attrName>style.visibility</p:attrName>
                                        </p:attrNameLst>
                                      </p:cBhvr>
                                      <p:to>
                                        <p:strVal val="visible"/>
                                      </p:to>
                                    </p:set>
                                    <p:animEffect transition="in" filter="fade">
                                      <p:cBhvr>
                                        <p:cTn id="98" dur="1000"/>
                                        <p:tgtEl>
                                          <p:spTgt spid="23"/>
                                        </p:tgtEl>
                                      </p:cBhvr>
                                    </p:animEffect>
                                  </p:childTnLst>
                                </p:cTn>
                              </p:par>
                              <p:par>
                                <p:cTn id="100" presetID="10" presetClass="entr" presetSubtype="0" fill="hold" nodeType="withEffect">
                                  <p:stCondLst>
                                    <p:cond delay="1800"/>
                                  </p:stCondLst>
                                  <p:childTnLst>
                                    <p:set>
                                      <p:cBhvr>
                                        <p:cTn id="101" dur="1" fill="hold">
                                          <p:stCondLst>
                                            <p:cond delay="0"/>
                                          </p:stCondLst>
                                        </p:cTn>
                                        <p:tgtEl>
                                          <p:spTgt spid="24"/>
                                        </p:tgtEl>
                                        <p:attrNameLst>
                                          <p:attrName>style.visibility</p:attrName>
                                        </p:attrNameLst>
                                      </p:cBhvr>
                                      <p:to>
                                        <p:strVal val="visible"/>
                                      </p:to>
                                    </p:set>
                                    <p:animEffect transition="in" filter="fade">
                                      <p:cBhvr>
                                        <p:cTn id="102" dur="1000"/>
                                        <p:tgtEl>
                                          <p:spTgt spid="24"/>
                                        </p:tgtEl>
                                      </p:cBhvr>
                                    </p:animEffect>
                                  </p:childTnLst>
                                </p:cTn>
                              </p:par>
                              <p:par>
                                <p:cTn id="104" presetID="10" presetClass="entr" presetSubtype="0" fill="hold" nodeType="withEffect">
                                  <p:stCondLst>
                                    <p:cond delay="1800"/>
                                  </p:stCondLst>
                                  <p:childTnLst>
                                    <p:set>
                                      <p:cBhvr>
                                        <p:cTn id="105" dur="1" fill="hold">
                                          <p:stCondLst>
                                            <p:cond delay="0"/>
                                          </p:stCondLst>
                                        </p:cTn>
                                        <p:tgtEl>
                                          <p:spTgt spid="25"/>
                                        </p:tgtEl>
                                        <p:attrNameLst>
                                          <p:attrName>style.visibility</p:attrName>
                                        </p:attrNameLst>
                                      </p:cBhvr>
                                      <p:to>
                                        <p:strVal val="visible"/>
                                      </p:to>
                                    </p:set>
                                    <p:animEffect transition="in" filter="fade">
                                      <p:cBhvr>
                                        <p:cTn id="106" dur="1000"/>
                                        <p:tgtEl>
                                          <p:spTgt spid="25"/>
                                        </p:tgtEl>
                                      </p:cBhvr>
                                    </p:animEffect>
                                  </p:childTnLst>
                                </p:cTn>
                              </p:par>
                              <p:par>
                                <p:cTn id="108" presetID="10" presetClass="entr" presetSubtype="0" fill="hold" nodeType="withEffect">
                                  <p:stCondLst>
                                    <p:cond delay="1800"/>
                                  </p:stCondLst>
                                  <p:childTnLst>
                                    <p:set>
                                      <p:cBhvr>
                                        <p:cTn id="109" dur="1" fill="hold">
                                          <p:stCondLst>
                                            <p:cond delay="0"/>
                                          </p:stCondLst>
                                        </p:cTn>
                                        <p:tgtEl>
                                          <p:spTgt spid="26"/>
                                        </p:tgtEl>
                                        <p:attrNameLst>
                                          <p:attrName>style.visibility</p:attrName>
                                        </p:attrNameLst>
                                      </p:cBhvr>
                                      <p:to>
                                        <p:strVal val="visible"/>
                                      </p:to>
                                    </p:set>
                                    <p:animEffect transition="in" filter="fade">
                                      <p:cBhvr>
                                        <p:cTn id="110" dur="1000"/>
                                        <p:tgtEl>
                                          <p:spTgt spid="26"/>
                                        </p:tgtEl>
                                      </p:cBhvr>
                                    </p:animEffect>
                                  </p:childTnLst>
                                </p:cTn>
                              </p:par>
                              <p:par>
                                <p:cTn id="112" presetID="10" presetClass="entr" presetSubtype="0" fill="hold" nodeType="withEffect">
                                  <p:stCondLst>
                                    <p:cond delay="1800"/>
                                  </p:stCondLst>
                                  <p:childTnLst>
                                    <p:set>
                                      <p:cBhvr>
                                        <p:cTn id="113" dur="1" fill="hold">
                                          <p:stCondLst>
                                            <p:cond delay="0"/>
                                          </p:stCondLst>
                                        </p:cTn>
                                        <p:tgtEl>
                                          <p:spTgt spid="27"/>
                                        </p:tgtEl>
                                        <p:attrNameLst>
                                          <p:attrName>style.visibility</p:attrName>
                                        </p:attrNameLst>
                                      </p:cBhvr>
                                      <p:to>
                                        <p:strVal val="visible"/>
                                      </p:to>
                                    </p:set>
                                    <p:animEffect transition="in" filter="fade">
                                      <p:cBhvr>
                                        <p:cTn id="114" dur="1000"/>
                                        <p:tgtEl>
                                          <p:spTgt spid="27"/>
                                        </p:tgtEl>
                                      </p:cBhvr>
                                    </p:animEffect>
                                  </p:childTnLst>
                                </p:cTn>
                              </p:par>
                              <p:par>
                                <p:cTn id="116" presetID="10" presetClass="entr" presetSubtype="0" fill="hold" nodeType="withEffect">
                                  <p:stCondLst>
                                    <p:cond delay="1800"/>
                                  </p:stCondLst>
                                  <p:childTnLst>
                                    <p:set>
                                      <p:cBhvr>
                                        <p:cTn id="117" dur="1" fill="hold">
                                          <p:stCondLst>
                                            <p:cond delay="0"/>
                                          </p:stCondLst>
                                        </p:cTn>
                                        <p:tgtEl>
                                          <p:spTgt spid="28"/>
                                        </p:tgtEl>
                                        <p:attrNameLst>
                                          <p:attrName>style.visibility</p:attrName>
                                        </p:attrNameLst>
                                      </p:cBhvr>
                                      <p:to>
                                        <p:strVal val="visible"/>
                                      </p:to>
                                    </p:set>
                                    <p:animEffect transition="in" filter="fade">
                                      <p:cBhvr>
                                        <p:cTn id="118" dur="1000"/>
                                        <p:tgtEl>
                                          <p:spTgt spid="28"/>
                                        </p:tgtEl>
                                      </p:cBhvr>
                                    </p:animEffect>
                                  </p:childTnLst>
                                </p:cTn>
                              </p:par>
                              <p:par>
                                <p:cTn id="120" presetID="10" presetClass="entr" presetSubtype="0" fill="hold" nodeType="withEffect">
                                  <p:stCondLst>
                                    <p:cond delay="1800"/>
                                  </p:stCondLst>
                                  <p:childTnLst>
                                    <p:set>
                                      <p:cBhvr>
                                        <p:cTn id="121" dur="1" fill="hold">
                                          <p:stCondLst>
                                            <p:cond delay="0"/>
                                          </p:stCondLst>
                                        </p:cTn>
                                        <p:tgtEl>
                                          <p:spTgt spid="29"/>
                                        </p:tgtEl>
                                        <p:attrNameLst>
                                          <p:attrName>style.visibility</p:attrName>
                                        </p:attrNameLst>
                                      </p:cBhvr>
                                      <p:to>
                                        <p:strVal val="visible"/>
                                      </p:to>
                                    </p:set>
                                    <p:animEffect transition="in" filter="fade">
                                      <p:cBhvr>
                                        <p:cTn id="122" dur="1000"/>
                                        <p:tgtEl>
                                          <p:spTgt spid="29"/>
                                        </p:tgtEl>
                                      </p:cBhvr>
                                    </p:animEffect>
                                  </p:childTnLst>
                                </p:cTn>
                              </p:par>
                              <p:par>
                                <p:cTn id="124" presetID="10" presetClass="entr" presetSubtype="0" fill="hold" nodeType="withEffect">
                                  <p:stCondLst>
                                    <p:cond delay="1800"/>
                                  </p:stCondLst>
                                  <p:childTnLst>
                                    <p:set>
                                      <p:cBhvr>
                                        <p:cTn id="125" dur="1" fill="hold">
                                          <p:stCondLst>
                                            <p:cond delay="0"/>
                                          </p:stCondLst>
                                        </p:cTn>
                                        <p:tgtEl>
                                          <p:spTgt spid="30"/>
                                        </p:tgtEl>
                                        <p:attrNameLst>
                                          <p:attrName>style.visibility</p:attrName>
                                        </p:attrNameLst>
                                      </p:cBhvr>
                                      <p:to>
                                        <p:strVal val="visible"/>
                                      </p:to>
                                    </p:set>
                                    <p:animEffect transition="in" filter="fade">
                                      <p:cBhvr>
                                        <p:cTn id="126" dur="1000"/>
                                        <p:tgtEl>
                                          <p:spTgt spid="30"/>
                                        </p:tgtEl>
                                      </p:cBhvr>
                                    </p:animEffect>
                                  </p:childTnLst>
                                </p:cTn>
                              </p:par>
                              <p:par>
                                <p:cTn id="128" presetID="10" presetClass="entr" presetSubtype="0" fill="hold" nodeType="withEffect">
                                  <p:stCondLst>
                                    <p:cond delay="1800"/>
                                  </p:stCondLst>
                                  <p:childTnLst>
                                    <p:set>
                                      <p:cBhvr>
                                        <p:cTn id="129" dur="1" fill="hold">
                                          <p:stCondLst>
                                            <p:cond delay="0"/>
                                          </p:stCondLst>
                                        </p:cTn>
                                        <p:tgtEl>
                                          <p:spTgt spid="31"/>
                                        </p:tgtEl>
                                        <p:attrNameLst>
                                          <p:attrName>style.visibility</p:attrName>
                                        </p:attrNameLst>
                                      </p:cBhvr>
                                      <p:to>
                                        <p:strVal val="visible"/>
                                      </p:to>
                                    </p:set>
                                    <p:animEffect transition="in" filter="fade">
                                      <p:cBhvr>
                                        <p:cTn id="130" dur="1000"/>
                                        <p:tgtEl>
                                          <p:spTgt spid="31"/>
                                        </p:tgtEl>
                                      </p:cBhvr>
                                    </p:animEffect>
                                  </p:childTnLst>
                                </p:cTn>
                              </p:par>
                              <p:par>
                                <p:cTn id="132" presetID="10" presetClass="entr" presetSubtype="0" fill="hold" nodeType="withEffect">
                                  <p:stCondLst>
                                    <p:cond delay="1800"/>
                                  </p:stCondLst>
                                  <p:childTnLst>
                                    <p:set>
                                      <p:cBhvr>
                                        <p:cTn id="133" dur="1" fill="hold">
                                          <p:stCondLst>
                                            <p:cond delay="0"/>
                                          </p:stCondLst>
                                        </p:cTn>
                                        <p:tgtEl>
                                          <p:spTgt spid="32"/>
                                        </p:tgtEl>
                                        <p:attrNameLst>
                                          <p:attrName>style.visibility</p:attrName>
                                        </p:attrNameLst>
                                      </p:cBhvr>
                                      <p:to>
                                        <p:strVal val="visible"/>
                                      </p:to>
                                    </p:set>
                                    <p:animEffect transition="in" filter="fade">
                                      <p:cBhvr>
                                        <p:cTn id="134" dur="1000"/>
                                        <p:tgtEl>
                                          <p:spTgt spid="32"/>
                                        </p:tgtEl>
                                      </p:cBhvr>
                                    </p:animEffect>
                                  </p:childTnLst>
                                </p:cTn>
                              </p:par>
                              <p:par>
                                <p:cTn id="136" presetID="10" presetClass="entr" presetSubtype="0" fill="hold" nodeType="withEffect">
                                  <p:stCondLst>
                                    <p:cond delay="1800"/>
                                  </p:stCondLst>
                                  <p:childTnLst>
                                    <p:set>
                                      <p:cBhvr>
                                        <p:cTn id="137" dur="1" fill="hold">
                                          <p:stCondLst>
                                            <p:cond delay="0"/>
                                          </p:stCondLst>
                                        </p:cTn>
                                        <p:tgtEl>
                                          <p:spTgt spid="33"/>
                                        </p:tgtEl>
                                        <p:attrNameLst>
                                          <p:attrName>style.visibility</p:attrName>
                                        </p:attrNameLst>
                                      </p:cBhvr>
                                      <p:to>
                                        <p:strVal val="visible"/>
                                      </p:to>
                                    </p:set>
                                    <p:animEffect transition="in" filter="fade">
                                      <p:cBhvr>
                                        <p:cTn id="138" dur="1000"/>
                                        <p:tgtEl>
                                          <p:spTgt spid="33"/>
                                        </p:tgtEl>
                                      </p:cBhvr>
                                    </p:animEffect>
                                  </p:childTnLst>
                                </p:cTn>
                              </p:par>
                              <p:par>
                                <p:cTn id="140" presetID="10" presetClass="entr" presetSubtype="0" fill="hold" nodeType="withEffect">
                                  <p:stCondLst>
                                    <p:cond delay="1800"/>
                                  </p:stCondLst>
                                  <p:childTnLst>
                                    <p:set>
                                      <p:cBhvr>
                                        <p:cTn id="141" dur="1" fill="hold">
                                          <p:stCondLst>
                                            <p:cond delay="0"/>
                                          </p:stCondLst>
                                        </p:cTn>
                                        <p:tgtEl>
                                          <p:spTgt spid="34"/>
                                        </p:tgtEl>
                                        <p:attrNameLst>
                                          <p:attrName>style.visibility</p:attrName>
                                        </p:attrNameLst>
                                      </p:cBhvr>
                                      <p:to>
                                        <p:strVal val="visible"/>
                                      </p:to>
                                    </p:set>
                                    <p:animEffect transition="in" filter="fade">
                                      <p:cBhvr>
                                        <p:cTn id="142" dur="1000"/>
                                        <p:tgtEl>
                                          <p:spTgt spid="34"/>
                                        </p:tgtEl>
                                      </p:cBhvr>
                                    </p:animEffect>
                                  </p:childTnLst>
                                </p:cTn>
                              </p:par>
                              <p:par>
                                <p:cTn id="144" presetID="10" presetClass="entr" presetSubtype="0" fill="hold" nodeType="withEffect">
                                  <p:stCondLst>
                                    <p:cond delay="1800"/>
                                  </p:stCondLst>
                                  <p:childTnLst>
                                    <p:set>
                                      <p:cBhvr>
                                        <p:cTn id="145" dur="1" fill="hold">
                                          <p:stCondLst>
                                            <p:cond delay="0"/>
                                          </p:stCondLst>
                                        </p:cTn>
                                        <p:tgtEl>
                                          <p:spTgt spid="35"/>
                                        </p:tgtEl>
                                        <p:attrNameLst>
                                          <p:attrName>style.visibility</p:attrName>
                                        </p:attrNameLst>
                                      </p:cBhvr>
                                      <p:to>
                                        <p:strVal val="visible"/>
                                      </p:to>
                                    </p:set>
                                    <p:animEffect transition="in" filter="fade">
                                      <p:cBhvr>
                                        <p:cTn id="146" dur="1000"/>
                                        <p:tgtEl>
                                          <p:spTgt spid="35"/>
                                        </p:tgtEl>
                                      </p:cBhvr>
                                    </p:animEffect>
                                  </p:childTnLst>
                                </p:cTn>
                              </p:par>
                              <p:par>
                                <p:cTn id="148" presetID="10" presetClass="entr" presetSubtype="0" fill="hold" nodeType="withEffect">
                                  <p:stCondLst>
                                    <p:cond delay="1800"/>
                                  </p:stCondLst>
                                  <p:childTnLst>
                                    <p:set>
                                      <p:cBhvr>
                                        <p:cTn id="149" dur="1" fill="hold">
                                          <p:stCondLst>
                                            <p:cond delay="0"/>
                                          </p:stCondLst>
                                        </p:cTn>
                                        <p:tgtEl>
                                          <p:spTgt spid="36"/>
                                        </p:tgtEl>
                                        <p:attrNameLst>
                                          <p:attrName>style.visibility</p:attrName>
                                        </p:attrNameLst>
                                      </p:cBhvr>
                                      <p:to>
                                        <p:strVal val="visible"/>
                                      </p:to>
                                    </p:set>
                                    <p:animEffect transition="in" filter="fade">
                                      <p:cBhvr>
                                        <p:cTn id="150" dur="1000"/>
                                        <p:tgtEl>
                                          <p:spTgt spid="36"/>
                                        </p:tgtEl>
                                      </p:cBhvr>
                                    </p:animEffect>
                                  </p:childTnLst>
                                </p:cTn>
                              </p:par>
                              <p:par>
                                <p:cTn id="152" presetID="10" presetClass="entr" presetSubtype="0" fill="hold" nodeType="withEffect">
                                  <p:stCondLst>
                                    <p:cond delay="1800"/>
                                  </p:stCondLst>
                                  <p:childTnLst>
                                    <p:set>
                                      <p:cBhvr>
                                        <p:cTn id="153" dur="1" fill="hold">
                                          <p:stCondLst>
                                            <p:cond delay="0"/>
                                          </p:stCondLst>
                                        </p:cTn>
                                        <p:tgtEl>
                                          <p:spTgt spid="37"/>
                                        </p:tgtEl>
                                        <p:attrNameLst>
                                          <p:attrName>style.visibility</p:attrName>
                                        </p:attrNameLst>
                                      </p:cBhvr>
                                      <p:to>
                                        <p:strVal val="visible"/>
                                      </p:to>
                                    </p:set>
                                    <p:animEffect transition="in" filter="fade">
                                      <p:cBhvr>
                                        <p:cTn id="154" dur="1000"/>
                                        <p:tgtEl>
                                          <p:spTgt spid="37"/>
                                        </p:tgtEl>
                                      </p:cBhvr>
                                    </p:animEffect>
                                  </p:childTnLst>
                                </p:cTn>
                              </p:par>
                              <p:par>
                                <p:cTn id="156" presetID="10" presetClass="entr" presetSubtype="0" fill="hold" nodeType="withEffect">
                                  <p:stCondLst>
                                    <p:cond delay="1800"/>
                                  </p:stCondLst>
                                  <p:childTnLst>
                                    <p:set>
                                      <p:cBhvr>
                                        <p:cTn id="157" dur="1" fill="hold">
                                          <p:stCondLst>
                                            <p:cond delay="0"/>
                                          </p:stCondLst>
                                        </p:cTn>
                                        <p:tgtEl>
                                          <p:spTgt spid="38"/>
                                        </p:tgtEl>
                                        <p:attrNameLst>
                                          <p:attrName>style.visibility</p:attrName>
                                        </p:attrNameLst>
                                      </p:cBhvr>
                                      <p:to>
                                        <p:strVal val="visible"/>
                                      </p:to>
                                    </p:set>
                                    <p:animEffect transition="in" filter="fade">
                                      <p:cBhvr>
                                        <p:cTn id="158" dur="1000"/>
                                        <p:tgtEl>
                                          <p:spTgt spid="38"/>
                                        </p:tgtEl>
                                      </p:cBhvr>
                                    </p:animEffect>
                                  </p:childTnLst>
                                </p:cTn>
                              </p:par>
                              <p:par>
                                <p:cTn id="160" presetID="10" presetClass="entr" presetSubtype="0" fill="hold" nodeType="withEffect">
                                  <p:stCondLst>
                                    <p:cond delay="1800"/>
                                  </p:stCondLst>
                                  <p:childTnLst>
                                    <p:set>
                                      <p:cBhvr>
                                        <p:cTn id="161" dur="1" fill="hold">
                                          <p:stCondLst>
                                            <p:cond delay="0"/>
                                          </p:stCondLst>
                                        </p:cTn>
                                        <p:tgtEl>
                                          <p:spTgt spid="39"/>
                                        </p:tgtEl>
                                        <p:attrNameLst>
                                          <p:attrName>style.visibility</p:attrName>
                                        </p:attrNameLst>
                                      </p:cBhvr>
                                      <p:to>
                                        <p:strVal val="visible"/>
                                      </p:to>
                                    </p:set>
                                    <p:animEffect transition="in" filter="fade">
                                      <p:cBhvr>
                                        <p:cTn id="162" dur="1000"/>
                                        <p:tgtEl>
                                          <p:spTgt spid="39"/>
                                        </p:tgtEl>
                                      </p:cBhvr>
                                    </p:animEffect>
                                  </p:childTnLst>
                                </p:cTn>
                              </p:par>
                              <p:par>
                                <p:cTn id="164" presetID="10" presetClass="entr" presetSubtype="0" fill="hold" nodeType="withEffect">
                                  <p:stCondLst>
                                    <p:cond delay="1800"/>
                                  </p:stCondLst>
                                  <p:childTnLst>
                                    <p:set>
                                      <p:cBhvr>
                                        <p:cTn id="165" dur="1" fill="hold">
                                          <p:stCondLst>
                                            <p:cond delay="0"/>
                                          </p:stCondLst>
                                        </p:cTn>
                                        <p:tgtEl>
                                          <p:spTgt spid="40"/>
                                        </p:tgtEl>
                                        <p:attrNameLst>
                                          <p:attrName>style.visibility</p:attrName>
                                        </p:attrNameLst>
                                      </p:cBhvr>
                                      <p:to>
                                        <p:strVal val="visible"/>
                                      </p:to>
                                    </p:set>
                                    <p:animEffect transition="in" filter="fade">
                                      <p:cBhvr>
                                        <p:cTn id="166" dur="1000"/>
                                        <p:tgtEl>
                                          <p:spTgt spid="40"/>
                                        </p:tgtEl>
                                      </p:cBhvr>
                                    </p:animEffect>
                                  </p:childTnLst>
                                </p:cTn>
                              </p:par>
                              <p:par>
                                <p:cTn id="168" presetID="10" presetClass="entr" presetSubtype="0" fill="hold" nodeType="withEffect">
                                  <p:stCondLst>
                                    <p:cond delay="1800"/>
                                  </p:stCondLst>
                                  <p:childTnLst>
                                    <p:set>
                                      <p:cBhvr>
                                        <p:cTn id="169" dur="1" fill="hold">
                                          <p:stCondLst>
                                            <p:cond delay="0"/>
                                          </p:stCondLst>
                                        </p:cTn>
                                        <p:tgtEl>
                                          <p:spTgt spid="41"/>
                                        </p:tgtEl>
                                        <p:attrNameLst>
                                          <p:attrName>style.visibility</p:attrName>
                                        </p:attrNameLst>
                                      </p:cBhvr>
                                      <p:to>
                                        <p:strVal val="visible"/>
                                      </p:to>
                                    </p:set>
                                    <p:animEffect transition="in" filter="fade">
                                      <p:cBhvr>
                                        <p:cTn id="170" dur="1000"/>
                                        <p:tgtEl>
                                          <p:spTgt spid="41"/>
                                        </p:tgtEl>
                                      </p:cBhvr>
                                    </p:animEffect>
                                  </p:childTnLst>
                                </p:cTn>
                              </p:par>
                              <p:par>
                                <p:cTn id="172" presetID="10" presetClass="entr" presetSubtype="0" fill="hold" nodeType="withEffect">
                                  <p:stCondLst>
                                    <p:cond delay="1800"/>
                                  </p:stCondLst>
                                  <p:childTnLst>
                                    <p:set>
                                      <p:cBhvr>
                                        <p:cTn id="173" dur="1" fill="hold">
                                          <p:stCondLst>
                                            <p:cond delay="0"/>
                                          </p:stCondLst>
                                        </p:cTn>
                                        <p:tgtEl>
                                          <p:spTgt spid="42"/>
                                        </p:tgtEl>
                                        <p:attrNameLst>
                                          <p:attrName>style.visibility</p:attrName>
                                        </p:attrNameLst>
                                      </p:cBhvr>
                                      <p:to>
                                        <p:strVal val="visible"/>
                                      </p:to>
                                    </p:set>
                                    <p:animEffect transition="in" filter="fade">
                                      <p:cBhvr>
                                        <p:cTn id="174" dur="1000"/>
                                        <p:tgtEl>
                                          <p:spTgt spid="42"/>
                                        </p:tgtEl>
                                      </p:cBhvr>
                                    </p:animEffect>
                                  </p:childTnLst>
                                </p:cTn>
                              </p:par>
                              <p:par>
                                <p:cTn id="176" presetID="10" presetClass="entr" presetSubtype="0" fill="hold" nodeType="withEffect">
                                  <p:stCondLst>
                                    <p:cond delay="1800"/>
                                  </p:stCondLst>
                                  <p:childTnLst>
                                    <p:set>
                                      <p:cBhvr>
                                        <p:cTn id="177" dur="1" fill="hold">
                                          <p:stCondLst>
                                            <p:cond delay="0"/>
                                          </p:stCondLst>
                                        </p:cTn>
                                        <p:tgtEl>
                                          <p:spTgt spid="43"/>
                                        </p:tgtEl>
                                        <p:attrNameLst>
                                          <p:attrName>style.visibility</p:attrName>
                                        </p:attrNameLst>
                                      </p:cBhvr>
                                      <p:to>
                                        <p:strVal val="visible"/>
                                      </p:to>
                                    </p:set>
                                    <p:animEffect transition="in" filter="fade">
                                      <p:cBhvr>
                                        <p:cTn id="178" dur="1000"/>
                                        <p:tgtEl>
                                          <p:spTgt spid="43"/>
                                        </p:tgtEl>
                                      </p:cBhvr>
                                    </p:animEffect>
                                  </p:childTnLst>
                                </p:cTn>
                              </p:par>
                              <p:par>
                                <p:cTn id="180" presetID="10" presetClass="entr" presetSubtype="0" fill="hold" nodeType="withEffect">
                                  <p:stCondLst>
                                    <p:cond delay="1800"/>
                                  </p:stCondLst>
                                  <p:childTnLst>
                                    <p:set>
                                      <p:cBhvr>
                                        <p:cTn id="181" dur="1" fill="hold">
                                          <p:stCondLst>
                                            <p:cond delay="0"/>
                                          </p:stCondLst>
                                        </p:cTn>
                                        <p:tgtEl>
                                          <p:spTgt spid="44"/>
                                        </p:tgtEl>
                                        <p:attrNameLst>
                                          <p:attrName>style.visibility</p:attrName>
                                        </p:attrNameLst>
                                      </p:cBhvr>
                                      <p:to>
                                        <p:strVal val="visible"/>
                                      </p:to>
                                    </p:set>
                                    <p:animEffect transition="in" filter="fade">
                                      <p:cBhvr>
                                        <p:cTn id="182" dur="1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Choosing the logo and the palette</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We combined the strongest parts of two proposals</a:t>
            </a:r>
          </a:p>
        </p:txBody>
      </p:sp>
      <p:sp>
        <p:nvSpPr>
          <p:cNvPr id="5" name="Rounded Rectangle 4"/>
          <p:cNvSpPr/>
          <p:nvPr/>
        </p:nvSpPr>
        <p:spPr>
          <a:xfrm>
            <a:off x="640080" y="1783080"/>
            <a:ext cx="5394960" cy="420624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920240"/>
            <a:ext cx="4937760" cy="457200"/>
          </a:xfrm>
          <a:prstGeom prst="rect">
            <a:avLst/>
          </a:prstGeom>
          <a:noFill/>
        </p:spPr>
        <p:txBody>
          <a:bodyPr wrap="square" anchor="t" lIns="45720" rIns="45720">
            <a:spAutoFit/>
          </a:bodyPr>
          <a:lstStyle/>
          <a:p>
            <a:pPr algn="l">
              <a:spcAft>
                <a:spcPts val="600"/>
              </a:spcAft>
            </a:pPr>
            <a:r>
              <a:rPr sz="2100" b="1">
                <a:solidFill>
                  <a:srgbClr val="5A3E2B"/>
                </a:solidFill>
                <a:latin typeface="Book Antiqua"/>
              </a:rPr>
              <a:t>Logo: Mohamed's dog, 27 vs 21</a:t>
            </a:r>
          </a:p>
        </p:txBody>
      </p:sp>
      <p:sp>
        <p:nvSpPr>
          <p:cNvPr id="7" name="TextBox 6"/>
          <p:cNvSpPr txBox="1"/>
          <p:nvPr/>
        </p:nvSpPr>
        <p:spPr>
          <a:xfrm>
            <a:off x="868680" y="2560320"/>
            <a:ext cx="4937760" cy="4114800"/>
          </a:xfrm>
          <a:prstGeom prst="rect">
            <a:avLst/>
          </a:prstGeom>
          <a:noFill/>
        </p:spPr>
        <p:txBody>
          <a:bodyPr wrap="square">
            <a:spAutoFit/>
          </a:bodyPr>
          <a:lstStyle/>
          <a:p>
            <a:pPr>
              <a:spcAft>
                <a:spcPts val="800"/>
              </a:spcAft>
            </a:pPr>
            <a:r>
              <a:rPr sz="1600">
                <a:solidFill>
                  <a:srgbClr val="2F302D"/>
                </a:solidFill>
                <a:latin typeface="Calibri"/>
              </a:rPr>
              <a:t>•  Scored higher for representing the business, being easy to recognise and suiting the app</a:t>
            </a:r>
          </a:p>
          <a:p>
            <a:pPr>
              <a:spcAft>
                <a:spcPts val="800"/>
              </a:spcAft>
            </a:pPr>
            <a:r>
              <a:rPr sz="1600">
                <a:solidFill>
                  <a:srgbClr val="2F302D"/>
                </a:solidFill>
                <a:latin typeface="Calibri"/>
              </a:rPr>
              <a:t>•  Kept the design and changed only the colours</a:t>
            </a:r>
          </a:p>
          <a:p>
            <a:pPr>
              <a:spcAft>
                <a:spcPts val="800"/>
              </a:spcAft>
            </a:pPr>
            <a:r>
              <a:rPr sz="1600">
                <a:solidFill>
                  <a:srgbClr val="2F302D"/>
                </a:solidFill>
                <a:latin typeface="Calibri"/>
              </a:rPr>
              <a:t>•  Recolour vs redesign was a 50-50 vote, broken by a wheel spin</a:t>
            </a:r>
          </a:p>
        </p:txBody>
      </p:sp>
      <p:sp>
        <p:nvSpPr>
          <p:cNvPr id="8" name="Rounded Rectangle 7"/>
          <p:cNvSpPr/>
          <p:nvPr/>
        </p:nvSpPr>
        <p:spPr>
          <a:xfrm>
            <a:off x="6309360" y="1783080"/>
            <a:ext cx="5303520" cy="420624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920240"/>
            <a:ext cx="4846320" cy="457200"/>
          </a:xfrm>
          <a:prstGeom prst="rect">
            <a:avLst/>
          </a:prstGeom>
          <a:noFill/>
        </p:spPr>
        <p:txBody>
          <a:bodyPr wrap="square" anchor="t" lIns="45720" rIns="45720">
            <a:spAutoFit/>
          </a:bodyPr>
          <a:lstStyle/>
          <a:p>
            <a:pPr algn="l">
              <a:spcAft>
                <a:spcPts val="600"/>
              </a:spcAft>
            </a:pPr>
            <a:r>
              <a:rPr sz="2100" b="1">
                <a:solidFill>
                  <a:srgbClr val="5A3E2B"/>
                </a:solidFill>
                <a:latin typeface="Book Antiqua"/>
              </a:rPr>
              <a:t>Palette: Kelebogile's</a:t>
            </a:r>
          </a:p>
        </p:txBody>
      </p:sp>
      <p:sp>
        <p:nvSpPr>
          <p:cNvPr id="10" name="Rounded Rectangle 9"/>
          <p:cNvSpPr/>
          <p:nvPr/>
        </p:nvSpPr>
        <p:spPr>
          <a:xfrm>
            <a:off x="6537960" y="2560320"/>
            <a:ext cx="1371600" cy="1097280"/>
          </a:xfrm>
          <a:prstGeom prst="roundRect">
            <a:avLst>
              <a:gd name="adj" fmla="val 6000"/>
            </a:avLst>
          </a:prstGeom>
          <a:solidFill>
            <a:srgbClr val="FFFDD0"/>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3703320"/>
            <a:ext cx="1371600" cy="365760"/>
          </a:xfrm>
          <a:prstGeom prst="rect">
            <a:avLst/>
          </a:prstGeom>
          <a:noFill/>
        </p:spPr>
        <p:txBody>
          <a:bodyPr wrap="square" anchor="t" lIns="45720" rIns="45720">
            <a:spAutoFit/>
          </a:bodyPr>
          <a:lstStyle/>
          <a:p>
            <a:pPr algn="ctr">
              <a:spcAft>
                <a:spcPts val="600"/>
              </a:spcAft>
            </a:pPr>
            <a:r>
              <a:rPr sz="1300" b="0">
                <a:solidFill>
                  <a:srgbClr val="2F302D"/>
                </a:solidFill>
                <a:latin typeface="Calibri"/>
              </a:rPr>
              <a:t>#FFFDD0</a:t>
            </a:r>
          </a:p>
        </p:txBody>
      </p:sp>
      <p:sp>
        <p:nvSpPr>
          <p:cNvPr id="12" name="Rounded Rectangle 11"/>
          <p:cNvSpPr/>
          <p:nvPr/>
        </p:nvSpPr>
        <p:spPr>
          <a:xfrm>
            <a:off x="8092440" y="2560320"/>
            <a:ext cx="1371600" cy="1097280"/>
          </a:xfrm>
          <a:prstGeom prst="roundRect">
            <a:avLst>
              <a:gd name="adj" fmla="val 6000"/>
            </a:avLst>
          </a:prstGeom>
          <a:solidFill>
            <a:srgbClr val="B0E0E6"/>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3703320"/>
            <a:ext cx="1371600" cy="365760"/>
          </a:xfrm>
          <a:prstGeom prst="rect">
            <a:avLst/>
          </a:prstGeom>
          <a:noFill/>
        </p:spPr>
        <p:txBody>
          <a:bodyPr wrap="square" anchor="t" lIns="45720" rIns="45720">
            <a:spAutoFit/>
          </a:bodyPr>
          <a:lstStyle/>
          <a:p>
            <a:pPr algn="ctr">
              <a:spcAft>
                <a:spcPts val="600"/>
              </a:spcAft>
            </a:pPr>
            <a:r>
              <a:rPr sz="1300" b="0">
                <a:solidFill>
                  <a:srgbClr val="2F302D"/>
                </a:solidFill>
                <a:latin typeface="Calibri"/>
              </a:rPr>
              <a:t>#B0E0E6</a:t>
            </a:r>
          </a:p>
        </p:txBody>
      </p:sp>
      <p:sp>
        <p:nvSpPr>
          <p:cNvPr id="14" name="Rounded Rectangle 13"/>
          <p:cNvSpPr/>
          <p:nvPr/>
        </p:nvSpPr>
        <p:spPr>
          <a:xfrm>
            <a:off x="9646920" y="2560320"/>
            <a:ext cx="1371600" cy="1097280"/>
          </a:xfrm>
          <a:prstGeom prst="roundRect">
            <a:avLst>
              <a:gd name="adj" fmla="val 6000"/>
            </a:avLst>
          </a:prstGeom>
          <a:solidFill>
            <a:srgbClr val="C68B59"/>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46920" y="3703320"/>
            <a:ext cx="1371600" cy="365760"/>
          </a:xfrm>
          <a:prstGeom prst="rect">
            <a:avLst/>
          </a:prstGeom>
          <a:noFill/>
        </p:spPr>
        <p:txBody>
          <a:bodyPr wrap="square" anchor="t" lIns="45720" rIns="45720">
            <a:spAutoFit/>
          </a:bodyPr>
          <a:lstStyle/>
          <a:p>
            <a:pPr algn="ctr">
              <a:spcAft>
                <a:spcPts val="600"/>
              </a:spcAft>
            </a:pPr>
            <a:r>
              <a:rPr sz="1300" b="0">
                <a:solidFill>
                  <a:srgbClr val="2F302D"/>
                </a:solidFill>
                <a:latin typeface="Calibri"/>
              </a:rPr>
              <a:t>#C68B59</a:t>
            </a:r>
          </a:p>
        </p:txBody>
      </p:sp>
      <p:sp>
        <p:nvSpPr>
          <p:cNvPr id="16" name="TextBox 15"/>
          <p:cNvSpPr txBox="1"/>
          <p:nvPr/>
        </p:nvSpPr>
        <p:spPr>
          <a:xfrm>
            <a:off x="6537960" y="4206240"/>
            <a:ext cx="4846320" cy="164592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Chosen over Mohamed's coral and sage palette because it felt softer and more welcoming, while still caring and professional.</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4"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childTnLst>
                                </p:cTn>
                              </p:par>
                              <p:par>
                                <p:cTn id="24" presetID="10" presetClass="entr" presetSubtype="0" fill="hold" nodeType="withEffect">
                                  <p:stCondLst>
                                    <p:cond delay="75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childTnLst>
                                </p:cTn>
                              </p:par>
                              <p:par>
                                <p:cTn id="28" presetID="10" presetClass="entr" presetSubtype="0" fill="hold" nodeType="withEffect">
                                  <p:stCondLst>
                                    <p:cond delay="90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1000"/>
                                        <p:tgtEl>
                                          <p:spTgt spid="9"/>
                                        </p:tgtEl>
                                      </p:cBhvr>
                                    </p:animEffect>
                                  </p:childTnLst>
                                </p:cTn>
                              </p:par>
                              <p:par>
                                <p:cTn id="32" presetID="10" presetClass="entr" presetSubtype="0" fill="hold" nodeType="withEffect">
                                  <p:stCondLst>
                                    <p:cond delay="105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1000"/>
                                        <p:tgtEl>
                                          <p:spTgt spid="7"/>
                                        </p:tgtEl>
                                      </p:cBhvr>
                                    </p:animEffect>
                                  </p:childTnLst>
                                </p:cTn>
                              </p:par>
                              <p:par>
                                <p:cTn id="36" presetID="10" presetClass="entr" presetSubtype="0" fill="hold" nodeType="withEffect">
                                  <p:stCondLst>
                                    <p:cond delay="120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1000"/>
                                        <p:tgtEl>
                                          <p:spTgt spid="10"/>
                                        </p:tgtEl>
                                      </p:cBhvr>
                                    </p:animEffect>
                                  </p:childTnLst>
                                </p:cTn>
                              </p:par>
                              <p:par>
                                <p:cTn id="40" presetID="10" presetClass="entr" presetSubtype="0" fill="hold" nodeType="withEffect">
                                  <p:stCondLst>
                                    <p:cond delay="135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1000"/>
                                        <p:tgtEl>
                                          <p:spTgt spid="12"/>
                                        </p:tgtEl>
                                      </p:cBhvr>
                                    </p:animEffect>
                                  </p:childTnLst>
                                </p:cTn>
                              </p:par>
                              <p:par>
                                <p:cTn id="44" presetID="10" presetClass="entr" presetSubtype="0" fill="hold" nodeType="withEffect">
                                  <p:stCondLst>
                                    <p:cond delay="150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1000"/>
                                        <p:tgtEl>
                                          <p:spTgt spid="14"/>
                                        </p:tgtEl>
                                      </p:cBhvr>
                                    </p:animEffect>
                                  </p:childTnLst>
                                </p:cTn>
                              </p:par>
                              <p:par>
                                <p:cTn id="48" presetID="10" presetClass="entr" presetSubtype="0" fill="hold" nodeType="withEffect">
                                  <p:stCondLst>
                                    <p:cond delay="165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1000"/>
                                        <p:tgtEl>
                                          <p:spTgt spid="11"/>
                                        </p:tgtEl>
                                      </p:cBhvr>
                                    </p:animEffect>
                                  </p:childTnLst>
                                </p:cTn>
                              </p:par>
                              <p:par>
                                <p:cTn id="52" presetID="10" presetClass="entr" presetSubtype="0" fill="hold" nodeType="withEffect">
                                  <p:stCondLst>
                                    <p:cond delay="180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1000"/>
                                        <p:tgtEl>
                                          <p:spTgt spid="13"/>
                                        </p:tgtEl>
                                      </p:cBhvr>
                                    </p:animEffect>
                                  </p:childTnLst>
                                </p:cTn>
                              </p:par>
                              <p:par>
                                <p:cTn id="56" presetID="10" presetClass="entr" presetSubtype="0" fill="hold" nodeType="withEffect">
                                  <p:stCondLst>
                                    <p:cond delay="180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1000"/>
                                        <p:tgtEl>
                                          <p:spTgt spid="15"/>
                                        </p:tgtEl>
                                      </p:cBhvr>
                                    </p:animEffect>
                                  </p:childTnLst>
                                </p:cTn>
                              </p:par>
                              <p:par>
                                <p:cTn id="60" presetID="10" presetClass="entr" presetSubtype="0" fill="hold" nodeType="withEffect">
                                  <p:stCondLst>
                                    <p:cond delay="180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Our logo: from Phase 1 to final</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My dog logo was chosen in Phase 1, then recoloured to the group palette</a:t>
            </a:r>
          </a:p>
        </p:txBody>
      </p:sp>
      <p:sp>
        <p:nvSpPr>
          <p:cNvPr id="5" name="Rounded Rectangle 4"/>
          <p:cNvSpPr/>
          <p:nvPr/>
        </p:nvSpPr>
        <p:spPr>
          <a:xfrm>
            <a:off x="640080" y="1783080"/>
            <a:ext cx="5120640" cy="420624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_original_crop.jpg"/>
          <p:cNvPicPr>
            <a:picLocks noChangeAspect="1"/>
          </p:cNvPicPr>
          <p:nvPr/>
        </p:nvPicPr>
        <p:blipFill>
          <a:blip r:embed="rId2"/>
          <a:stretch>
            <a:fillRect/>
          </a:stretch>
        </p:blipFill>
        <p:spPr>
          <a:xfrm>
            <a:off x="1554480" y="2103120"/>
            <a:ext cx="3291840" cy="3291840"/>
          </a:xfrm>
          <a:prstGeom prst="rect">
            <a:avLst/>
          </a:prstGeom>
        </p:spPr>
      </p:pic>
      <p:sp>
        <p:nvSpPr>
          <p:cNvPr id="7" name="Rounded Rectangle 6"/>
          <p:cNvSpPr/>
          <p:nvPr/>
        </p:nvSpPr>
        <p:spPr>
          <a:xfrm>
            <a:off x="2148840" y="5486400"/>
            <a:ext cx="1554480" cy="365760"/>
          </a:xfrm>
          <a:prstGeom prst="roundRect">
            <a:avLst>
              <a:gd name="adj" fmla="val 50000"/>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libri"/>
              </a:rPr>
              <a:t>Original</a:t>
            </a:r>
          </a:p>
        </p:txBody>
      </p:sp>
      <p:sp>
        <p:nvSpPr>
          <p:cNvPr id="8" name="Rounded Rectangle 7"/>
          <p:cNvSpPr/>
          <p:nvPr/>
        </p:nvSpPr>
        <p:spPr>
          <a:xfrm>
            <a:off x="6400800" y="1783080"/>
            <a:ext cx="5120640" cy="420624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ogo_final_site.jpg"/>
          <p:cNvPicPr>
            <a:picLocks noChangeAspect="1"/>
          </p:cNvPicPr>
          <p:nvPr/>
        </p:nvPicPr>
        <p:blipFill>
          <a:blip r:embed="rId3"/>
          <a:stretch>
            <a:fillRect/>
          </a:stretch>
        </p:blipFill>
        <p:spPr>
          <a:xfrm>
            <a:off x="6583680" y="2489739"/>
            <a:ext cx="4754880" cy="2518600"/>
          </a:xfrm>
          <a:prstGeom prst="rect">
            <a:avLst/>
          </a:prstGeom>
        </p:spPr>
      </p:pic>
      <p:sp>
        <p:nvSpPr>
          <p:cNvPr id="10" name="Rounded Rectangle 9"/>
          <p:cNvSpPr/>
          <p:nvPr/>
        </p:nvSpPr>
        <p:spPr>
          <a:xfrm>
            <a:off x="8183879" y="5486400"/>
            <a:ext cx="1554480" cy="365760"/>
          </a:xfrm>
          <a:prstGeom prst="roundRect">
            <a:avLst>
              <a:gd name="adj" fmla="val 50000"/>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libri"/>
              </a:rPr>
              <a:t>Final</a:t>
            </a:r>
          </a:p>
        </p:txBody>
      </p:sp>
      <p:sp>
        <p:nvSpPr>
          <p:cNvPr id="11" name="TextBox 10"/>
          <p:cNvSpPr txBox="1"/>
          <p:nvPr/>
        </p:nvSpPr>
        <p:spPr>
          <a:xfrm>
            <a:off x="5623560" y="3383280"/>
            <a:ext cx="914400" cy="640080"/>
          </a:xfrm>
          <a:prstGeom prst="rect">
            <a:avLst/>
          </a:prstGeom>
          <a:noFill/>
        </p:spPr>
        <p:txBody>
          <a:bodyPr wrap="square" anchor="t" lIns="45720" rIns="45720">
            <a:spAutoFit/>
          </a:bodyPr>
          <a:lstStyle/>
          <a:p>
            <a:pPr algn="ctr">
              <a:spcAft>
                <a:spcPts val="600"/>
              </a:spcAft>
            </a:pPr>
            <a:r>
              <a:rPr sz="4400" b="1">
                <a:solidFill>
                  <a:srgbClr val="C68B59"/>
                </a:solidFill>
                <a:latin typeface="Calibri"/>
              </a:rPr>
              <a:t>→</a:t>
            </a:r>
          </a:p>
        </p:txBody>
      </p:sp>
      <p:sp>
        <p:nvSpPr>
          <p:cNvPr id="12" name="TextBox 11"/>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Mohamed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4"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childTnLst>
                                </p:cTn>
                              </p:par>
                              <p:par>
                                <p:cTn id="24" presetID="10" presetClass="entr" presetSubtype="0" fill="hold" nodeType="withEffect">
                                  <p:stCondLst>
                                    <p:cond delay="75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childTnLst>
                                </p:cTn>
                              </p:par>
                              <p:par>
                                <p:cTn id="28" presetID="10" presetClass="entr" presetSubtype="0" fill="hold" nodeType="withEffect">
                                  <p:stCondLst>
                                    <p:cond delay="90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1000"/>
                                        <p:tgtEl>
                                          <p:spTgt spid="9"/>
                                        </p:tgtEl>
                                      </p:cBhvr>
                                    </p:animEffect>
                                  </p:childTnLst>
                                </p:cTn>
                              </p:par>
                              <p:par>
                                <p:cTn id="32" presetID="10" presetClass="entr" presetSubtype="0" fill="hold" nodeType="withEffect">
                                  <p:stCondLst>
                                    <p:cond delay="105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1000"/>
                                        <p:tgtEl>
                                          <p:spTgt spid="11"/>
                                        </p:tgtEl>
                                      </p:cBhvr>
                                    </p:animEffect>
                                  </p:childTnLst>
                                </p:cTn>
                              </p:par>
                              <p:par>
                                <p:cTn id="36" presetID="10" presetClass="entr" presetSubtype="0" fill="hold" nodeType="withEffect">
                                  <p:stCondLst>
                                    <p:cond delay="120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1000"/>
                                        <p:tgtEl>
                                          <p:spTgt spid="7"/>
                                        </p:tgtEl>
                                      </p:cBhvr>
                                    </p:animEffect>
                                  </p:childTnLst>
                                </p:cTn>
                              </p:par>
                              <p:par>
                                <p:cTn id="40" presetID="10" presetClass="entr" presetSubtype="0" fill="hold" nodeType="withEffect">
                                  <p:stCondLst>
                                    <p:cond delay="135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Why the dog, the heart and the vines</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Every part of the logo says something about the academy</a:t>
            </a:r>
          </a:p>
        </p:txBody>
      </p:sp>
      <p:sp>
        <p:nvSpPr>
          <p:cNvPr id="5" name="Rounded Rectangle 4"/>
          <p:cNvSpPr/>
          <p:nvPr/>
        </p:nvSpPr>
        <p:spPr>
          <a:xfrm>
            <a:off x="640080" y="1828800"/>
            <a:ext cx="3566160" cy="3383280"/>
          </a:xfrm>
          <a:prstGeom prst="roundRect">
            <a:avLst>
              <a:gd name="adj" fmla="val 6000"/>
            </a:avLst>
          </a:prstGeom>
          <a:solidFill>
            <a:srgbClr val="B0E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11680"/>
            <a:ext cx="3108960" cy="548640"/>
          </a:xfrm>
          <a:prstGeom prst="rect">
            <a:avLst/>
          </a:prstGeom>
          <a:noFill/>
        </p:spPr>
        <p:txBody>
          <a:bodyPr wrap="square" anchor="t" lIns="45720" rIns="45720">
            <a:spAutoFit/>
          </a:bodyPr>
          <a:lstStyle/>
          <a:p>
            <a:pPr algn="l">
              <a:spcAft>
                <a:spcPts val="600"/>
              </a:spcAft>
            </a:pPr>
            <a:r>
              <a:rPr sz="2600" b="1">
                <a:solidFill>
                  <a:srgbClr val="5A3E2B"/>
                </a:solidFill>
                <a:latin typeface="Book Antiqua"/>
              </a:rPr>
              <a:t>The dog</a:t>
            </a:r>
          </a:p>
        </p:txBody>
      </p:sp>
      <p:sp>
        <p:nvSpPr>
          <p:cNvPr id="7" name="TextBox 6"/>
          <p:cNvSpPr txBox="1"/>
          <p:nvPr/>
        </p:nvSpPr>
        <p:spPr>
          <a:xfrm>
            <a:off x="868680" y="2743200"/>
            <a:ext cx="3108960" cy="237744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Most of our courses are dog-based, so the dog is the main focus. The smiling face feels friendly and approachable, which is what Sarah wanted.</a:t>
            </a:r>
          </a:p>
        </p:txBody>
      </p:sp>
      <p:sp>
        <p:nvSpPr>
          <p:cNvPr id="8" name="Rounded Rectangle 7"/>
          <p:cNvSpPr/>
          <p:nvPr/>
        </p:nvSpPr>
        <p:spPr>
          <a:xfrm>
            <a:off x="4434840" y="1828800"/>
            <a:ext cx="3566160" cy="3383280"/>
          </a:xfrm>
          <a:prstGeom prst="roundRect">
            <a:avLst>
              <a:gd name="adj" fmla="val 6000"/>
            </a:avLst>
          </a:prstGeom>
          <a:solidFill>
            <a:srgbClr val="B0E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63440" y="2011680"/>
            <a:ext cx="3108960" cy="548640"/>
          </a:xfrm>
          <a:prstGeom prst="rect">
            <a:avLst/>
          </a:prstGeom>
          <a:noFill/>
        </p:spPr>
        <p:txBody>
          <a:bodyPr wrap="square" anchor="t" lIns="45720" rIns="45720">
            <a:spAutoFit/>
          </a:bodyPr>
          <a:lstStyle/>
          <a:p>
            <a:pPr algn="l">
              <a:spcAft>
                <a:spcPts val="600"/>
              </a:spcAft>
            </a:pPr>
            <a:r>
              <a:rPr sz="2600" b="1">
                <a:solidFill>
                  <a:srgbClr val="5A3E2B"/>
                </a:solidFill>
                <a:latin typeface="Book Antiqua"/>
              </a:rPr>
              <a:t>The heart</a:t>
            </a:r>
          </a:p>
        </p:txBody>
      </p:sp>
      <p:sp>
        <p:nvSpPr>
          <p:cNvPr id="10" name="TextBox 9"/>
          <p:cNvSpPr txBox="1"/>
          <p:nvPr/>
        </p:nvSpPr>
        <p:spPr>
          <a:xfrm>
            <a:off x="4663440" y="2743200"/>
            <a:ext cx="3108960" cy="237744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A soft heart on the chest shows the care that owners should give their animals. It is the caring side of what the academy teaches.</a:t>
            </a:r>
          </a:p>
        </p:txBody>
      </p:sp>
      <p:sp>
        <p:nvSpPr>
          <p:cNvPr id="11" name="Rounded Rectangle 10"/>
          <p:cNvSpPr/>
          <p:nvPr/>
        </p:nvSpPr>
        <p:spPr>
          <a:xfrm>
            <a:off x="8229600" y="1828800"/>
            <a:ext cx="3566160" cy="3383280"/>
          </a:xfrm>
          <a:prstGeom prst="roundRect">
            <a:avLst>
              <a:gd name="adj" fmla="val 6000"/>
            </a:avLst>
          </a:prstGeom>
          <a:solidFill>
            <a:srgbClr val="B0E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58200" y="2011680"/>
            <a:ext cx="3108960" cy="548640"/>
          </a:xfrm>
          <a:prstGeom prst="rect">
            <a:avLst/>
          </a:prstGeom>
          <a:noFill/>
        </p:spPr>
        <p:txBody>
          <a:bodyPr wrap="square" anchor="t" lIns="45720" rIns="45720">
            <a:spAutoFit/>
          </a:bodyPr>
          <a:lstStyle/>
          <a:p>
            <a:pPr algn="l">
              <a:spcAft>
                <a:spcPts val="600"/>
              </a:spcAft>
            </a:pPr>
            <a:r>
              <a:rPr sz="2600" b="1">
                <a:solidFill>
                  <a:srgbClr val="5A3E2B"/>
                </a:solidFill>
                <a:latin typeface="Book Antiqua"/>
              </a:rPr>
              <a:t>The vines</a:t>
            </a:r>
          </a:p>
        </p:txBody>
      </p:sp>
      <p:sp>
        <p:nvSpPr>
          <p:cNvPr id="13" name="TextBox 12"/>
          <p:cNvSpPr txBox="1"/>
          <p:nvPr/>
        </p:nvSpPr>
        <p:spPr>
          <a:xfrm>
            <a:off x="8458200" y="2743200"/>
            <a:ext cx="3108960" cy="237744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Vines and leaves around the dog stand for nature, growth and wellbeing. That fits pet care, training and a calm, healthy brand.</a:t>
            </a:r>
          </a:p>
        </p:txBody>
      </p:sp>
      <p:sp>
        <p:nvSpPr>
          <p:cNvPr id="14" name="Rounded Rectangle 13"/>
          <p:cNvSpPr/>
          <p:nvPr/>
        </p:nvSpPr>
        <p:spPr>
          <a:xfrm>
            <a:off x="640080" y="5440680"/>
            <a:ext cx="10972800" cy="822960"/>
          </a:xfrm>
          <a:prstGeom prst="roundRect">
            <a:avLst>
              <a:gd name="adj" fmla="val 6000"/>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532120"/>
            <a:ext cx="10515600" cy="640080"/>
          </a:xfrm>
          <a:prstGeom prst="rect">
            <a:avLst/>
          </a:prstGeom>
          <a:noFill/>
        </p:spPr>
        <p:txBody>
          <a:bodyPr wrap="square" anchor="ctr" lIns="45720" rIns="45720">
            <a:spAutoFit/>
          </a:bodyPr>
          <a:lstStyle/>
          <a:p>
            <a:pPr algn="l">
              <a:spcAft>
                <a:spcPts val="600"/>
              </a:spcAft>
            </a:pPr>
            <a:r>
              <a:rPr sz="1700" b="0">
                <a:solidFill>
                  <a:srgbClr val="FFFFFF"/>
                </a:solidFill>
                <a:latin typeface="Calibri"/>
              </a:rPr>
              <a:t>Why recolour and not redesign? The brand mark already worked. Recolouring kept it simple and professional and tied it to the group palette.</a:t>
            </a:r>
          </a:p>
        </p:txBody>
      </p:sp>
      <p:sp>
        <p:nvSpPr>
          <p:cNvPr id="16" name="TextBox 15"/>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Mohamed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0"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childTnLst>
                                </p:cTn>
                              </p:par>
                              <p:par>
                                <p:cTn id="24" presetID="10" presetClass="entr" presetSubtype="0" fill="hold" nodeType="withEffect">
                                  <p:stCondLst>
                                    <p:cond delay="75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1000"/>
                                        <p:tgtEl>
                                          <p:spTgt spid="11"/>
                                        </p:tgtEl>
                                      </p:cBhvr>
                                    </p:animEffect>
                                  </p:childTnLst>
                                </p:cTn>
                              </p:par>
                              <p:par>
                                <p:cTn id="28" presetID="10" presetClass="entr" presetSubtype="0" fill="hold" nodeType="withEffect">
                                  <p:stCondLst>
                                    <p:cond delay="90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1000"/>
                                        <p:tgtEl>
                                          <p:spTgt spid="6"/>
                                        </p:tgtEl>
                                      </p:cBhvr>
                                    </p:animEffect>
                                  </p:childTnLst>
                                </p:cTn>
                              </p:par>
                              <p:par>
                                <p:cTn id="32" presetID="10" presetClass="entr" presetSubtype="0" fill="hold" nodeType="withEffect">
                                  <p:stCondLst>
                                    <p:cond delay="105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1000"/>
                                        <p:tgtEl>
                                          <p:spTgt spid="9"/>
                                        </p:tgtEl>
                                      </p:cBhvr>
                                    </p:animEffect>
                                  </p:childTnLst>
                                </p:cTn>
                              </p:par>
                              <p:par>
                                <p:cTn id="36" presetID="10" presetClass="entr" presetSubtype="0" fill="hold" nodeType="withEffect">
                                  <p:stCondLst>
                                    <p:cond delay="120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1000"/>
                                        <p:tgtEl>
                                          <p:spTgt spid="12"/>
                                        </p:tgtEl>
                                      </p:cBhvr>
                                    </p:animEffect>
                                  </p:childTnLst>
                                </p:cTn>
                              </p:par>
                              <p:par>
                                <p:cTn id="40" presetID="10" presetClass="entr" presetSubtype="0" fill="hold" nodeType="withEffect">
                                  <p:stCondLst>
                                    <p:cond delay="135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1000"/>
                                        <p:tgtEl>
                                          <p:spTgt spid="7"/>
                                        </p:tgtEl>
                                      </p:cBhvr>
                                    </p:animEffect>
                                  </p:childTnLst>
                                </p:cTn>
                              </p:par>
                              <p:par>
                                <p:cTn id="44" presetID="10" presetClass="entr" presetSubtype="0" fill="hold" nodeType="withEffect">
                                  <p:stCondLst>
                                    <p:cond delay="150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1000"/>
                                        <p:tgtEl>
                                          <p:spTgt spid="10"/>
                                        </p:tgtEl>
                                      </p:cBhvr>
                                    </p:animEffect>
                                  </p:childTnLst>
                                </p:cTn>
                              </p:par>
                              <p:par>
                                <p:cTn id="48" presetID="10" presetClass="entr" presetSubtype="0" fill="hold" nodeType="withEffect">
                                  <p:stCondLst>
                                    <p:cond delay="165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1000"/>
                                        <p:tgtEl>
                                          <p:spTgt spid="13"/>
                                        </p:tgtEl>
                                      </p:cBhvr>
                                    </p:animEffect>
                                  </p:childTnLst>
                                </p:cTn>
                              </p:par>
                              <p:par>
                                <p:cTn id="52" presetID="10" presetClass="entr" presetSubtype="0" fill="hold" nodeType="withEffect">
                                  <p:stCondLst>
                                    <p:cond delay="180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1000"/>
                                        <p:tgtEl>
                                          <p:spTgt spid="14"/>
                                        </p:tgtEl>
                                      </p:cBhvr>
                                    </p:animEffect>
                                  </p:childTnLst>
                                </p:cTn>
                              </p:par>
                              <p:par>
                                <p:cTn id="56" presetID="10" presetClass="entr" presetSubtype="0" fill="hold" nodeType="withEffect">
                                  <p:stCondLst>
                                    <p:cond delay="180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Wireframes: low-fidelity to high-fidelity</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12 low-fidelity screens, then 6 desktop and 7 mobile high-fidelity screens, all in Figma</a:t>
            </a:r>
          </a:p>
        </p:txBody>
      </p:sp>
      <p:sp>
        <p:nvSpPr>
          <p:cNvPr id="5" name="Rounded Rectangle 4"/>
          <p:cNvSpPr/>
          <p:nvPr/>
        </p:nvSpPr>
        <p:spPr>
          <a:xfrm>
            <a:off x="548640" y="1691640"/>
            <a:ext cx="2377440" cy="365760"/>
          </a:xfrm>
          <a:prstGeom prst="roundRect">
            <a:avLst>
              <a:gd name="adj" fmla="val 50000"/>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libri"/>
              </a:rPr>
              <a:t>Low-fidelity (12)</a:t>
            </a:r>
          </a:p>
        </p:txBody>
      </p:sp>
      <p:pic>
        <p:nvPicPr>
          <p:cNvPr id="6" name="Picture 5" descr="lo_web_home.jpg"/>
          <p:cNvPicPr>
            <a:picLocks noChangeAspect="1"/>
          </p:cNvPicPr>
          <p:nvPr/>
        </p:nvPicPr>
        <p:blipFill>
          <a:blip r:embed="rId2"/>
          <a:stretch>
            <a:fillRect/>
          </a:stretch>
        </p:blipFill>
        <p:spPr>
          <a:xfrm>
            <a:off x="563632" y="2148840"/>
            <a:ext cx="811263" cy="1005840"/>
          </a:xfrm>
          <a:prstGeom prst="rect">
            <a:avLst/>
          </a:prstGeom>
          <a:ln w="15875">
            <a:solidFill>
              <a:srgbClr val="C68B59"/>
            </a:solidFill>
          </a:ln>
        </p:spPr>
      </p:pic>
      <p:pic>
        <p:nvPicPr>
          <p:cNvPr id="7" name="Picture 6" descr="lo_web_about.jpg"/>
          <p:cNvPicPr>
            <a:picLocks noChangeAspect="1"/>
          </p:cNvPicPr>
          <p:nvPr/>
        </p:nvPicPr>
        <p:blipFill>
          <a:blip r:embed="rId3"/>
          <a:stretch>
            <a:fillRect/>
          </a:stretch>
        </p:blipFill>
        <p:spPr>
          <a:xfrm>
            <a:off x="1475977" y="2148840"/>
            <a:ext cx="815373" cy="1005840"/>
          </a:xfrm>
          <a:prstGeom prst="rect">
            <a:avLst/>
          </a:prstGeom>
          <a:ln w="15875">
            <a:solidFill>
              <a:srgbClr val="C68B59"/>
            </a:solidFill>
          </a:ln>
        </p:spPr>
      </p:pic>
      <p:pic>
        <p:nvPicPr>
          <p:cNvPr id="8" name="Picture 7" descr="lo_web_summary.jpg"/>
          <p:cNvPicPr>
            <a:picLocks noChangeAspect="1"/>
          </p:cNvPicPr>
          <p:nvPr/>
        </p:nvPicPr>
        <p:blipFill>
          <a:blip r:embed="rId4"/>
          <a:stretch>
            <a:fillRect/>
          </a:stretch>
        </p:blipFill>
        <p:spPr>
          <a:xfrm>
            <a:off x="2397231" y="2148840"/>
            <a:ext cx="801665" cy="1005840"/>
          </a:xfrm>
          <a:prstGeom prst="rect">
            <a:avLst/>
          </a:prstGeom>
          <a:ln w="15875">
            <a:solidFill>
              <a:srgbClr val="C68B59"/>
            </a:solidFill>
          </a:ln>
        </p:spPr>
      </p:pic>
      <p:pic>
        <p:nvPicPr>
          <p:cNvPr id="9" name="Picture 8" descr="lo_web_detail.jpg"/>
          <p:cNvPicPr>
            <a:picLocks noChangeAspect="1"/>
          </p:cNvPicPr>
          <p:nvPr/>
        </p:nvPicPr>
        <p:blipFill>
          <a:blip r:embed="rId5"/>
          <a:stretch>
            <a:fillRect/>
          </a:stretch>
        </p:blipFill>
        <p:spPr>
          <a:xfrm>
            <a:off x="3291840" y="2276155"/>
            <a:ext cx="841248" cy="751208"/>
          </a:xfrm>
          <a:prstGeom prst="rect">
            <a:avLst/>
          </a:prstGeom>
          <a:ln w="15875">
            <a:solidFill>
              <a:srgbClr val="C68B59"/>
            </a:solidFill>
          </a:ln>
        </p:spPr>
      </p:pic>
      <p:pic>
        <p:nvPicPr>
          <p:cNvPr id="10" name="Picture 9" descr="lo_web_fees.jpg"/>
          <p:cNvPicPr>
            <a:picLocks noChangeAspect="1"/>
          </p:cNvPicPr>
          <p:nvPr/>
        </p:nvPicPr>
        <p:blipFill>
          <a:blip r:embed="rId6"/>
          <a:stretch>
            <a:fillRect/>
          </a:stretch>
        </p:blipFill>
        <p:spPr>
          <a:xfrm>
            <a:off x="4206240" y="2233764"/>
            <a:ext cx="841248" cy="835990"/>
          </a:xfrm>
          <a:prstGeom prst="rect">
            <a:avLst/>
          </a:prstGeom>
          <a:ln w="15875">
            <a:solidFill>
              <a:srgbClr val="C68B59"/>
            </a:solidFill>
          </a:ln>
        </p:spPr>
      </p:pic>
      <p:pic>
        <p:nvPicPr>
          <p:cNvPr id="11" name="Picture 10" descr="lo_web_contact.jpg"/>
          <p:cNvPicPr>
            <a:picLocks noChangeAspect="1"/>
          </p:cNvPicPr>
          <p:nvPr/>
        </p:nvPicPr>
        <p:blipFill>
          <a:blip r:embed="rId7"/>
          <a:stretch>
            <a:fillRect/>
          </a:stretch>
        </p:blipFill>
        <p:spPr>
          <a:xfrm>
            <a:off x="5120640" y="2264983"/>
            <a:ext cx="841248" cy="773553"/>
          </a:xfrm>
          <a:prstGeom prst="rect">
            <a:avLst/>
          </a:prstGeom>
          <a:ln w="15875">
            <a:solidFill>
              <a:srgbClr val="C68B59"/>
            </a:solidFill>
          </a:ln>
        </p:spPr>
      </p:pic>
      <p:pic>
        <p:nvPicPr>
          <p:cNvPr id="12" name="Picture 11" descr="lo_mob_home.jpg"/>
          <p:cNvPicPr>
            <a:picLocks noChangeAspect="1"/>
          </p:cNvPicPr>
          <p:nvPr/>
        </p:nvPicPr>
        <p:blipFill>
          <a:blip r:embed="rId8"/>
          <a:stretch>
            <a:fillRect/>
          </a:stretch>
        </p:blipFill>
        <p:spPr>
          <a:xfrm>
            <a:off x="610112" y="3291840"/>
            <a:ext cx="718302" cy="1554480"/>
          </a:xfrm>
          <a:prstGeom prst="rect">
            <a:avLst/>
          </a:prstGeom>
          <a:ln w="15875">
            <a:solidFill>
              <a:srgbClr val="C68B59"/>
            </a:solidFill>
          </a:ln>
        </p:spPr>
      </p:pic>
      <p:pic>
        <p:nvPicPr>
          <p:cNvPr id="13" name="Picture 12" descr="lo_mob_about.jpg"/>
          <p:cNvPicPr>
            <a:picLocks noChangeAspect="1"/>
          </p:cNvPicPr>
          <p:nvPr/>
        </p:nvPicPr>
        <p:blipFill>
          <a:blip r:embed="rId9"/>
          <a:stretch>
            <a:fillRect/>
          </a:stretch>
        </p:blipFill>
        <p:spPr>
          <a:xfrm>
            <a:off x="1524512" y="3291840"/>
            <a:ext cx="718302" cy="1554480"/>
          </a:xfrm>
          <a:prstGeom prst="rect">
            <a:avLst/>
          </a:prstGeom>
          <a:ln w="15875">
            <a:solidFill>
              <a:srgbClr val="C68B59"/>
            </a:solidFill>
          </a:ln>
        </p:spPr>
      </p:pic>
      <p:pic>
        <p:nvPicPr>
          <p:cNvPr id="14" name="Picture 13" descr="lo_mob_summary.jpg"/>
          <p:cNvPicPr>
            <a:picLocks noChangeAspect="1"/>
          </p:cNvPicPr>
          <p:nvPr/>
        </p:nvPicPr>
        <p:blipFill>
          <a:blip r:embed="rId10"/>
          <a:stretch>
            <a:fillRect/>
          </a:stretch>
        </p:blipFill>
        <p:spPr>
          <a:xfrm>
            <a:off x="2438912" y="3291840"/>
            <a:ext cx="718302" cy="1554480"/>
          </a:xfrm>
          <a:prstGeom prst="rect">
            <a:avLst/>
          </a:prstGeom>
          <a:ln w="15875">
            <a:solidFill>
              <a:srgbClr val="C68B59"/>
            </a:solidFill>
          </a:ln>
        </p:spPr>
      </p:pic>
      <p:pic>
        <p:nvPicPr>
          <p:cNvPr id="15" name="Picture 14" descr="lo_mob_detail.jpg"/>
          <p:cNvPicPr>
            <a:picLocks noChangeAspect="1"/>
          </p:cNvPicPr>
          <p:nvPr/>
        </p:nvPicPr>
        <p:blipFill>
          <a:blip r:embed="rId11"/>
          <a:stretch>
            <a:fillRect/>
          </a:stretch>
        </p:blipFill>
        <p:spPr>
          <a:xfrm>
            <a:off x="3353312" y="3291840"/>
            <a:ext cx="718302" cy="1554480"/>
          </a:xfrm>
          <a:prstGeom prst="rect">
            <a:avLst/>
          </a:prstGeom>
          <a:ln w="15875">
            <a:solidFill>
              <a:srgbClr val="C68B59"/>
            </a:solidFill>
          </a:ln>
        </p:spPr>
      </p:pic>
      <p:pic>
        <p:nvPicPr>
          <p:cNvPr id="16" name="Picture 15" descr="lo_mob_fees.jpg"/>
          <p:cNvPicPr>
            <a:picLocks noChangeAspect="1"/>
          </p:cNvPicPr>
          <p:nvPr/>
        </p:nvPicPr>
        <p:blipFill>
          <a:blip r:embed="rId12"/>
          <a:stretch>
            <a:fillRect/>
          </a:stretch>
        </p:blipFill>
        <p:spPr>
          <a:xfrm>
            <a:off x="4267712" y="3291840"/>
            <a:ext cx="718302" cy="1554480"/>
          </a:xfrm>
          <a:prstGeom prst="rect">
            <a:avLst/>
          </a:prstGeom>
          <a:ln w="15875">
            <a:solidFill>
              <a:srgbClr val="C68B59"/>
            </a:solidFill>
          </a:ln>
        </p:spPr>
      </p:pic>
      <p:pic>
        <p:nvPicPr>
          <p:cNvPr id="17" name="Picture 16" descr="lo_mob_contact.jpg"/>
          <p:cNvPicPr>
            <a:picLocks noChangeAspect="1"/>
          </p:cNvPicPr>
          <p:nvPr/>
        </p:nvPicPr>
        <p:blipFill>
          <a:blip r:embed="rId13"/>
          <a:stretch>
            <a:fillRect/>
          </a:stretch>
        </p:blipFill>
        <p:spPr>
          <a:xfrm>
            <a:off x="5182112" y="3291840"/>
            <a:ext cx="718302" cy="1554480"/>
          </a:xfrm>
          <a:prstGeom prst="rect">
            <a:avLst/>
          </a:prstGeom>
          <a:ln w="15875">
            <a:solidFill>
              <a:srgbClr val="C68B59"/>
            </a:solidFill>
          </a:ln>
        </p:spPr>
      </p:pic>
      <p:sp>
        <p:nvSpPr>
          <p:cNvPr id="18" name="Rounded Rectangle 17"/>
          <p:cNvSpPr/>
          <p:nvPr/>
        </p:nvSpPr>
        <p:spPr>
          <a:xfrm>
            <a:off x="6400800" y="1691640"/>
            <a:ext cx="2926080" cy="365760"/>
          </a:xfrm>
          <a:prstGeom prst="roundRect">
            <a:avLst>
              <a:gd name="adj" fmla="val 50000"/>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libri"/>
              </a:rPr>
              <a:t>High-fidelity (6 + 7)</a:t>
            </a:r>
          </a:p>
        </p:txBody>
      </p:sp>
      <p:pic>
        <p:nvPicPr>
          <p:cNvPr id="19" name="Picture 18" descr="hi_web_home.jpg"/>
          <p:cNvPicPr>
            <a:picLocks noChangeAspect="1"/>
          </p:cNvPicPr>
          <p:nvPr/>
        </p:nvPicPr>
        <p:blipFill>
          <a:blip r:embed="rId14"/>
          <a:stretch>
            <a:fillRect/>
          </a:stretch>
        </p:blipFill>
        <p:spPr>
          <a:xfrm>
            <a:off x="6400800" y="2204161"/>
            <a:ext cx="804672" cy="895197"/>
          </a:xfrm>
          <a:prstGeom prst="rect">
            <a:avLst/>
          </a:prstGeom>
          <a:ln w="15875">
            <a:solidFill>
              <a:srgbClr val="C68B59"/>
            </a:solidFill>
          </a:ln>
        </p:spPr>
      </p:pic>
      <p:pic>
        <p:nvPicPr>
          <p:cNvPr id="20" name="Picture 19" descr="hi_web_about.jpg"/>
          <p:cNvPicPr>
            <a:picLocks noChangeAspect="1"/>
          </p:cNvPicPr>
          <p:nvPr/>
        </p:nvPicPr>
        <p:blipFill>
          <a:blip r:embed="rId15"/>
          <a:stretch>
            <a:fillRect/>
          </a:stretch>
        </p:blipFill>
        <p:spPr>
          <a:xfrm>
            <a:off x="7269480" y="2151354"/>
            <a:ext cx="804672" cy="1000810"/>
          </a:xfrm>
          <a:prstGeom prst="rect">
            <a:avLst/>
          </a:prstGeom>
          <a:ln w="15875">
            <a:solidFill>
              <a:srgbClr val="C68B59"/>
            </a:solidFill>
          </a:ln>
        </p:spPr>
      </p:pic>
      <p:pic>
        <p:nvPicPr>
          <p:cNvPr id="21" name="Picture 20" descr="hi_web_summary.jpg"/>
          <p:cNvPicPr>
            <a:picLocks noChangeAspect="1"/>
          </p:cNvPicPr>
          <p:nvPr/>
        </p:nvPicPr>
        <p:blipFill>
          <a:blip r:embed="rId16"/>
          <a:stretch>
            <a:fillRect/>
          </a:stretch>
        </p:blipFill>
        <p:spPr>
          <a:xfrm>
            <a:off x="8138160" y="2197560"/>
            <a:ext cx="804672" cy="908399"/>
          </a:xfrm>
          <a:prstGeom prst="rect">
            <a:avLst/>
          </a:prstGeom>
          <a:ln w="15875">
            <a:solidFill>
              <a:srgbClr val="C68B59"/>
            </a:solidFill>
          </a:ln>
        </p:spPr>
      </p:pic>
      <p:pic>
        <p:nvPicPr>
          <p:cNvPr id="22" name="Picture 21" descr="hi_web_detail.jpg"/>
          <p:cNvPicPr>
            <a:picLocks noChangeAspect="1"/>
          </p:cNvPicPr>
          <p:nvPr/>
        </p:nvPicPr>
        <p:blipFill>
          <a:blip r:embed="rId17"/>
          <a:stretch>
            <a:fillRect/>
          </a:stretch>
        </p:blipFill>
        <p:spPr>
          <a:xfrm>
            <a:off x="9006840" y="2342778"/>
            <a:ext cx="804672" cy="617962"/>
          </a:xfrm>
          <a:prstGeom prst="rect">
            <a:avLst/>
          </a:prstGeom>
          <a:ln w="15875">
            <a:solidFill>
              <a:srgbClr val="C68B59"/>
            </a:solidFill>
          </a:ln>
        </p:spPr>
      </p:pic>
      <p:pic>
        <p:nvPicPr>
          <p:cNvPr id="23" name="Picture 22" descr="hi_web_fees.jpg"/>
          <p:cNvPicPr>
            <a:picLocks noChangeAspect="1"/>
          </p:cNvPicPr>
          <p:nvPr/>
        </p:nvPicPr>
        <p:blipFill>
          <a:blip r:embed="rId18"/>
          <a:stretch>
            <a:fillRect/>
          </a:stretch>
        </p:blipFill>
        <p:spPr>
          <a:xfrm>
            <a:off x="9875520" y="2182472"/>
            <a:ext cx="804672" cy="938574"/>
          </a:xfrm>
          <a:prstGeom prst="rect">
            <a:avLst/>
          </a:prstGeom>
          <a:ln w="15875">
            <a:solidFill>
              <a:srgbClr val="C68B59"/>
            </a:solidFill>
          </a:ln>
        </p:spPr>
      </p:pic>
      <p:pic>
        <p:nvPicPr>
          <p:cNvPr id="24" name="Picture 23" descr="hi_web_contact.jpg"/>
          <p:cNvPicPr>
            <a:picLocks noChangeAspect="1"/>
          </p:cNvPicPr>
          <p:nvPr/>
        </p:nvPicPr>
        <p:blipFill>
          <a:blip r:embed="rId19"/>
          <a:stretch>
            <a:fillRect/>
          </a:stretch>
        </p:blipFill>
        <p:spPr>
          <a:xfrm>
            <a:off x="10744200" y="2303173"/>
            <a:ext cx="804672" cy="697172"/>
          </a:xfrm>
          <a:prstGeom prst="rect">
            <a:avLst/>
          </a:prstGeom>
          <a:ln w="15875">
            <a:solidFill>
              <a:srgbClr val="C68B59"/>
            </a:solidFill>
          </a:ln>
        </p:spPr>
      </p:pic>
      <p:pic>
        <p:nvPicPr>
          <p:cNvPr id="25" name="Picture 24" descr="hi_mob_splash.jpg"/>
          <p:cNvPicPr>
            <a:picLocks noChangeAspect="1"/>
          </p:cNvPicPr>
          <p:nvPr/>
        </p:nvPicPr>
        <p:blipFill>
          <a:blip r:embed="rId20"/>
          <a:stretch>
            <a:fillRect/>
          </a:stretch>
        </p:blipFill>
        <p:spPr>
          <a:xfrm>
            <a:off x="6400800" y="3317114"/>
            <a:ext cx="694944" cy="1503930"/>
          </a:xfrm>
          <a:prstGeom prst="rect">
            <a:avLst/>
          </a:prstGeom>
          <a:ln w="15875">
            <a:solidFill>
              <a:srgbClr val="C68B59"/>
            </a:solidFill>
          </a:ln>
        </p:spPr>
      </p:pic>
      <p:pic>
        <p:nvPicPr>
          <p:cNvPr id="26" name="Picture 25" descr="hi_mob_home.jpg"/>
          <p:cNvPicPr>
            <a:picLocks noChangeAspect="1"/>
          </p:cNvPicPr>
          <p:nvPr/>
        </p:nvPicPr>
        <p:blipFill>
          <a:blip r:embed="rId21"/>
          <a:stretch>
            <a:fillRect/>
          </a:stretch>
        </p:blipFill>
        <p:spPr>
          <a:xfrm>
            <a:off x="7150608" y="3317114"/>
            <a:ext cx="694944" cy="1503930"/>
          </a:xfrm>
          <a:prstGeom prst="rect">
            <a:avLst/>
          </a:prstGeom>
          <a:ln w="15875">
            <a:solidFill>
              <a:srgbClr val="C68B59"/>
            </a:solidFill>
          </a:ln>
        </p:spPr>
      </p:pic>
      <p:pic>
        <p:nvPicPr>
          <p:cNvPr id="27" name="Picture 26" descr="hi_mob_about.jpg"/>
          <p:cNvPicPr>
            <a:picLocks noChangeAspect="1"/>
          </p:cNvPicPr>
          <p:nvPr/>
        </p:nvPicPr>
        <p:blipFill>
          <a:blip r:embed="rId22"/>
          <a:stretch>
            <a:fillRect/>
          </a:stretch>
        </p:blipFill>
        <p:spPr>
          <a:xfrm>
            <a:off x="7900416" y="3315333"/>
            <a:ext cx="694944" cy="1507493"/>
          </a:xfrm>
          <a:prstGeom prst="rect">
            <a:avLst/>
          </a:prstGeom>
          <a:ln w="15875">
            <a:solidFill>
              <a:srgbClr val="C68B59"/>
            </a:solidFill>
          </a:ln>
        </p:spPr>
      </p:pic>
      <p:pic>
        <p:nvPicPr>
          <p:cNvPr id="28" name="Picture 27" descr="hi_mob_summary.jpg"/>
          <p:cNvPicPr>
            <a:picLocks noChangeAspect="1"/>
          </p:cNvPicPr>
          <p:nvPr/>
        </p:nvPicPr>
        <p:blipFill>
          <a:blip r:embed="rId23"/>
          <a:stretch>
            <a:fillRect/>
          </a:stretch>
        </p:blipFill>
        <p:spPr>
          <a:xfrm>
            <a:off x="8650224" y="3319787"/>
            <a:ext cx="694944" cy="1498584"/>
          </a:xfrm>
          <a:prstGeom prst="rect">
            <a:avLst/>
          </a:prstGeom>
          <a:ln w="15875">
            <a:solidFill>
              <a:srgbClr val="C68B59"/>
            </a:solidFill>
          </a:ln>
        </p:spPr>
      </p:pic>
      <p:pic>
        <p:nvPicPr>
          <p:cNvPr id="29" name="Picture 28" descr="hi_mob_detail.jpg"/>
          <p:cNvPicPr>
            <a:picLocks noChangeAspect="1"/>
          </p:cNvPicPr>
          <p:nvPr/>
        </p:nvPicPr>
        <p:blipFill>
          <a:blip r:embed="rId24"/>
          <a:stretch>
            <a:fillRect/>
          </a:stretch>
        </p:blipFill>
        <p:spPr>
          <a:xfrm>
            <a:off x="9400032" y="3324242"/>
            <a:ext cx="694944" cy="1489674"/>
          </a:xfrm>
          <a:prstGeom prst="rect">
            <a:avLst/>
          </a:prstGeom>
          <a:ln w="15875">
            <a:solidFill>
              <a:srgbClr val="C68B59"/>
            </a:solidFill>
          </a:ln>
        </p:spPr>
      </p:pic>
      <p:pic>
        <p:nvPicPr>
          <p:cNvPr id="30" name="Picture 29" descr="hi_mob_fees.jpg"/>
          <p:cNvPicPr>
            <a:picLocks noChangeAspect="1"/>
          </p:cNvPicPr>
          <p:nvPr/>
        </p:nvPicPr>
        <p:blipFill>
          <a:blip r:embed="rId25"/>
          <a:stretch>
            <a:fillRect/>
          </a:stretch>
        </p:blipFill>
        <p:spPr>
          <a:xfrm>
            <a:off x="10149840" y="3296623"/>
            <a:ext cx="694944" cy="1544913"/>
          </a:xfrm>
          <a:prstGeom prst="rect">
            <a:avLst/>
          </a:prstGeom>
          <a:ln w="15875">
            <a:solidFill>
              <a:srgbClr val="C68B59"/>
            </a:solidFill>
          </a:ln>
        </p:spPr>
      </p:pic>
      <p:pic>
        <p:nvPicPr>
          <p:cNvPr id="31" name="Picture 30" descr="hi_mob_contact.jpg"/>
          <p:cNvPicPr>
            <a:picLocks noChangeAspect="1"/>
          </p:cNvPicPr>
          <p:nvPr/>
        </p:nvPicPr>
        <p:blipFill>
          <a:blip r:embed="rId26"/>
          <a:stretch>
            <a:fillRect/>
          </a:stretch>
        </p:blipFill>
        <p:spPr>
          <a:xfrm>
            <a:off x="10899648" y="3293950"/>
            <a:ext cx="694944" cy="1550259"/>
          </a:xfrm>
          <a:prstGeom prst="rect">
            <a:avLst/>
          </a:prstGeom>
          <a:ln w="15875">
            <a:solidFill>
              <a:srgbClr val="C68B59"/>
            </a:solidFill>
          </a:ln>
        </p:spPr>
      </p:pic>
      <p:sp>
        <p:nvSpPr>
          <p:cNvPr id="32" name="TextBox 31"/>
          <p:cNvSpPr txBox="1"/>
          <p:nvPr/>
        </p:nvSpPr>
        <p:spPr>
          <a:xfrm>
            <a:off x="548640" y="5074920"/>
            <a:ext cx="5486400" cy="128016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Low-fi: grey boxes, layout and flow only. No colour, no photos.</a:t>
            </a:r>
          </a:p>
        </p:txBody>
      </p:sp>
      <p:sp>
        <p:nvSpPr>
          <p:cNvPr id="33" name="TextBox 32"/>
          <p:cNvSpPr txBox="1"/>
          <p:nvPr/>
        </p:nvSpPr>
        <p:spPr>
          <a:xfrm>
            <a:off x="6400800" y="5074920"/>
            <a:ext cx="5303520" cy="128016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High-fi: real palette, fonts, photos and content.</a:t>
            </a:r>
          </a:p>
        </p:txBody>
      </p:sp>
      <p:sp>
        <p:nvSpPr>
          <p:cNvPr id="34" name="TextBox 33"/>
          <p:cNvSpPr txBox="1"/>
          <p:nvPr/>
        </p:nvSpPr>
        <p:spPr>
          <a:xfrm>
            <a:off x="548640" y="5852160"/>
            <a:ext cx="10972800" cy="548640"/>
          </a:xfrm>
          <a:prstGeom prst="rect">
            <a:avLst/>
          </a:prstGeom>
          <a:noFill/>
        </p:spPr>
        <p:txBody>
          <a:bodyPr wrap="square" anchor="t" lIns="45720" rIns="45720">
            <a:spAutoFit/>
          </a:bodyPr>
          <a:lstStyle/>
          <a:p>
            <a:pPr algn="l">
              <a:spcAft>
                <a:spcPts val="600"/>
              </a:spcAft>
            </a:pPr>
            <a:r>
              <a:rPr sz="1300" b="0">
                <a:solidFill>
                  <a:srgbClr val="5A3E2B"/>
                </a:solidFill>
                <a:latin typeface="Calibri"/>
              </a:rPr>
              <a:t>Top row: website screens. Bottom row: mobile screens.</a:t>
            </a:r>
          </a:p>
        </p:txBody>
      </p:sp>
      <p:sp>
        <p:nvSpPr>
          <p:cNvPr id="35" name="TextBox 34"/>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Mohamed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36"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1000"/>
                                        <p:tgtEl>
                                          <p:spTgt spid="18"/>
                                        </p:tgtEl>
                                      </p:cBhvr>
                                    </p:animEffect>
                                  </p:childTnLst>
                                </p:cTn>
                              </p:par>
                              <p:par>
                                <p:cTn id="24" presetID="10" presetClass="entr" presetSubtype="0" fill="hold" nodeType="withEffect">
                                  <p:stCondLst>
                                    <p:cond delay="75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childTnLst>
                                </p:cTn>
                              </p:par>
                              <p:par>
                                <p:cTn id="28" presetID="10" presetClass="entr" presetSubtype="0" fill="hold" nodeType="withEffect">
                                  <p:stCondLst>
                                    <p:cond delay="90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1000"/>
                                        <p:tgtEl>
                                          <p:spTgt spid="7"/>
                                        </p:tgtEl>
                                      </p:cBhvr>
                                    </p:animEffect>
                                  </p:childTnLst>
                                </p:cTn>
                              </p:par>
                              <p:par>
                                <p:cTn id="32" presetID="10" presetClass="entr" presetSubtype="0" fill="hold" nodeType="withEffect">
                                  <p:stCondLst>
                                    <p:cond delay="105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childTnLst>
                                </p:cTn>
                              </p:par>
                              <p:par>
                                <p:cTn id="36" presetID="10" presetClass="entr" presetSubtype="0" fill="hold" nodeType="withEffect">
                                  <p:stCondLst>
                                    <p:cond delay="120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1000"/>
                                        <p:tgtEl>
                                          <p:spTgt spid="10"/>
                                        </p:tgtEl>
                                      </p:cBhvr>
                                    </p:animEffect>
                                  </p:childTnLst>
                                </p:cTn>
                              </p:par>
                              <p:par>
                                <p:cTn id="40" presetID="10" presetClass="entr" presetSubtype="0" fill="hold" nodeType="withEffect">
                                  <p:stCondLst>
                                    <p:cond delay="135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1000"/>
                                        <p:tgtEl>
                                          <p:spTgt spid="19"/>
                                        </p:tgtEl>
                                      </p:cBhvr>
                                    </p:animEffect>
                                  </p:childTnLst>
                                </p:cTn>
                              </p:par>
                              <p:par>
                                <p:cTn id="44" presetID="10" presetClass="entr" presetSubtype="0" fill="hold" nodeType="withEffect">
                                  <p:stCondLst>
                                    <p:cond delay="150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1000"/>
                                        <p:tgtEl>
                                          <p:spTgt spid="20"/>
                                        </p:tgtEl>
                                      </p:cBhvr>
                                    </p:animEffect>
                                  </p:childTnLst>
                                </p:cTn>
                              </p:par>
                              <p:par>
                                <p:cTn id="48" presetID="10" presetClass="entr" presetSubtype="0" fill="hold" nodeType="withEffect">
                                  <p:stCondLst>
                                    <p:cond delay="165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1000"/>
                                        <p:tgtEl>
                                          <p:spTgt spid="21"/>
                                        </p:tgtEl>
                                      </p:cBhvr>
                                    </p:animEffect>
                                  </p:childTnLst>
                                </p:cTn>
                              </p:par>
                              <p:par>
                                <p:cTn id="52" presetID="10" presetClass="entr" presetSubtype="0" fill="hold" nodeType="withEffect">
                                  <p:stCondLst>
                                    <p:cond delay="180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1000"/>
                                        <p:tgtEl>
                                          <p:spTgt spid="23"/>
                                        </p:tgtEl>
                                      </p:cBhvr>
                                    </p:animEffect>
                                  </p:childTnLst>
                                </p:cTn>
                              </p:par>
                              <p:par>
                                <p:cTn id="56" presetID="10" presetClass="entr" presetSubtype="0" fill="hold" nodeType="withEffect">
                                  <p:stCondLst>
                                    <p:cond delay="1800"/>
                                  </p:stCondLst>
                                  <p:childTnLst>
                                    <p:set>
                                      <p:cBhvr>
                                        <p:cTn id="57" dur="1" fill="hold">
                                          <p:stCondLst>
                                            <p:cond delay="0"/>
                                          </p:stCondLst>
                                        </p:cTn>
                                        <p:tgtEl>
                                          <p:spTgt spid="9"/>
                                        </p:tgtEl>
                                        <p:attrNameLst>
                                          <p:attrName>style.visibility</p:attrName>
                                        </p:attrNameLst>
                                      </p:cBhvr>
                                      <p:to>
                                        <p:strVal val="visible"/>
                                      </p:to>
                                    </p:set>
                                    <p:animEffect transition="in" filter="fade">
                                      <p:cBhvr>
                                        <p:cTn id="58" dur="1000"/>
                                        <p:tgtEl>
                                          <p:spTgt spid="9"/>
                                        </p:tgtEl>
                                      </p:cBhvr>
                                    </p:animEffect>
                                  </p:childTnLst>
                                </p:cTn>
                              </p:par>
                              <p:par>
                                <p:cTn id="60" presetID="10" presetClass="entr" presetSubtype="0" fill="hold" nodeType="withEffect">
                                  <p:stCondLst>
                                    <p:cond delay="1800"/>
                                  </p:stCondLst>
                                  <p:childTnLst>
                                    <p:set>
                                      <p:cBhvr>
                                        <p:cTn id="61" dur="1" fill="hold">
                                          <p:stCondLst>
                                            <p:cond delay="0"/>
                                          </p:stCondLst>
                                        </p:cTn>
                                        <p:tgtEl>
                                          <p:spTgt spid="11"/>
                                        </p:tgtEl>
                                        <p:attrNameLst>
                                          <p:attrName>style.visibility</p:attrName>
                                        </p:attrNameLst>
                                      </p:cBhvr>
                                      <p:to>
                                        <p:strVal val="visible"/>
                                      </p:to>
                                    </p:set>
                                    <p:animEffect transition="in" filter="fade">
                                      <p:cBhvr>
                                        <p:cTn id="62" dur="1000"/>
                                        <p:tgtEl>
                                          <p:spTgt spid="11"/>
                                        </p:tgtEl>
                                      </p:cBhvr>
                                    </p:animEffect>
                                  </p:childTnLst>
                                </p:cTn>
                              </p:par>
                              <p:par>
                                <p:cTn id="64" presetID="10" presetClass="entr" presetSubtype="0" fill="hold" nodeType="withEffect">
                                  <p:stCondLst>
                                    <p:cond delay="180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1000"/>
                                        <p:tgtEl>
                                          <p:spTgt spid="24"/>
                                        </p:tgtEl>
                                      </p:cBhvr>
                                    </p:animEffect>
                                  </p:childTnLst>
                                </p:cTn>
                              </p:par>
                              <p:par>
                                <p:cTn id="68" presetID="10" presetClass="entr" presetSubtype="0" fill="hold" nodeType="withEffect">
                                  <p:stCondLst>
                                    <p:cond delay="180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1000"/>
                                        <p:tgtEl>
                                          <p:spTgt spid="22"/>
                                        </p:tgtEl>
                                      </p:cBhvr>
                                    </p:animEffect>
                                  </p:childTnLst>
                                </p:cTn>
                              </p:par>
                              <p:par>
                                <p:cTn id="72" presetID="10" presetClass="entr" presetSubtype="0" fill="hold" nodeType="withEffect">
                                  <p:stCondLst>
                                    <p:cond delay="1800"/>
                                  </p:stCondLst>
                                  <p:childTnLst>
                                    <p:set>
                                      <p:cBhvr>
                                        <p:cTn id="73" dur="1" fill="hold">
                                          <p:stCondLst>
                                            <p:cond delay="0"/>
                                          </p:stCondLst>
                                        </p:cTn>
                                        <p:tgtEl>
                                          <p:spTgt spid="12"/>
                                        </p:tgtEl>
                                        <p:attrNameLst>
                                          <p:attrName>style.visibility</p:attrName>
                                        </p:attrNameLst>
                                      </p:cBhvr>
                                      <p:to>
                                        <p:strVal val="visible"/>
                                      </p:to>
                                    </p:set>
                                    <p:animEffect transition="in" filter="fade">
                                      <p:cBhvr>
                                        <p:cTn id="74" dur="1000"/>
                                        <p:tgtEl>
                                          <p:spTgt spid="12"/>
                                        </p:tgtEl>
                                      </p:cBhvr>
                                    </p:animEffect>
                                  </p:childTnLst>
                                </p:cTn>
                              </p:par>
                              <p:par>
                                <p:cTn id="76" presetID="10" presetClass="entr" presetSubtype="0" fill="hold" nodeType="withEffect">
                                  <p:stCondLst>
                                    <p:cond delay="1800"/>
                                  </p:stCondLst>
                                  <p:childTnLst>
                                    <p:set>
                                      <p:cBhvr>
                                        <p:cTn id="77" dur="1" fill="hold">
                                          <p:stCondLst>
                                            <p:cond delay="0"/>
                                          </p:stCondLst>
                                        </p:cTn>
                                        <p:tgtEl>
                                          <p:spTgt spid="13"/>
                                        </p:tgtEl>
                                        <p:attrNameLst>
                                          <p:attrName>style.visibility</p:attrName>
                                        </p:attrNameLst>
                                      </p:cBhvr>
                                      <p:to>
                                        <p:strVal val="visible"/>
                                      </p:to>
                                    </p:set>
                                    <p:animEffect transition="in" filter="fade">
                                      <p:cBhvr>
                                        <p:cTn id="78" dur="1000"/>
                                        <p:tgtEl>
                                          <p:spTgt spid="13"/>
                                        </p:tgtEl>
                                      </p:cBhvr>
                                    </p:animEffect>
                                  </p:childTnLst>
                                </p:cTn>
                              </p:par>
                              <p:par>
                                <p:cTn id="80" presetID="10" presetClass="entr" presetSubtype="0" fill="hold" nodeType="withEffect">
                                  <p:stCondLst>
                                    <p:cond delay="1800"/>
                                  </p:stCondLst>
                                  <p:childTnLst>
                                    <p:set>
                                      <p:cBhvr>
                                        <p:cTn id="81" dur="1" fill="hold">
                                          <p:stCondLst>
                                            <p:cond delay="0"/>
                                          </p:stCondLst>
                                        </p:cTn>
                                        <p:tgtEl>
                                          <p:spTgt spid="14"/>
                                        </p:tgtEl>
                                        <p:attrNameLst>
                                          <p:attrName>style.visibility</p:attrName>
                                        </p:attrNameLst>
                                      </p:cBhvr>
                                      <p:to>
                                        <p:strVal val="visible"/>
                                      </p:to>
                                    </p:set>
                                    <p:animEffect transition="in" filter="fade">
                                      <p:cBhvr>
                                        <p:cTn id="82" dur="1000"/>
                                        <p:tgtEl>
                                          <p:spTgt spid="14"/>
                                        </p:tgtEl>
                                      </p:cBhvr>
                                    </p:animEffect>
                                  </p:childTnLst>
                                </p:cTn>
                              </p:par>
                              <p:par>
                                <p:cTn id="84" presetID="10" presetClass="entr" presetSubtype="0" fill="hold" nodeType="withEffect">
                                  <p:stCondLst>
                                    <p:cond delay="1800"/>
                                  </p:stCondLst>
                                  <p:childTnLst>
                                    <p:set>
                                      <p:cBhvr>
                                        <p:cTn id="85" dur="1" fill="hold">
                                          <p:stCondLst>
                                            <p:cond delay="0"/>
                                          </p:stCondLst>
                                        </p:cTn>
                                        <p:tgtEl>
                                          <p:spTgt spid="15"/>
                                        </p:tgtEl>
                                        <p:attrNameLst>
                                          <p:attrName>style.visibility</p:attrName>
                                        </p:attrNameLst>
                                      </p:cBhvr>
                                      <p:to>
                                        <p:strVal val="visible"/>
                                      </p:to>
                                    </p:set>
                                    <p:animEffect transition="in" filter="fade">
                                      <p:cBhvr>
                                        <p:cTn id="86" dur="1000"/>
                                        <p:tgtEl>
                                          <p:spTgt spid="15"/>
                                        </p:tgtEl>
                                      </p:cBhvr>
                                    </p:animEffect>
                                  </p:childTnLst>
                                </p:cTn>
                              </p:par>
                              <p:par>
                                <p:cTn id="88" presetID="10" presetClass="entr" presetSubtype="0" fill="hold" nodeType="withEffect">
                                  <p:stCondLst>
                                    <p:cond delay="1800"/>
                                  </p:stCondLst>
                                  <p:childTnLst>
                                    <p:set>
                                      <p:cBhvr>
                                        <p:cTn id="89" dur="1" fill="hold">
                                          <p:stCondLst>
                                            <p:cond delay="0"/>
                                          </p:stCondLst>
                                        </p:cTn>
                                        <p:tgtEl>
                                          <p:spTgt spid="16"/>
                                        </p:tgtEl>
                                        <p:attrNameLst>
                                          <p:attrName>style.visibility</p:attrName>
                                        </p:attrNameLst>
                                      </p:cBhvr>
                                      <p:to>
                                        <p:strVal val="visible"/>
                                      </p:to>
                                    </p:set>
                                    <p:animEffect transition="in" filter="fade">
                                      <p:cBhvr>
                                        <p:cTn id="90" dur="1000"/>
                                        <p:tgtEl>
                                          <p:spTgt spid="16"/>
                                        </p:tgtEl>
                                      </p:cBhvr>
                                    </p:animEffect>
                                  </p:childTnLst>
                                </p:cTn>
                              </p:par>
                              <p:par>
                                <p:cTn id="92" presetID="10" presetClass="entr" presetSubtype="0" fill="hold" nodeType="withEffect">
                                  <p:stCondLst>
                                    <p:cond delay="1800"/>
                                  </p:stCondLst>
                                  <p:childTnLst>
                                    <p:set>
                                      <p:cBhvr>
                                        <p:cTn id="93" dur="1" fill="hold">
                                          <p:stCondLst>
                                            <p:cond delay="0"/>
                                          </p:stCondLst>
                                        </p:cTn>
                                        <p:tgtEl>
                                          <p:spTgt spid="17"/>
                                        </p:tgtEl>
                                        <p:attrNameLst>
                                          <p:attrName>style.visibility</p:attrName>
                                        </p:attrNameLst>
                                      </p:cBhvr>
                                      <p:to>
                                        <p:strVal val="visible"/>
                                      </p:to>
                                    </p:set>
                                    <p:animEffect transition="in" filter="fade">
                                      <p:cBhvr>
                                        <p:cTn id="94" dur="1000"/>
                                        <p:tgtEl>
                                          <p:spTgt spid="17"/>
                                        </p:tgtEl>
                                      </p:cBhvr>
                                    </p:animEffect>
                                  </p:childTnLst>
                                </p:cTn>
                              </p:par>
                              <p:par>
                                <p:cTn id="96" presetID="10" presetClass="entr" presetSubtype="0" fill="hold" nodeType="withEffect">
                                  <p:stCondLst>
                                    <p:cond delay="1800"/>
                                  </p:stCondLst>
                                  <p:childTnLst>
                                    <p:set>
                                      <p:cBhvr>
                                        <p:cTn id="97" dur="1" fill="hold">
                                          <p:stCondLst>
                                            <p:cond delay="0"/>
                                          </p:stCondLst>
                                        </p:cTn>
                                        <p:tgtEl>
                                          <p:spTgt spid="25"/>
                                        </p:tgtEl>
                                        <p:attrNameLst>
                                          <p:attrName>style.visibility</p:attrName>
                                        </p:attrNameLst>
                                      </p:cBhvr>
                                      <p:to>
                                        <p:strVal val="visible"/>
                                      </p:to>
                                    </p:set>
                                    <p:animEffect transition="in" filter="fade">
                                      <p:cBhvr>
                                        <p:cTn id="98" dur="1000"/>
                                        <p:tgtEl>
                                          <p:spTgt spid="25"/>
                                        </p:tgtEl>
                                      </p:cBhvr>
                                    </p:animEffect>
                                  </p:childTnLst>
                                </p:cTn>
                              </p:par>
                              <p:par>
                                <p:cTn id="100" presetID="10" presetClass="entr" presetSubtype="0" fill="hold" nodeType="withEffect">
                                  <p:stCondLst>
                                    <p:cond delay="1800"/>
                                  </p:stCondLst>
                                  <p:childTnLst>
                                    <p:set>
                                      <p:cBhvr>
                                        <p:cTn id="101" dur="1" fill="hold">
                                          <p:stCondLst>
                                            <p:cond delay="0"/>
                                          </p:stCondLst>
                                        </p:cTn>
                                        <p:tgtEl>
                                          <p:spTgt spid="26"/>
                                        </p:tgtEl>
                                        <p:attrNameLst>
                                          <p:attrName>style.visibility</p:attrName>
                                        </p:attrNameLst>
                                      </p:cBhvr>
                                      <p:to>
                                        <p:strVal val="visible"/>
                                      </p:to>
                                    </p:set>
                                    <p:animEffect transition="in" filter="fade">
                                      <p:cBhvr>
                                        <p:cTn id="102" dur="1000"/>
                                        <p:tgtEl>
                                          <p:spTgt spid="26"/>
                                        </p:tgtEl>
                                      </p:cBhvr>
                                    </p:animEffect>
                                  </p:childTnLst>
                                </p:cTn>
                              </p:par>
                              <p:par>
                                <p:cTn id="104" presetID="10" presetClass="entr" presetSubtype="0" fill="hold" nodeType="withEffect">
                                  <p:stCondLst>
                                    <p:cond delay="1800"/>
                                  </p:stCondLst>
                                  <p:childTnLst>
                                    <p:set>
                                      <p:cBhvr>
                                        <p:cTn id="105" dur="1" fill="hold">
                                          <p:stCondLst>
                                            <p:cond delay="0"/>
                                          </p:stCondLst>
                                        </p:cTn>
                                        <p:tgtEl>
                                          <p:spTgt spid="27"/>
                                        </p:tgtEl>
                                        <p:attrNameLst>
                                          <p:attrName>style.visibility</p:attrName>
                                        </p:attrNameLst>
                                      </p:cBhvr>
                                      <p:to>
                                        <p:strVal val="visible"/>
                                      </p:to>
                                    </p:set>
                                    <p:animEffect transition="in" filter="fade">
                                      <p:cBhvr>
                                        <p:cTn id="106" dur="1000"/>
                                        <p:tgtEl>
                                          <p:spTgt spid="27"/>
                                        </p:tgtEl>
                                      </p:cBhvr>
                                    </p:animEffect>
                                  </p:childTnLst>
                                </p:cTn>
                              </p:par>
                              <p:par>
                                <p:cTn id="108" presetID="10" presetClass="entr" presetSubtype="0" fill="hold" nodeType="withEffect">
                                  <p:stCondLst>
                                    <p:cond delay="1800"/>
                                  </p:stCondLst>
                                  <p:childTnLst>
                                    <p:set>
                                      <p:cBhvr>
                                        <p:cTn id="109" dur="1" fill="hold">
                                          <p:stCondLst>
                                            <p:cond delay="0"/>
                                          </p:stCondLst>
                                        </p:cTn>
                                        <p:tgtEl>
                                          <p:spTgt spid="28"/>
                                        </p:tgtEl>
                                        <p:attrNameLst>
                                          <p:attrName>style.visibility</p:attrName>
                                        </p:attrNameLst>
                                      </p:cBhvr>
                                      <p:to>
                                        <p:strVal val="visible"/>
                                      </p:to>
                                    </p:set>
                                    <p:animEffect transition="in" filter="fade">
                                      <p:cBhvr>
                                        <p:cTn id="110" dur="1000"/>
                                        <p:tgtEl>
                                          <p:spTgt spid="28"/>
                                        </p:tgtEl>
                                      </p:cBhvr>
                                    </p:animEffect>
                                  </p:childTnLst>
                                </p:cTn>
                              </p:par>
                              <p:par>
                                <p:cTn id="112" presetID="10" presetClass="entr" presetSubtype="0" fill="hold" nodeType="withEffect">
                                  <p:stCondLst>
                                    <p:cond delay="1800"/>
                                  </p:stCondLst>
                                  <p:childTnLst>
                                    <p:set>
                                      <p:cBhvr>
                                        <p:cTn id="113" dur="1" fill="hold">
                                          <p:stCondLst>
                                            <p:cond delay="0"/>
                                          </p:stCondLst>
                                        </p:cTn>
                                        <p:tgtEl>
                                          <p:spTgt spid="29"/>
                                        </p:tgtEl>
                                        <p:attrNameLst>
                                          <p:attrName>style.visibility</p:attrName>
                                        </p:attrNameLst>
                                      </p:cBhvr>
                                      <p:to>
                                        <p:strVal val="visible"/>
                                      </p:to>
                                    </p:set>
                                    <p:animEffect transition="in" filter="fade">
                                      <p:cBhvr>
                                        <p:cTn id="114" dur="1000"/>
                                        <p:tgtEl>
                                          <p:spTgt spid="29"/>
                                        </p:tgtEl>
                                      </p:cBhvr>
                                    </p:animEffect>
                                  </p:childTnLst>
                                </p:cTn>
                              </p:par>
                              <p:par>
                                <p:cTn id="116" presetID="10" presetClass="entr" presetSubtype="0" fill="hold" nodeType="withEffect">
                                  <p:stCondLst>
                                    <p:cond delay="1800"/>
                                  </p:stCondLst>
                                  <p:childTnLst>
                                    <p:set>
                                      <p:cBhvr>
                                        <p:cTn id="117" dur="1" fill="hold">
                                          <p:stCondLst>
                                            <p:cond delay="0"/>
                                          </p:stCondLst>
                                        </p:cTn>
                                        <p:tgtEl>
                                          <p:spTgt spid="30"/>
                                        </p:tgtEl>
                                        <p:attrNameLst>
                                          <p:attrName>style.visibility</p:attrName>
                                        </p:attrNameLst>
                                      </p:cBhvr>
                                      <p:to>
                                        <p:strVal val="visible"/>
                                      </p:to>
                                    </p:set>
                                    <p:animEffect transition="in" filter="fade">
                                      <p:cBhvr>
                                        <p:cTn id="118" dur="1000"/>
                                        <p:tgtEl>
                                          <p:spTgt spid="30"/>
                                        </p:tgtEl>
                                      </p:cBhvr>
                                    </p:animEffect>
                                  </p:childTnLst>
                                </p:cTn>
                              </p:par>
                              <p:par>
                                <p:cTn id="120" presetID="10" presetClass="entr" presetSubtype="0" fill="hold" nodeType="withEffect">
                                  <p:stCondLst>
                                    <p:cond delay="1800"/>
                                  </p:stCondLst>
                                  <p:childTnLst>
                                    <p:set>
                                      <p:cBhvr>
                                        <p:cTn id="121" dur="1" fill="hold">
                                          <p:stCondLst>
                                            <p:cond delay="0"/>
                                          </p:stCondLst>
                                        </p:cTn>
                                        <p:tgtEl>
                                          <p:spTgt spid="31"/>
                                        </p:tgtEl>
                                        <p:attrNameLst>
                                          <p:attrName>style.visibility</p:attrName>
                                        </p:attrNameLst>
                                      </p:cBhvr>
                                      <p:to>
                                        <p:strVal val="visible"/>
                                      </p:to>
                                    </p:set>
                                    <p:animEffect transition="in" filter="fade">
                                      <p:cBhvr>
                                        <p:cTn id="122" dur="1000"/>
                                        <p:tgtEl>
                                          <p:spTgt spid="31"/>
                                        </p:tgtEl>
                                      </p:cBhvr>
                                    </p:animEffect>
                                  </p:childTnLst>
                                </p:cTn>
                              </p:par>
                              <p:par>
                                <p:cTn id="124" presetID="10" presetClass="entr" presetSubtype="0" fill="hold" nodeType="withEffect">
                                  <p:stCondLst>
                                    <p:cond delay="1800"/>
                                  </p:stCondLst>
                                  <p:childTnLst>
                                    <p:set>
                                      <p:cBhvr>
                                        <p:cTn id="125" dur="1" fill="hold">
                                          <p:stCondLst>
                                            <p:cond delay="0"/>
                                          </p:stCondLst>
                                        </p:cTn>
                                        <p:tgtEl>
                                          <p:spTgt spid="32"/>
                                        </p:tgtEl>
                                        <p:attrNameLst>
                                          <p:attrName>style.visibility</p:attrName>
                                        </p:attrNameLst>
                                      </p:cBhvr>
                                      <p:to>
                                        <p:strVal val="visible"/>
                                      </p:to>
                                    </p:set>
                                    <p:animEffect transition="in" filter="fade">
                                      <p:cBhvr>
                                        <p:cTn id="126" dur="1000"/>
                                        <p:tgtEl>
                                          <p:spTgt spid="32"/>
                                        </p:tgtEl>
                                      </p:cBhvr>
                                    </p:animEffect>
                                  </p:childTnLst>
                                </p:cTn>
                              </p:par>
                              <p:par>
                                <p:cTn id="128" presetID="10" presetClass="entr" presetSubtype="0" fill="hold" nodeType="withEffect">
                                  <p:stCondLst>
                                    <p:cond delay="1800"/>
                                  </p:stCondLst>
                                  <p:childTnLst>
                                    <p:set>
                                      <p:cBhvr>
                                        <p:cTn id="129" dur="1" fill="hold">
                                          <p:stCondLst>
                                            <p:cond delay="0"/>
                                          </p:stCondLst>
                                        </p:cTn>
                                        <p:tgtEl>
                                          <p:spTgt spid="33"/>
                                        </p:tgtEl>
                                        <p:attrNameLst>
                                          <p:attrName>style.visibility</p:attrName>
                                        </p:attrNameLst>
                                      </p:cBhvr>
                                      <p:to>
                                        <p:strVal val="visible"/>
                                      </p:to>
                                    </p:set>
                                    <p:animEffect transition="in" filter="fade">
                                      <p:cBhvr>
                                        <p:cTn id="130" dur="1000"/>
                                        <p:tgtEl>
                                          <p:spTgt spid="33"/>
                                        </p:tgtEl>
                                      </p:cBhvr>
                                    </p:animEffect>
                                  </p:childTnLst>
                                </p:cTn>
                              </p:par>
                              <p:par>
                                <p:cTn id="132" presetID="10" presetClass="entr" presetSubtype="0" fill="hold" nodeType="withEffect">
                                  <p:stCondLst>
                                    <p:cond delay="1800"/>
                                  </p:stCondLst>
                                  <p:childTnLst>
                                    <p:set>
                                      <p:cBhvr>
                                        <p:cTn id="133" dur="1" fill="hold">
                                          <p:stCondLst>
                                            <p:cond delay="0"/>
                                          </p:stCondLst>
                                        </p:cTn>
                                        <p:tgtEl>
                                          <p:spTgt spid="34"/>
                                        </p:tgtEl>
                                        <p:attrNameLst>
                                          <p:attrName>style.visibility</p:attrName>
                                        </p:attrNameLst>
                                      </p:cBhvr>
                                      <p:to>
                                        <p:strVal val="visible"/>
                                      </p:to>
                                    </p:set>
                                    <p:animEffect transition="in" filter="fade">
                                      <p:cBhvr>
                                        <p:cTn id="134" dur="1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Before and after: Fees Calculator (website)</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Same layout, now with brand colour, real prices and a clear total</a:t>
            </a:r>
          </a:p>
        </p:txBody>
      </p:sp>
      <p:sp>
        <p:nvSpPr>
          <p:cNvPr id="5" name="Rounded Rectangle 4"/>
          <p:cNvSpPr/>
          <p:nvPr/>
        </p:nvSpPr>
        <p:spPr>
          <a:xfrm>
            <a:off x="548640" y="1737360"/>
            <a:ext cx="5486400" cy="420624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_web_fees.jpg"/>
          <p:cNvPicPr>
            <a:picLocks noChangeAspect="1"/>
          </p:cNvPicPr>
          <p:nvPr/>
        </p:nvPicPr>
        <p:blipFill>
          <a:blip r:embed="rId2"/>
          <a:stretch>
            <a:fillRect/>
          </a:stretch>
        </p:blipFill>
        <p:spPr>
          <a:xfrm>
            <a:off x="1451538" y="1828800"/>
            <a:ext cx="3680603" cy="3657600"/>
          </a:xfrm>
          <a:prstGeom prst="rect">
            <a:avLst/>
          </a:prstGeom>
        </p:spPr>
      </p:pic>
      <p:sp>
        <p:nvSpPr>
          <p:cNvPr id="7" name="Rounded Rectangle 6"/>
          <p:cNvSpPr/>
          <p:nvPr/>
        </p:nvSpPr>
        <p:spPr>
          <a:xfrm>
            <a:off x="2377440" y="5532120"/>
            <a:ext cx="1828800" cy="365760"/>
          </a:xfrm>
          <a:prstGeom prst="roundRect">
            <a:avLst>
              <a:gd name="adj" fmla="val 50000"/>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libri"/>
              </a:rPr>
              <a:t>Low-fi</a:t>
            </a:r>
          </a:p>
        </p:txBody>
      </p:sp>
      <p:sp>
        <p:nvSpPr>
          <p:cNvPr id="8" name="Rounded Rectangle 7"/>
          <p:cNvSpPr/>
          <p:nvPr/>
        </p:nvSpPr>
        <p:spPr>
          <a:xfrm>
            <a:off x="6217920" y="1737360"/>
            <a:ext cx="5486400" cy="420624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hi_web_fees.jpg"/>
          <p:cNvPicPr>
            <a:picLocks noChangeAspect="1"/>
          </p:cNvPicPr>
          <p:nvPr/>
        </p:nvPicPr>
        <p:blipFill>
          <a:blip r:embed="rId3"/>
          <a:stretch>
            <a:fillRect/>
          </a:stretch>
        </p:blipFill>
        <p:spPr>
          <a:xfrm>
            <a:off x="7393227" y="1828800"/>
            <a:ext cx="3135785" cy="3657600"/>
          </a:xfrm>
          <a:prstGeom prst="rect">
            <a:avLst/>
          </a:prstGeom>
        </p:spPr>
      </p:pic>
      <p:sp>
        <p:nvSpPr>
          <p:cNvPr id="10" name="Rounded Rectangle 9"/>
          <p:cNvSpPr/>
          <p:nvPr/>
        </p:nvSpPr>
        <p:spPr>
          <a:xfrm>
            <a:off x="8046720" y="5532120"/>
            <a:ext cx="1828800" cy="365760"/>
          </a:xfrm>
          <a:prstGeom prst="roundRect">
            <a:avLst>
              <a:gd name="adj" fmla="val 50000"/>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libri"/>
              </a:rPr>
              <a:t>High-fi</a:t>
            </a:r>
          </a:p>
        </p:txBody>
      </p:sp>
      <p:sp>
        <p:nvSpPr>
          <p:cNvPr id="11" name="TextBox 10"/>
          <p:cNvSpPr txBox="1"/>
          <p:nvPr/>
        </p:nvSpPr>
        <p:spPr>
          <a:xfrm>
            <a:off x="548640" y="6035040"/>
            <a:ext cx="11155680" cy="640080"/>
          </a:xfrm>
          <a:prstGeom prst="rect">
            <a:avLst/>
          </a:prstGeom>
          <a:noFill/>
        </p:spPr>
        <p:txBody>
          <a:bodyPr wrap="square" anchor="t" lIns="45720" rIns="45720">
            <a:spAutoFit/>
          </a:bodyPr>
          <a:lstStyle/>
          <a:p>
            <a:pPr algn="l">
              <a:spcAft>
                <a:spcPts val="600"/>
              </a:spcAft>
            </a:pPr>
            <a:r>
              <a:rPr sz="1500" b="0">
                <a:solidFill>
                  <a:srgbClr val="2F302D"/>
                </a:solidFill>
                <a:latin typeface="Calibri"/>
              </a:rPr>
              <a:t>Low-fi placed a rates table and a discount table. High-fi adds the cream/blue/tan palette, the tan call-to-action and a highlighted enrolment summary.</a:t>
            </a:r>
          </a:p>
        </p:txBody>
      </p:sp>
      <p:sp>
        <p:nvSpPr>
          <p:cNvPr id="12" name="TextBox 11"/>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Mohamed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4"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childTnLst>
                                </p:cTn>
                              </p:par>
                              <p:par>
                                <p:cTn id="24" presetID="10" presetClass="entr" presetSubtype="0" fill="hold" nodeType="withEffect">
                                  <p:stCondLst>
                                    <p:cond delay="75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childTnLst>
                                </p:cTn>
                              </p:par>
                              <p:par>
                                <p:cTn id="28" presetID="10" presetClass="entr" presetSubtype="0" fill="hold" nodeType="withEffect">
                                  <p:stCondLst>
                                    <p:cond delay="90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1000"/>
                                        <p:tgtEl>
                                          <p:spTgt spid="9"/>
                                        </p:tgtEl>
                                      </p:cBhvr>
                                    </p:animEffect>
                                  </p:childTnLst>
                                </p:cTn>
                              </p:par>
                              <p:par>
                                <p:cTn id="32" presetID="10" presetClass="entr" presetSubtype="0" fill="hold" nodeType="withEffect">
                                  <p:stCondLst>
                                    <p:cond delay="105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1000"/>
                                        <p:tgtEl>
                                          <p:spTgt spid="7"/>
                                        </p:tgtEl>
                                      </p:cBhvr>
                                    </p:animEffect>
                                  </p:childTnLst>
                                </p:cTn>
                              </p:par>
                              <p:par>
                                <p:cTn id="36" presetID="10" presetClass="entr" presetSubtype="0" fill="hold" nodeType="withEffect">
                                  <p:stCondLst>
                                    <p:cond delay="120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1000"/>
                                        <p:tgtEl>
                                          <p:spTgt spid="10"/>
                                        </p:tgtEl>
                                      </p:cBhvr>
                                    </p:animEffect>
                                  </p:childTnLst>
                                </p:cTn>
                              </p:par>
                              <p:par>
                                <p:cTn id="40" presetID="10" presetClass="entr" presetSubtype="0" fill="hold" nodeType="withEffect">
                                  <p:stCondLst>
                                    <p:cond delay="135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Before and after: Fees Calculator (mobile)</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Low-fi, then high-fi, and what changed in the finished app</a:t>
            </a:r>
          </a:p>
        </p:txBody>
      </p:sp>
      <p:sp>
        <p:nvSpPr>
          <p:cNvPr id="5" name="Rounded Rectangle 4"/>
          <p:cNvSpPr/>
          <p:nvPr/>
        </p:nvSpPr>
        <p:spPr>
          <a:xfrm>
            <a:off x="731520" y="1783080"/>
            <a:ext cx="2743200" cy="448056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_mob_fees.jpg"/>
          <p:cNvPicPr>
            <a:picLocks noChangeAspect="1"/>
          </p:cNvPicPr>
          <p:nvPr/>
        </p:nvPicPr>
        <p:blipFill>
          <a:blip r:embed="rId2"/>
          <a:stretch>
            <a:fillRect/>
          </a:stretch>
        </p:blipFill>
        <p:spPr>
          <a:xfrm>
            <a:off x="1236931" y="1874519"/>
            <a:ext cx="1732376" cy="3749039"/>
          </a:xfrm>
          <a:prstGeom prst="rect">
            <a:avLst/>
          </a:prstGeom>
        </p:spPr>
      </p:pic>
      <p:sp>
        <p:nvSpPr>
          <p:cNvPr id="7" name="Rounded Rectangle 6"/>
          <p:cNvSpPr/>
          <p:nvPr/>
        </p:nvSpPr>
        <p:spPr>
          <a:xfrm>
            <a:off x="1234440" y="5760720"/>
            <a:ext cx="1737360" cy="365760"/>
          </a:xfrm>
          <a:prstGeom prst="roundRect">
            <a:avLst>
              <a:gd name="adj" fmla="val 50000"/>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libri"/>
              </a:rPr>
              <a:t>Low-fi</a:t>
            </a:r>
          </a:p>
        </p:txBody>
      </p:sp>
      <p:sp>
        <p:nvSpPr>
          <p:cNvPr id="8" name="Rounded Rectangle 7"/>
          <p:cNvSpPr/>
          <p:nvPr/>
        </p:nvSpPr>
        <p:spPr>
          <a:xfrm>
            <a:off x="3749039" y="1783080"/>
            <a:ext cx="2743200" cy="448056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hi_mob_fees.jpg"/>
          <p:cNvPicPr>
            <a:picLocks noChangeAspect="1"/>
          </p:cNvPicPr>
          <p:nvPr/>
        </p:nvPicPr>
        <p:blipFill>
          <a:blip r:embed="rId3"/>
          <a:stretch>
            <a:fillRect/>
          </a:stretch>
        </p:blipFill>
        <p:spPr>
          <a:xfrm>
            <a:off x="4277430" y="1874519"/>
            <a:ext cx="1686419" cy="3749039"/>
          </a:xfrm>
          <a:prstGeom prst="rect">
            <a:avLst/>
          </a:prstGeom>
        </p:spPr>
      </p:pic>
      <p:sp>
        <p:nvSpPr>
          <p:cNvPr id="10" name="Rounded Rectangle 9"/>
          <p:cNvSpPr/>
          <p:nvPr/>
        </p:nvSpPr>
        <p:spPr>
          <a:xfrm>
            <a:off x="4251959" y="5760720"/>
            <a:ext cx="1737360" cy="365760"/>
          </a:xfrm>
          <a:prstGeom prst="roundRect">
            <a:avLst>
              <a:gd name="adj" fmla="val 50000"/>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libri"/>
              </a:rPr>
              <a:t>High-fi</a:t>
            </a:r>
          </a:p>
        </p:txBody>
      </p:sp>
      <p:sp>
        <p:nvSpPr>
          <p:cNvPr id="11" name="TextBox 10"/>
          <p:cNvSpPr txBox="1"/>
          <p:nvPr/>
        </p:nvSpPr>
        <p:spPr>
          <a:xfrm>
            <a:off x="6949440" y="1828800"/>
            <a:ext cx="4754880" cy="457200"/>
          </a:xfrm>
          <a:prstGeom prst="rect">
            <a:avLst/>
          </a:prstGeom>
          <a:noFill/>
        </p:spPr>
        <p:txBody>
          <a:bodyPr wrap="square" anchor="t" lIns="45720" rIns="45720">
            <a:spAutoFit/>
          </a:bodyPr>
          <a:lstStyle/>
          <a:p>
            <a:pPr algn="l">
              <a:spcAft>
                <a:spcPts val="600"/>
              </a:spcAft>
            </a:pPr>
            <a:r>
              <a:rPr sz="2200" b="1">
                <a:solidFill>
                  <a:srgbClr val="5A3E2B"/>
                </a:solidFill>
                <a:latin typeface="Book Antiqua"/>
              </a:rPr>
              <a:t>What changed in the build</a:t>
            </a:r>
          </a:p>
        </p:txBody>
      </p:sp>
      <p:sp>
        <p:nvSpPr>
          <p:cNvPr id="12" name="TextBox 11"/>
          <p:cNvSpPr txBox="1"/>
          <p:nvPr/>
        </p:nvSpPr>
        <p:spPr>
          <a:xfrm>
            <a:off x="6949440" y="2377440"/>
            <a:ext cx="4754880" cy="4114800"/>
          </a:xfrm>
          <a:prstGeom prst="rect">
            <a:avLst/>
          </a:prstGeom>
          <a:noFill/>
        </p:spPr>
        <p:txBody>
          <a:bodyPr wrap="square">
            <a:spAutoFit/>
          </a:bodyPr>
          <a:lstStyle/>
          <a:p>
            <a:pPr>
              <a:spcAft>
                <a:spcPts val="800"/>
              </a:spcAft>
            </a:pPr>
            <a:r>
              <a:rPr sz="1700">
                <a:solidFill>
                  <a:srgbClr val="2F302D"/>
                </a:solidFill>
                <a:latin typeface="Calibri"/>
              </a:rPr>
              <a:t>•  All 7 courses are listed with a checkbox each</a:t>
            </a:r>
          </a:p>
          <a:p>
            <a:pPr>
              <a:spcAft>
                <a:spcPts val="800"/>
              </a:spcAft>
            </a:pPr>
            <a:r>
              <a:rPr sz="1700">
                <a:solidFill>
                  <a:srgbClr val="2F302D"/>
                </a:solidFill>
                <a:latin typeface="Calibri"/>
              </a:rPr>
              <a:t>•  A 5%, 10% or 15% discount appears automatically</a:t>
            </a:r>
          </a:p>
          <a:p>
            <a:pPr>
              <a:spcAft>
                <a:spcPts val="800"/>
              </a:spcAft>
            </a:pPr>
            <a:r>
              <a:rPr sz="1700">
                <a:solidFill>
                  <a:srgbClr val="2F302D"/>
                </a:solidFill>
                <a:latin typeface="Calibri"/>
              </a:rPr>
              <a:t>•  15% VAT is added after the discount (the mockup did not show it)</a:t>
            </a:r>
          </a:p>
          <a:p>
            <a:pPr>
              <a:spcAft>
                <a:spcPts val="800"/>
              </a:spcAft>
            </a:pPr>
            <a:r>
              <a:rPr sz="1700">
                <a:solidFill>
                  <a:srgbClr val="2F302D"/>
                </a:solidFill>
                <a:latin typeface="Calibri"/>
              </a:rPr>
              <a:t>•  Navigation became a bottom bar: Home, Courses, Fees, Contact</a:t>
            </a:r>
          </a:p>
        </p:txBody>
      </p:sp>
      <p:sp>
        <p:nvSpPr>
          <p:cNvPr id="13" name="TextBox 12"/>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Mohamed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8"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childTnLst>
                                </p:cTn>
                              </p:par>
                              <p:par>
                                <p:cTn id="24" presetID="10" presetClass="entr" presetSubtype="0" fill="hold" nodeType="withEffect">
                                  <p:stCondLst>
                                    <p:cond delay="75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childTnLst>
                                </p:cTn>
                              </p:par>
                              <p:par>
                                <p:cTn id="28" presetID="10" presetClass="entr" presetSubtype="0" fill="hold" nodeType="withEffect">
                                  <p:stCondLst>
                                    <p:cond delay="90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1000"/>
                                        <p:tgtEl>
                                          <p:spTgt spid="9"/>
                                        </p:tgtEl>
                                      </p:cBhvr>
                                    </p:animEffect>
                                  </p:childTnLst>
                                </p:cTn>
                              </p:par>
                              <p:par>
                                <p:cTn id="32" presetID="10" presetClass="entr" presetSubtype="0" fill="hold" nodeType="withEffect">
                                  <p:stCondLst>
                                    <p:cond delay="105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1000"/>
                                        <p:tgtEl>
                                          <p:spTgt spid="11"/>
                                        </p:tgtEl>
                                      </p:cBhvr>
                                    </p:animEffect>
                                  </p:childTnLst>
                                </p:cTn>
                              </p:par>
                              <p:par>
                                <p:cTn id="36" presetID="10" presetClass="entr" presetSubtype="0" fill="hold" nodeType="withEffect">
                                  <p:stCondLst>
                                    <p:cond delay="120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1000"/>
                                        <p:tgtEl>
                                          <p:spTgt spid="12"/>
                                        </p:tgtEl>
                                      </p:cBhvr>
                                    </p:animEffect>
                                  </p:childTnLst>
                                </p:cTn>
                              </p:par>
                              <p:par>
                                <p:cTn id="40" presetID="10" presetClass="entr" presetSubtype="0" fill="hold" nodeType="withEffect">
                                  <p:stCondLst>
                                    <p:cond delay="135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1000"/>
                                        <p:tgtEl>
                                          <p:spTgt spid="7"/>
                                        </p:tgtEl>
                                      </p:cBhvr>
                                    </p:animEffect>
                                  </p:childTnLst>
                                </p:cTn>
                              </p:par>
                              <p:par>
                                <p:cTn id="44" presetID="10" presetClass="entr" presetSubtype="0" fill="hold" nodeType="withEffect">
                                  <p:stCondLst>
                                    <p:cond delay="150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Sitemap and user journeys</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Both platforms share the same structure</a:t>
            </a:r>
          </a:p>
        </p:txBody>
      </p:sp>
      <p:sp>
        <p:nvSpPr>
          <p:cNvPr id="5" name="Rounded Rectangle 4"/>
          <p:cNvSpPr/>
          <p:nvPr/>
        </p:nvSpPr>
        <p:spPr>
          <a:xfrm>
            <a:off x="640080" y="1783080"/>
            <a:ext cx="4206240" cy="420624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965960"/>
            <a:ext cx="3657600" cy="457200"/>
          </a:xfrm>
          <a:prstGeom prst="rect">
            <a:avLst/>
          </a:prstGeom>
          <a:noFill/>
        </p:spPr>
        <p:txBody>
          <a:bodyPr wrap="square" anchor="t" lIns="45720" rIns="45720">
            <a:spAutoFit/>
          </a:bodyPr>
          <a:lstStyle/>
          <a:p>
            <a:pPr algn="l">
              <a:spcAft>
                <a:spcPts val="600"/>
              </a:spcAft>
            </a:pPr>
            <a:r>
              <a:rPr sz="1700" b="1">
                <a:solidFill>
                  <a:srgbClr val="5A3E2B"/>
                </a:solidFill>
                <a:latin typeface="Calibri"/>
              </a:rPr>
              <a:t>Home</a:t>
            </a:r>
          </a:p>
        </p:txBody>
      </p:sp>
      <p:sp>
        <p:nvSpPr>
          <p:cNvPr id="7" name="TextBox 6"/>
          <p:cNvSpPr txBox="1"/>
          <p:nvPr/>
        </p:nvSpPr>
        <p:spPr>
          <a:xfrm>
            <a:off x="1280160" y="2606039"/>
            <a:ext cx="3657600" cy="45720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 About Us</a:t>
            </a:r>
          </a:p>
        </p:txBody>
      </p:sp>
      <p:sp>
        <p:nvSpPr>
          <p:cNvPr id="8" name="TextBox 7"/>
          <p:cNvSpPr txBox="1"/>
          <p:nvPr/>
        </p:nvSpPr>
        <p:spPr>
          <a:xfrm>
            <a:off x="1280160" y="3246120"/>
            <a:ext cx="3657600" cy="45720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 Summary page (all courses)</a:t>
            </a:r>
          </a:p>
        </p:txBody>
      </p:sp>
      <p:sp>
        <p:nvSpPr>
          <p:cNvPr id="9" name="TextBox 8"/>
          <p:cNvSpPr txBox="1"/>
          <p:nvPr/>
        </p:nvSpPr>
        <p:spPr>
          <a:xfrm>
            <a:off x="1280160" y="3886200"/>
            <a:ext cx="3657600" cy="45720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 Detail pages (one per course)</a:t>
            </a:r>
          </a:p>
        </p:txBody>
      </p:sp>
      <p:sp>
        <p:nvSpPr>
          <p:cNvPr id="10" name="TextBox 9"/>
          <p:cNvSpPr txBox="1"/>
          <p:nvPr/>
        </p:nvSpPr>
        <p:spPr>
          <a:xfrm>
            <a:off x="1280160" y="4526279"/>
            <a:ext cx="3657600" cy="45720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 Fees Calculator</a:t>
            </a:r>
          </a:p>
        </p:txBody>
      </p:sp>
      <p:sp>
        <p:nvSpPr>
          <p:cNvPr id="11" name="TextBox 10"/>
          <p:cNvSpPr txBox="1"/>
          <p:nvPr/>
        </p:nvSpPr>
        <p:spPr>
          <a:xfrm>
            <a:off x="1280160" y="5166360"/>
            <a:ext cx="3657600" cy="45720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 Contact Us</a:t>
            </a:r>
          </a:p>
        </p:txBody>
      </p:sp>
      <p:sp>
        <p:nvSpPr>
          <p:cNvPr id="12" name="Rounded Rectangle 11"/>
          <p:cNvSpPr/>
          <p:nvPr/>
        </p:nvSpPr>
        <p:spPr>
          <a:xfrm>
            <a:off x="5212080" y="1783080"/>
            <a:ext cx="3200400" cy="420624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49240" y="1874519"/>
            <a:ext cx="2926080" cy="731520"/>
          </a:xfrm>
          <a:prstGeom prst="rect">
            <a:avLst/>
          </a:prstGeom>
          <a:noFill/>
        </p:spPr>
        <p:txBody>
          <a:bodyPr wrap="square" anchor="t" lIns="45720" rIns="45720">
            <a:spAutoFit/>
          </a:bodyPr>
          <a:lstStyle/>
          <a:p>
            <a:pPr algn="l">
              <a:spcAft>
                <a:spcPts val="600"/>
              </a:spcAft>
            </a:pPr>
            <a:r>
              <a:rPr sz="1800" b="1">
                <a:solidFill>
                  <a:srgbClr val="5A3E2B"/>
                </a:solidFill>
                <a:latin typeface="Book Antiqua"/>
              </a:rPr>
              <a:t>Journey 1: Viewing courses</a:t>
            </a:r>
          </a:p>
        </p:txBody>
      </p:sp>
      <p:sp>
        <p:nvSpPr>
          <p:cNvPr id="14" name="TextBox 13"/>
          <p:cNvSpPr txBox="1"/>
          <p:nvPr/>
        </p:nvSpPr>
        <p:spPr>
          <a:xfrm>
            <a:off x="5349240" y="2743200"/>
            <a:ext cx="2926080" cy="731520"/>
          </a:xfrm>
          <a:prstGeom prst="rect">
            <a:avLst/>
          </a:prstGeom>
          <a:noFill/>
        </p:spPr>
        <p:txBody>
          <a:bodyPr wrap="square" anchor="t" lIns="45720" rIns="45720">
            <a:spAutoFit/>
          </a:bodyPr>
          <a:lstStyle/>
          <a:p>
            <a:pPr algn="l">
              <a:spcAft>
                <a:spcPts val="600"/>
              </a:spcAft>
            </a:pPr>
            <a:r>
              <a:rPr sz="1500" b="0">
                <a:solidFill>
                  <a:srgbClr val="2F302D"/>
                </a:solidFill>
                <a:latin typeface="Calibri"/>
              </a:rPr>
              <a:t>1. Land on Home</a:t>
            </a:r>
          </a:p>
        </p:txBody>
      </p:sp>
      <p:sp>
        <p:nvSpPr>
          <p:cNvPr id="15" name="TextBox 14"/>
          <p:cNvSpPr txBox="1"/>
          <p:nvPr/>
        </p:nvSpPr>
        <p:spPr>
          <a:xfrm>
            <a:off x="5349240" y="3520440"/>
            <a:ext cx="2926080" cy="731520"/>
          </a:xfrm>
          <a:prstGeom prst="rect">
            <a:avLst/>
          </a:prstGeom>
          <a:noFill/>
        </p:spPr>
        <p:txBody>
          <a:bodyPr wrap="square" anchor="t" lIns="45720" rIns="45720">
            <a:spAutoFit/>
          </a:bodyPr>
          <a:lstStyle/>
          <a:p>
            <a:pPr algn="l">
              <a:spcAft>
                <a:spcPts val="600"/>
              </a:spcAft>
            </a:pPr>
            <a:r>
              <a:rPr sz="1500" b="0">
                <a:solidFill>
                  <a:srgbClr val="2F302D"/>
                </a:solidFill>
                <a:latin typeface="Calibri"/>
              </a:rPr>
              <a:t>2. Open Courses</a:t>
            </a:r>
          </a:p>
        </p:txBody>
      </p:sp>
      <p:sp>
        <p:nvSpPr>
          <p:cNvPr id="16" name="TextBox 15"/>
          <p:cNvSpPr txBox="1"/>
          <p:nvPr/>
        </p:nvSpPr>
        <p:spPr>
          <a:xfrm>
            <a:off x="5349240" y="4297680"/>
            <a:ext cx="2926080" cy="731520"/>
          </a:xfrm>
          <a:prstGeom prst="rect">
            <a:avLst/>
          </a:prstGeom>
          <a:noFill/>
        </p:spPr>
        <p:txBody>
          <a:bodyPr wrap="square" anchor="t" lIns="45720" rIns="45720">
            <a:spAutoFit/>
          </a:bodyPr>
          <a:lstStyle/>
          <a:p>
            <a:pPr algn="l">
              <a:spcAft>
                <a:spcPts val="600"/>
              </a:spcAft>
            </a:pPr>
            <a:r>
              <a:rPr sz="1500" b="0">
                <a:solidFill>
                  <a:srgbClr val="2F302D"/>
                </a:solidFill>
                <a:latin typeface="Calibri"/>
              </a:rPr>
              <a:t>3. Pick a course</a:t>
            </a:r>
          </a:p>
        </p:txBody>
      </p:sp>
      <p:sp>
        <p:nvSpPr>
          <p:cNvPr id="17" name="TextBox 16"/>
          <p:cNvSpPr txBox="1"/>
          <p:nvPr/>
        </p:nvSpPr>
        <p:spPr>
          <a:xfrm>
            <a:off x="5349240" y="5074920"/>
            <a:ext cx="2926080" cy="731520"/>
          </a:xfrm>
          <a:prstGeom prst="rect">
            <a:avLst/>
          </a:prstGeom>
          <a:noFill/>
        </p:spPr>
        <p:txBody>
          <a:bodyPr wrap="square" anchor="t" lIns="45720" rIns="45720">
            <a:spAutoFit/>
          </a:bodyPr>
          <a:lstStyle/>
          <a:p>
            <a:pPr algn="l">
              <a:spcAft>
                <a:spcPts val="600"/>
              </a:spcAft>
            </a:pPr>
            <a:r>
              <a:rPr sz="1500" b="0">
                <a:solidFill>
                  <a:srgbClr val="2F302D"/>
                </a:solidFill>
                <a:latin typeface="Calibri"/>
              </a:rPr>
              <a:t>4. Read description, length and fee</a:t>
            </a:r>
          </a:p>
        </p:txBody>
      </p:sp>
      <p:sp>
        <p:nvSpPr>
          <p:cNvPr id="18" name="Rounded Rectangle 17"/>
          <p:cNvSpPr/>
          <p:nvPr/>
        </p:nvSpPr>
        <p:spPr>
          <a:xfrm>
            <a:off x="8595360" y="1783080"/>
            <a:ext cx="3200400" cy="4206240"/>
          </a:xfrm>
          <a:prstGeom prst="roundRect">
            <a:avLst>
              <a:gd name="adj" fmla="val 6000"/>
            </a:avLst>
          </a:prstGeom>
          <a:solidFill>
            <a:srgbClr val="B0E0E6"/>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32520" y="1874519"/>
            <a:ext cx="2926080" cy="731520"/>
          </a:xfrm>
          <a:prstGeom prst="rect">
            <a:avLst/>
          </a:prstGeom>
          <a:noFill/>
        </p:spPr>
        <p:txBody>
          <a:bodyPr wrap="square" anchor="t" lIns="45720" rIns="45720">
            <a:spAutoFit/>
          </a:bodyPr>
          <a:lstStyle/>
          <a:p>
            <a:pPr algn="l">
              <a:spcAft>
                <a:spcPts val="600"/>
              </a:spcAft>
            </a:pPr>
            <a:r>
              <a:rPr sz="1800" b="1">
                <a:solidFill>
                  <a:srgbClr val="5A3E2B"/>
                </a:solidFill>
                <a:latin typeface="Book Antiqua"/>
              </a:rPr>
              <a:t>Journey 2: Requesting a quote</a:t>
            </a:r>
          </a:p>
        </p:txBody>
      </p:sp>
      <p:sp>
        <p:nvSpPr>
          <p:cNvPr id="20" name="TextBox 19"/>
          <p:cNvSpPr txBox="1"/>
          <p:nvPr/>
        </p:nvSpPr>
        <p:spPr>
          <a:xfrm>
            <a:off x="8732520" y="2743200"/>
            <a:ext cx="2926080" cy="731520"/>
          </a:xfrm>
          <a:prstGeom prst="rect">
            <a:avLst/>
          </a:prstGeom>
          <a:noFill/>
        </p:spPr>
        <p:txBody>
          <a:bodyPr wrap="square" anchor="t" lIns="45720" rIns="45720">
            <a:spAutoFit/>
          </a:bodyPr>
          <a:lstStyle/>
          <a:p>
            <a:pPr algn="l">
              <a:spcAft>
                <a:spcPts val="600"/>
              </a:spcAft>
            </a:pPr>
            <a:r>
              <a:rPr sz="1500" b="0">
                <a:solidFill>
                  <a:srgbClr val="2F302D"/>
                </a:solidFill>
                <a:latin typeface="Calibri"/>
              </a:rPr>
              <a:t>1. Select courses</a:t>
            </a:r>
          </a:p>
        </p:txBody>
      </p:sp>
      <p:sp>
        <p:nvSpPr>
          <p:cNvPr id="21" name="TextBox 20"/>
          <p:cNvSpPr txBox="1"/>
          <p:nvPr/>
        </p:nvSpPr>
        <p:spPr>
          <a:xfrm>
            <a:off x="8732520" y="3520440"/>
            <a:ext cx="2926080" cy="731520"/>
          </a:xfrm>
          <a:prstGeom prst="rect">
            <a:avLst/>
          </a:prstGeom>
          <a:noFill/>
        </p:spPr>
        <p:txBody>
          <a:bodyPr wrap="square" anchor="t" lIns="45720" rIns="45720">
            <a:spAutoFit/>
          </a:bodyPr>
          <a:lstStyle/>
          <a:p>
            <a:pPr algn="l">
              <a:spcAft>
                <a:spcPts val="600"/>
              </a:spcAft>
            </a:pPr>
            <a:r>
              <a:rPr sz="1500" b="0">
                <a:solidFill>
                  <a:srgbClr val="2F302D"/>
                </a:solidFill>
                <a:latin typeface="Calibri"/>
              </a:rPr>
              <a:t>2. Open Fees Calculator</a:t>
            </a:r>
          </a:p>
        </p:txBody>
      </p:sp>
      <p:sp>
        <p:nvSpPr>
          <p:cNvPr id="22" name="TextBox 21"/>
          <p:cNvSpPr txBox="1"/>
          <p:nvPr/>
        </p:nvSpPr>
        <p:spPr>
          <a:xfrm>
            <a:off x="8732520" y="4297680"/>
            <a:ext cx="2926080" cy="731520"/>
          </a:xfrm>
          <a:prstGeom prst="rect">
            <a:avLst/>
          </a:prstGeom>
          <a:noFill/>
        </p:spPr>
        <p:txBody>
          <a:bodyPr wrap="square" anchor="t" lIns="45720" rIns="45720">
            <a:spAutoFit/>
          </a:bodyPr>
          <a:lstStyle/>
          <a:p>
            <a:pPr algn="l">
              <a:spcAft>
                <a:spcPts val="600"/>
              </a:spcAft>
            </a:pPr>
            <a:r>
              <a:rPr sz="1500" b="0">
                <a:solidFill>
                  <a:srgbClr val="2F302D"/>
                </a:solidFill>
                <a:latin typeface="Calibri"/>
              </a:rPr>
              <a:t>3. Discount calculated automatically</a:t>
            </a:r>
          </a:p>
        </p:txBody>
      </p:sp>
      <p:sp>
        <p:nvSpPr>
          <p:cNvPr id="23" name="TextBox 22"/>
          <p:cNvSpPr txBox="1"/>
          <p:nvPr/>
        </p:nvSpPr>
        <p:spPr>
          <a:xfrm>
            <a:off x="8732520" y="5074920"/>
            <a:ext cx="2926080" cy="731520"/>
          </a:xfrm>
          <a:prstGeom prst="rect">
            <a:avLst/>
          </a:prstGeom>
          <a:noFill/>
        </p:spPr>
        <p:txBody>
          <a:bodyPr wrap="square" anchor="t" lIns="45720" rIns="45720">
            <a:spAutoFit/>
          </a:bodyPr>
          <a:lstStyle/>
          <a:p>
            <a:pPr algn="l">
              <a:spcAft>
                <a:spcPts val="600"/>
              </a:spcAft>
            </a:pPr>
            <a:r>
              <a:rPr sz="1500" b="0">
                <a:solidFill>
                  <a:srgbClr val="2F302D"/>
                </a:solidFill>
                <a:latin typeface="Calibri"/>
              </a:rPr>
              <a:t>4. Submit request, Sarah follows up</a:t>
            </a:r>
          </a:p>
        </p:txBody>
      </p:sp>
      <p:sp>
        <p:nvSpPr>
          <p:cNvPr id="24" name="TextBox 23"/>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Kelebogile (suggested)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2"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1000"/>
                                        <p:tgtEl>
                                          <p:spTgt spid="12"/>
                                        </p:tgtEl>
                                      </p:cBhvr>
                                    </p:animEffect>
                                  </p:childTnLst>
                                </p:cTn>
                              </p:par>
                              <p:par>
                                <p:cTn id="24" presetID="10" presetClass="entr" presetSubtype="0" fill="hold" nodeType="withEffect">
                                  <p:stCondLst>
                                    <p:cond delay="75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1000"/>
                                        <p:tgtEl>
                                          <p:spTgt spid="18"/>
                                        </p:tgtEl>
                                      </p:cBhvr>
                                    </p:animEffect>
                                  </p:childTnLst>
                                </p:cTn>
                              </p:par>
                              <p:par>
                                <p:cTn id="28" presetID="10" presetClass="entr" presetSubtype="0" fill="hold" nodeType="withEffect">
                                  <p:stCondLst>
                                    <p:cond delay="90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1000"/>
                                        <p:tgtEl>
                                          <p:spTgt spid="13"/>
                                        </p:tgtEl>
                                      </p:cBhvr>
                                    </p:animEffect>
                                  </p:childTnLst>
                                </p:cTn>
                              </p:par>
                              <p:par>
                                <p:cTn id="32" presetID="10" presetClass="entr" presetSubtype="0" fill="hold" nodeType="withEffect">
                                  <p:stCondLst>
                                    <p:cond delay="105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1000"/>
                                        <p:tgtEl>
                                          <p:spTgt spid="19"/>
                                        </p:tgtEl>
                                      </p:cBhvr>
                                    </p:animEffect>
                                  </p:childTnLst>
                                </p:cTn>
                              </p:par>
                              <p:par>
                                <p:cTn id="36" presetID="10" presetClass="entr" presetSubtype="0" fill="hold" nodeType="withEffect">
                                  <p:stCondLst>
                                    <p:cond delay="120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1000"/>
                                        <p:tgtEl>
                                          <p:spTgt spid="6"/>
                                        </p:tgtEl>
                                      </p:cBhvr>
                                    </p:animEffect>
                                  </p:childTnLst>
                                </p:cTn>
                              </p:par>
                              <p:par>
                                <p:cTn id="40" presetID="10" presetClass="entr" presetSubtype="0" fill="hold" nodeType="withEffect">
                                  <p:stCondLst>
                                    <p:cond delay="135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1000"/>
                                        <p:tgtEl>
                                          <p:spTgt spid="7"/>
                                        </p:tgtEl>
                                      </p:cBhvr>
                                    </p:animEffect>
                                  </p:childTnLst>
                                </p:cTn>
                              </p:par>
                              <p:par>
                                <p:cTn id="44" presetID="10" presetClass="entr" presetSubtype="0" fill="hold" nodeType="withEffect">
                                  <p:stCondLst>
                                    <p:cond delay="150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1000"/>
                                        <p:tgtEl>
                                          <p:spTgt spid="14"/>
                                        </p:tgtEl>
                                      </p:cBhvr>
                                    </p:animEffect>
                                  </p:childTnLst>
                                </p:cTn>
                              </p:par>
                              <p:par>
                                <p:cTn id="48" presetID="10" presetClass="entr" presetSubtype="0" fill="hold" nodeType="withEffect">
                                  <p:stCondLst>
                                    <p:cond delay="165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1000"/>
                                        <p:tgtEl>
                                          <p:spTgt spid="20"/>
                                        </p:tgtEl>
                                      </p:cBhvr>
                                    </p:animEffect>
                                  </p:childTnLst>
                                </p:cTn>
                              </p:par>
                              <p:par>
                                <p:cTn id="52" presetID="10" presetClass="entr" presetSubtype="0" fill="hold" nodeType="withEffect">
                                  <p:stCondLst>
                                    <p:cond delay="1800"/>
                                  </p:stCondLst>
                                  <p:childTnLst>
                                    <p:set>
                                      <p:cBhvr>
                                        <p:cTn id="53" dur="1" fill="hold">
                                          <p:stCondLst>
                                            <p:cond delay="0"/>
                                          </p:stCondLst>
                                        </p:cTn>
                                        <p:tgtEl>
                                          <p:spTgt spid="8"/>
                                        </p:tgtEl>
                                        <p:attrNameLst>
                                          <p:attrName>style.visibility</p:attrName>
                                        </p:attrNameLst>
                                      </p:cBhvr>
                                      <p:to>
                                        <p:strVal val="visible"/>
                                      </p:to>
                                    </p:set>
                                    <p:animEffect transition="in" filter="fade">
                                      <p:cBhvr>
                                        <p:cTn id="54" dur="1000"/>
                                        <p:tgtEl>
                                          <p:spTgt spid="8"/>
                                        </p:tgtEl>
                                      </p:cBhvr>
                                    </p:animEffect>
                                  </p:childTnLst>
                                </p:cTn>
                              </p:par>
                              <p:par>
                                <p:cTn id="56" presetID="10" presetClass="entr" presetSubtype="0" fill="hold" nodeType="withEffect">
                                  <p:stCondLst>
                                    <p:cond delay="180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1000"/>
                                        <p:tgtEl>
                                          <p:spTgt spid="15"/>
                                        </p:tgtEl>
                                      </p:cBhvr>
                                    </p:animEffect>
                                  </p:childTnLst>
                                </p:cTn>
                              </p:par>
                              <p:par>
                                <p:cTn id="60" presetID="10" presetClass="entr" presetSubtype="0" fill="hold" nodeType="withEffect">
                                  <p:stCondLst>
                                    <p:cond delay="180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1000"/>
                                        <p:tgtEl>
                                          <p:spTgt spid="21"/>
                                        </p:tgtEl>
                                      </p:cBhvr>
                                    </p:animEffect>
                                  </p:childTnLst>
                                </p:cTn>
                              </p:par>
                              <p:par>
                                <p:cTn id="64" presetID="10" presetClass="entr" presetSubtype="0" fill="hold" nodeType="withEffect">
                                  <p:stCondLst>
                                    <p:cond delay="1800"/>
                                  </p:stCondLst>
                                  <p:childTnLst>
                                    <p:set>
                                      <p:cBhvr>
                                        <p:cTn id="65" dur="1" fill="hold">
                                          <p:stCondLst>
                                            <p:cond delay="0"/>
                                          </p:stCondLst>
                                        </p:cTn>
                                        <p:tgtEl>
                                          <p:spTgt spid="9"/>
                                        </p:tgtEl>
                                        <p:attrNameLst>
                                          <p:attrName>style.visibility</p:attrName>
                                        </p:attrNameLst>
                                      </p:cBhvr>
                                      <p:to>
                                        <p:strVal val="visible"/>
                                      </p:to>
                                    </p:set>
                                    <p:animEffect transition="in" filter="fade">
                                      <p:cBhvr>
                                        <p:cTn id="66" dur="1000"/>
                                        <p:tgtEl>
                                          <p:spTgt spid="9"/>
                                        </p:tgtEl>
                                      </p:cBhvr>
                                    </p:animEffect>
                                  </p:childTnLst>
                                </p:cTn>
                              </p:par>
                              <p:par>
                                <p:cTn id="68" presetID="10" presetClass="entr" presetSubtype="0" fill="hold" nodeType="withEffect">
                                  <p:stCondLst>
                                    <p:cond delay="1800"/>
                                  </p:stCondLst>
                                  <p:childTnLst>
                                    <p:set>
                                      <p:cBhvr>
                                        <p:cTn id="69" dur="1" fill="hold">
                                          <p:stCondLst>
                                            <p:cond delay="0"/>
                                          </p:stCondLst>
                                        </p:cTn>
                                        <p:tgtEl>
                                          <p:spTgt spid="16"/>
                                        </p:tgtEl>
                                        <p:attrNameLst>
                                          <p:attrName>style.visibility</p:attrName>
                                        </p:attrNameLst>
                                      </p:cBhvr>
                                      <p:to>
                                        <p:strVal val="visible"/>
                                      </p:to>
                                    </p:set>
                                    <p:animEffect transition="in" filter="fade">
                                      <p:cBhvr>
                                        <p:cTn id="70" dur="1000"/>
                                        <p:tgtEl>
                                          <p:spTgt spid="16"/>
                                        </p:tgtEl>
                                      </p:cBhvr>
                                    </p:animEffect>
                                  </p:childTnLst>
                                </p:cTn>
                              </p:par>
                              <p:par>
                                <p:cTn id="72" presetID="10" presetClass="entr" presetSubtype="0" fill="hold" nodeType="withEffect">
                                  <p:stCondLst>
                                    <p:cond delay="180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1000"/>
                                        <p:tgtEl>
                                          <p:spTgt spid="22"/>
                                        </p:tgtEl>
                                      </p:cBhvr>
                                    </p:animEffect>
                                  </p:childTnLst>
                                </p:cTn>
                              </p:par>
                              <p:par>
                                <p:cTn id="76" presetID="10" presetClass="entr" presetSubtype="0" fill="hold" nodeType="withEffect">
                                  <p:stCondLst>
                                    <p:cond delay="1800"/>
                                  </p:stCondLst>
                                  <p:childTnLst>
                                    <p:set>
                                      <p:cBhvr>
                                        <p:cTn id="77" dur="1" fill="hold">
                                          <p:stCondLst>
                                            <p:cond delay="0"/>
                                          </p:stCondLst>
                                        </p:cTn>
                                        <p:tgtEl>
                                          <p:spTgt spid="10"/>
                                        </p:tgtEl>
                                        <p:attrNameLst>
                                          <p:attrName>style.visibility</p:attrName>
                                        </p:attrNameLst>
                                      </p:cBhvr>
                                      <p:to>
                                        <p:strVal val="visible"/>
                                      </p:to>
                                    </p:set>
                                    <p:animEffect transition="in" filter="fade">
                                      <p:cBhvr>
                                        <p:cTn id="78" dur="1000"/>
                                        <p:tgtEl>
                                          <p:spTgt spid="10"/>
                                        </p:tgtEl>
                                      </p:cBhvr>
                                    </p:animEffect>
                                  </p:childTnLst>
                                </p:cTn>
                              </p:par>
                              <p:par>
                                <p:cTn id="80" presetID="10" presetClass="entr" presetSubtype="0" fill="hold" nodeType="withEffect">
                                  <p:stCondLst>
                                    <p:cond delay="180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1000"/>
                                        <p:tgtEl>
                                          <p:spTgt spid="17"/>
                                        </p:tgtEl>
                                      </p:cBhvr>
                                    </p:animEffect>
                                  </p:childTnLst>
                                </p:cTn>
                              </p:par>
                              <p:par>
                                <p:cTn id="84" presetID="10" presetClass="entr" presetSubtype="0" fill="hold" nodeType="withEffect">
                                  <p:stCondLst>
                                    <p:cond delay="180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1000"/>
                                        <p:tgtEl>
                                          <p:spTgt spid="23"/>
                                        </p:tgtEl>
                                      </p:cBhvr>
                                    </p:animEffect>
                                  </p:childTnLst>
                                </p:cTn>
                              </p:par>
                              <p:par>
                                <p:cTn id="88" presetID="10" presetClass="entr" presetSubtype="0" fill="hold" nodeType="withEffect">
                                  <p:stCondLst>
                                    <p:cond delay="1800"/>
                                  </p:stCondLst>
                                  <p:childTnLst>
                                    <p:set>
                                      <p:cBhvr>
                                        <p:cTn id="89" dur="1" fill="hold">
                                          <p:stCondLst>
                                            <p:cond delay="0"/>
                                          </p:stCondLst>
                                        </p:cTn>
                                        <p:tgtEl>
                                          <p:spTgt spid="11"/>
                                        </p:tgtEl>
                                        <p:attrNameLst>
                                          <p:attrName>style.visibility</p:attrName>
                                        </p:attrNameLst>
                                      </p:cBhvr>
                                      <p:to>
                                        <p:strVal val="visible"/>
                                      </p:to>
                                    </p:set>
                                    <p:animEffect transition="in" filter="fade">
                                      <p:cBhvr>
                                        <p:cTn id="90"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How we built it</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Different tools for each platform, shared tools for teamwork</a:t>
            </a:r>
          </a:p>
        </p:txBody>
      </p:sp>
      <p:sp>
        <p:nvSpPr>
          <p:cNvPr id="5" name="Rounded Rectangle 4"/>
          <p:cNvSpPr/>
          <p:nvPr/>
        </p:nvSpPr>
        <p:spPr>
          <a:xfrm>
            <a:off x="640080" y="1828800"/>
            <a:ext cx="3566160" cy="402336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965960"/>
            <a:ext cx="3200400" cy="548640"/>
          </a:xfrm>
          <a:prstGeom prst="rect">
            <a:avLst/>
          </a:prstGeom>
          <a:noFill/>
        </p:spPr>
        <p:txBody>
          <a:bodyPr wrap="square" anchor="t" lIns="45720" rIns="45720">
            <a:spAutoFit/>
          </a:bodyPr>
          <a:lstStyle/>
          <a:p>
            <a:pPr algn="l">
              <a:spcAft>
                <a:spcPts val="600"/>
              </a:spcAft>
            </a:pPr>
            <a:r>
              <a:rPr sz="2400" b="1">
                <a:solidFill>
                  <a:srgbClr val="5A3E2B"/>
                </a:solidFill>
                <a:latin typeface="Book Antiqua"/>
              </a:rPr>
              <a:t>Website</a:t>
            </a:r>
          </a:p>
        </p:txBody>
      </p:sp>
      <p:sp>
        <p:nvSpPr>
          <p:cNvPr id="7" name="TextBox 6"/>
          <p:cNvSpPr txBox="1"/>
          <p:nvPr/>
        </p:nvSpPr>
        <p:spPr>
          <a:xfrm>
            <a:off x="822959" y="2651760"/>
            <a:ext cx="3200400" cy="4114800"/>
          </a:xfrm>
          <a:prstGeom prst="rect">
            <a:avLst/>
          </a:prstGeom>
          <a:noFill/>
        </p:spPr>
        <p:txBody>
          <a:bodyPr wrap="square">
            <a:spAutoFit/>
          </a:bodyPr>
          <a:lstStyle/>
          <a:p>
            <a:pPr>
              <a:spcAft>
                <a:spcPts val="800"/>
              </a:spcAft>
            </a:pPr>
            <a:r>
              <a:rPr sz="1600">
                <a:solidFill>
                  <a:srgbClr val="2F302D"/>
                </a:solidFill>
                <a:latin typeface="Calibri"/>
              </a:rPr>
              <a:t>•  HTML5 for structure</a:t>
            </a:r>
          </a:p>
          <a:p>
            <a:pPr>
              <a:spcAft>
                <a:spcPts val="800"/>
              </a:spcAft>
            </a:pPr>
            <a:r>
              <a:rPr sz="1600">
                <a:solidFill>
                  <a:srgbClr val="2F302D"/>
                </a:solidFill>
                <a:latin typeface="Calibri"/>
              </a:rPr>
              <a:t>•  CSS for colours, fonts and layout</a:t>
            </a:r>
          </a:p>
          <a:p>
            <a:pPr>
              <a:spcAft>
                <a:spcPts val="800"/>
              </a:spcAft>
            </a:pPr>
            <a:r>
              <a:rPr sz="1600">
                <a:solidFill>
                  <a:srgbClr val="2F302D"/>
                </a:solidFill>
                <a:latin typeface="Calibri"/>
              </a:rPr>
              <a:t>•  JavaScript for the calculator, forms and menu</a:t>
            </a:r>
          </a:p>
          <a:p>
            <a:pPr>
              <a:spcAft>
                <a:spcPts val="800"/>
              </a:spcAft>
            </a:pPr>
            <a:r>
              <a:rPr sz="1600">
                <a:solidFill>
                  <a:srgbClr val="2F302D"/>
                </a:solidFill>
                <a:latin typeface="Calibri"/>
              </a:rPr>
              <a:t>•  Written in Visual Studio Code</a:t>
            </a:r>
          </a:p>
        </p:txBody>
      </p:sp>
      <p:sp>
        <p:nvSpPr>
          <p:cNvPr id="8" name="Rounded Rectangle 7"/>
          <p:cNvSpPr/>
          <p:nvPr/>
        </p:nvSpPr>
        <p:spPr>
          <a:xfrm>
            <a:off x="4434840" y="1828800"/>
            <a:ext cx="3566160" cy="4023360"/>
          </a:xfrm>
          <a:prstGeom prst="roundRect">
            <a:avLst>
              <a:gd name="adj" fmla="val 6000"/>
            </a:avLst>
          </a:prstGeom>
          <a:solidFill>
            <a:srgbClr val="B0E0E6"/>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1965960"/>
            <a:ext cx="3200400" cy="548640"/>
          </a:xfrm>
          <a:prstGeom prst="rect">
            <a:avLst/>
          </a:prstGeom>
          <a:noFill/>
        </p:spPr>
        <p:txBody>
          <a:bodyPr wrap="square" anchor="t" lIns="45720" rIns="45720">
            <a:spAutoFit/>
          </a:bodyPr>
          <a:lstStyle/>
          <a:p>
            <a:pPr algn="l">
              <a:spcAft>
                <a:spcPts val="600"/>
              </a:spcAft>
            </a:pPr>
            <a:r>
              <a:rPr sz="2400" b="1">
                <a:solidFill>
                  <a:srgbClr val="5A3E2B"/>
                </a:solidFill>
                <a:latin typeface="Book Antiqua"/>
              </a:rPr>
              <a:t>Android app</a:t>
            </a:r>
          </a:p>
        </p:txBody>
      </p:sp>
      <p:sp>
        <p:nvSpPr>
          <p:cNvPr id="10" name="TextBox 9"/>
          <p:cNvSpPr txBox="1"/>
          <p:nvPr/>
        </p:nvSpPr>
        <p:spPr>
          <a:xfrm>
            <a:off x="4617720" y="2651760"/>
            <a:ext cx="3200400" cy="4114800"/>
          </a:xfrm>
          <a:prstGeom prst="rect">
            <a:avLst/>
          </a:prstGeom>
          <a:noFill/>
        </p:spPr>
        <p:txBody>
          <a:bodyPr wrap="square">
            <a:spAutoFit/>
          </a:bodyPr>
          <a:lstStyle/>
          <a:p>
            <a:pPr>
              <a:spcAft>
                <a:spcPts val="800"/>
              </a:spcAft>
            </a:pPr>
            <a:r>
              <a:rPr sz="1600">
                <a:solidFill>
                  <a:srgbClr val="2F302D"/>
                </a:solidFill>
                <a:latin typeface="Calibri"/>
              </a:rPr>
              <a:t>•  Kotlin in Android Studio</a:t>
            </a:r>
          </a:p>
          <a:p>
            <a:pPr>
              <a:spcAft>
                <a:spcPts val="800"/>
              </a:spcAft>
            </a:pPr>
            <a:r>
              <a:rPr sz="1600">
                <a:solidFill>
                  <a:srgbClr val="2F302D"/>
                </a:solidFill>
                <a:latin typeface="Calibri"/>
              </a:rPr>
              <a:t>•  XML layouts for every screen</a:t>
            </a:r>
          </a:p>
          <a:p>
            <a:pPr>
              <a:spcAft>
                <a:spcPts val="800"/>
              </a:spcAft>
            </a:pPr>
            <a:r>
              <a:rPr sz="1600">
                <a:solidFill>
                  <a:srgbClr val="2F302D"/>
                </a:solidFill>
                <a:latin typeface="Calibri"/>
              </a:rPr>
              <a:t>•  One page per screen</a:t>
            </a:r>
          </a:p>
          <a:p>
            <a:pPr>
              <a:spcAft>
                <a:spcPts val="800"/>
              </a:spcAft>
            </a:pPr>
            <a:r>
              <a:rPr sz="1600">
                <a:solidFill>
                  <a:srgbClr val="2F302D"/>
                </a:solidFill>
                <a:latin typeface="Calibri"/>
              </a:rPr>
              <a:t>•  Tested in the Android emulator</a:t>
            </a:r>
          </a:p>
        </p:txBody>
      </p:sp>
      <p:sp>
        <p:nvSpPr>
          <p:cNvPr id="11" name="Rounded Rectangle 10"/>
          <p:cNvSpPr/>
          <p:nvPr/>
        </p:nvSpPr>
        <p:spPr>
          <a:xfrm>
            <a:off x="8229600" y="1828800"/>
            <a:ext cx="3566160" cy="402336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1965960"/>
            <a:ext cx="3200400" cy="548640"/>
          </a:xfrm>
          <a:prstGeom prst="rect">
            <a:avLst/>
          </a:prstGeom>
          <a:noFill/>
        </p:spPr>
        <p:txBody>
          <a:bodyPr wrap="square" anchor="t" lIns="45720" rIns="45720">
            <a:spAutoFit/>
          </a:bodyPr>
          <a:lstStyle/>
          <a:p>
            <a:pPr algn="l">
              <a:spcAft>
                <a:spcPts val="600"/>
              </a:spcAft>
            </a:pPr>
            <a:r>
              <a:rPr sz="2400" b="1">
                <a:solidFill>
                  <a:srgbClr val="5A3E2B"/>
                </a:solidFill>
                <a:latin typeface="Book Antiqua"/>
              </a:rPr>
              <a:t>Teamwork</a:t>
            </a:r>
          </a:p>
        </p:txBody>
      </p:sp>
      <p:sp>
        <p:nvSpPr>
          <p:cNvPr id="13" name="TextBox 12"/>
          <p:cNvSpPr txBox="1"/>
          <p:nvPr/>
        </p:nvSpPr>
        <p:spPr>
          <a:xfrm>
            <a:off x="8412480" y="2651760"/>
            <a:ext cx="3200400" cy="4114800"/>
          </a:xfrm>
          <a:prstGeom prst="rect">
            <a:avLst/>
          </a:prstGeom>
          <a:noFill/>
        </p:spPr>
        <p:txBody>
          <a:bodyPr wrap="square">
            <a:spAutoFit/>
          </a:bodyPr>
          <a:lstStyle/>
          <a:p>
            <a:pPr>
              <a:spcAft>
                <a:spcPts val="800"/>
              </a:spcAft>
            </a:pPr>
            <a:r>
              <a:rPr sz="1600">
                <a:solidFill>
                  <a:srgbClr val="2F302D"/>
                </a:solidFill>
                <a:latin typeface="Calibri"/>
              </a:rPr>
              <a:t>•  Figma for wireframes</a:t>
            </a:r>
          </a:p>
          <a:p>
            <a:pPr>
              <a:spcAft>
                <a:spcPts val="800"/>
              </a:spcAft>
            </a:pPr>
            <a:r>
              <a:rPr sz="1600">
                <a:solidFill>
                  <a:srgbClr val="2F302D"/>
                </a:solidFill>
                <a:latin typeface="Calibri"/>
              </a:rPr>
              <a:t>•  GitHub for version control</a:t>
            </a:r>
          </a:p>
          <a:p>
            <a:pPr>
              <a:spcAft>
                <a:spcPts val="800"/>
              </a:spcAft>
            </a:pPr>
            <a:r>
              <a:rPr sz="1600">
                <a:solidFill>
                  <a:srgbClr val="2F302D"/>
                </a:solidFill>
                <a:latin typeface="Calibri"/>
              </a:rPr>
              <a:t>•  Teams and WhatsApp for communication</a:t>
            </a:r>
          </a:p>
          <a:p>
            <a:pPr>
              <a:spcAft>
                <a:spcPts val="800"/>
              </a:spcAft>
            </a:pPr>
            <a:r>
              <a:rPr sz="1600">
                <a:solidFill>
                  <a:srgbClr val="2F302D"/>
                </a:solidFill>
                <a:latin typeface="Calibri"/>
              </a:rPr>
              <a:t>•  OneDrive and Drive for documents</a:t>
            </a:r>
          </a:p>
        </p:txBody>
      </p:sp>
      <p:sp>
        <p:nvSpPr>
          <p:cNvPr id="14" name="TextBox 13"/>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Kelebogile (suggested)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52"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childTnLst>
                                </p:cTn>
                              </p:par>
                              <p:par>
                                <p:cTn id="24" presetID="10" presetClass="entr" presetSubtype="0" fill="hold" nodeType="withEffect">
                                  <p:stCondLst>
                                    <p:cond delay="75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1000"/>
                                        <p:tgtEl>
                                          <p:spTgt spid="11"/>
                                        </p:tgtEl>
                                      </p:cBhvr>
                                    </p:animEffect>
                                  </p:childTnLst>
                                </p:cTn>
                              </p:par>
                              <p:par>
                                <p:cTn id="28" presetID="10" presetClass="entr" presetSubtype="0" fill="hold" nodeType="withEffect">
                                  <p:stCondLst>
                                    <p:cond delay="90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1000"/>
                                        <p:tgtEl>
                                          <p:spTgt spid="6"/>
                                        </p:tgtEl>
                                      </p:cBhvr>
                                    </p:animEffect>
                                  </p:childTnLst>
                                </p:cTn>
                              </p:par>
                              <p:par>
                                <p:cTn id="32" presetID="10" presetClass="entr" presetSubtype="0" fill="hold" nodeType="withEffect">
                                  <p:stCondLst>
                                    <p:cond delay="105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1000"/>
                                        <p:tgtEl>
                                          <p:spTgt spid="9"/>
                                        </p:tgtEl>
                                      </p:cBhvr>
                                    </p:animEffect>
                                  </p:childTnLst>
                                </p:cTn>
                              </p:par>
                              <p:par>
                                <p:cTn id="36" presetID="10" presetClass="entr" presetSubtype="0" fill="hold" nodeType="withEffect">
                                  <p:stCondLst>
                                    <p:cond delay="120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1000"/>
                                        <p:tgtEl>
                                          <p:spTgt spid="12"/>
                                        </p:tgtEl>
                                      </p:cBhvr>
                                    </p:animEffect>
                                  </p:childTnLst>
                                </p:cTn>
                              </p:par>
                              <p:par>
                                <p:cTn id="40" presetID="10" presetClass="entr" presetSubtype="0" fill="hold" nodeType="withEffect">
                                  <p:stCondLst>
                                    <p:cond delay="135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1000"/>
                                        <p:tgtEl>
                                          <p:spTgt spid="7"/>
                                        </p:tgtEl>
                                      </p:cBhvr>
                                    </p:animEffect>
                                  </p:childTnLst>
                                </p:cTn>
                              </p:par>
                              <p:par>
                                <p:cTn id="44" presetID="10" presetClass="entr" presetSubtype="0" fill="hold" nodeType="withEffect">
                                  <p:stCondLst>
                                    <p:cond delay="150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1000"/>
                                        <p:tgtEl>
                                          <p:spTgt spid="10"/>
                                        </p:tgtEl>
                                      </p:cBhvr>
                                    </p:animEffect>
                                  </p:childTnLst>
                                </p:cTn>
                              </p:par>
                              <p:par>
                                <p:cTn id="48" presetID="10" presetClass="entr" presetSubtype="0" fill="hold" nodeType="withEffect">
                                  <p:stCondLst>
                                    <p:cond delay="165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The website</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Home page, course overview and About Us</a:t>
            </a:r>
          </a:p>
        </p:txBody>
      </p:sp>
      <p:pic>
        <p:nvPicPr>
          <p:cNvPr id="5" name="Picture 4" descr="web_home.png"/>
          <p:cNvPicPr>
            <a:picLocks noChangeAspect="1"/>
          </p:cNvPicPr>
          <p:nvPr/>
        </p:nvPicPr>
        <p:blipFill>
          <a:blip r:embed="rId2"/>
          <a:stretch>
            <a:fillRect/>
          </a:stretch>
        </p:blipFill>
        <p:spPr>
          <a:xfrm>
            <a:off x="548640" y="2437447"/>
            <a:ext cx="3611880" cy="2257425"/>
          </a:xfrm>
          <a:prstGeom prst="rect">
            <a:avLst/>
          </a:prstGeom>
          <a:ln w="15875">
            <a:solidFill>
              <a:srgbClr val="C68B59"/>
            </a:solidFill>
          </a:ln>
        </p:spPr>
      </p:pic>
      <p:sp>
        <p:nvSpPr>
          <p:cNvPr id="6" name="Rounded Rectangle 5"/>
          <p:cNvSpPr/>
          <p:nvPr/>
        </p:nvSpPr>
        <p:spPr>
          <a:xfrm>
            <a:off x="1645919" y="5486400"/>
            <a:ext cx="1371600" cy="365760"/>
          </a:xfrm>
          <a:prstGeom prst="roundRect">
            <a:avLst>
              <a:gd name="adj" fmla="val 50000"/>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libri"/>
              </a:rPr>
              <a:t>Home</a:t>
            </a:r>
          </a:p>
        </p:txBody>
      </p:sp>
      <p:pic>
        <p:nvPicPr>
          <p:cNvPr id="7" name="Picture 6" descr="web_courses.png"/>
          <p:cNvPicPr>
            <a:picLocks noChangeAspect="1"/>
          </p:cNvPicPr>
          <p:nvPr/>
        </p:nvPicPr>
        <p:blipFill>
          <a:blip r:embed="rId3"/>
          <a:stretch>
            <a:fillRect/>
          </a:stretch>
        </p:blipFill>
        <p:spPr>
          <a:xfrm>
            <a:off x="4343400" y="1943635"/>
            <a:ext cx="3611880" cy="3245048"/>
          </a:xfrm>
          <a:prstGeom prst="rect">
            <a:avLst/>
          </a:prstGeom>
          <a:ln w="15875">
            <a:solidFill>
              <a:srgbClr val="C68B59"/>
            </a:solidFill>
          </a:ln>
        </p:spPr>
      </p:pic>
      <p:sp>
        <p:nvSpPr>
          <p:cNvPr id="8" name="Rounded Rectangle 7"/>
          <p:cNvSpPr/>
          <p:nvPr/>
        </p:nvSpPr>
        <p:spPr>
          <a:xfrm>
            <a:off x="5440680" y="5486400"/>
            <a:ext cx="1371600" cy="365760"/>
          </a:xfrm>
          <a:prstGeom prst="roundRect">
            <a:avLst>
              <a:gd name="adj" fmla="val 50000"/>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libri"/>
              </a:rPr>
              <a:t>Courses</a:t>
            </a:r>
          </a:p>
        </p:txBody>
      </p:sp>
      <p:pic>
        <p:nvPicPr>
          <p:cNvPr id="9" name="Picture 8" descr="web_about.png"/>
          <p:cNvPicPr>
            <a:picLocks noChangeAspect="1"/>
          </p:cNvPicPr>
          <p:nvPr/>
        </p:nvPicPr>
        <p:blipFill>
          <a:blip r:embed="rId4"/>
          <a:stretch>
            <a:fillRect/>
          </a:stretch>
        </p:blipFill>
        <p:spPr>
          <a:xfrm>
            <a:off x="8138160" y="2437447"/>
            <a:ext cx="3611880" cy="2257425"/>
          </a:xfrm>
          <a:prstGeom prst="rect">
            <a:avLst/>
          </a:prstGeom>
          <a:ln w="15875">
            <a:solidFill>
              <a:srgbClr val="C68B59"/>
            </a:solidFill>
          </a:ln>
        </p:spPr>
      </p:pic>
      <p:sp>
        <p:nvSpPr>
          <p:cNvPr id="10" name="Rounded Rectangle 9"/>
          <p:cNvSpPr/>
          <p:nvPr/>
        </p:nvSpPr>
        <p:spPr>
          <a:xfrm>
            <a:off x="9235440" y="5486400"/>
            <a:ext cx="1371600" cy="365760"/>
          </a:xfrm>
          <a:prstGeom prst="roundRect">
            <a:avLst>
              <a:gd name="adj" fmla="val 50000"/>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libri"/>
              </a:rPr>
              <a:t>About Us</a:t>
            </a:r>
          </a:p>
        </p:txBody>
      </p:sp>
      <p:sp>
        <p:nvSpPr>
          <p:cNvPr id="11" name="TextBox 10"/>
          <p:cNvSpPr txBox="1"/>
          <p:nvPr/>
        </p:nvSpPr>
        <p:spPr>
          <a:xfrm>
            <a:off x="548640" y="5989320"/>
            <a:ext cx="11155680" cy="548640"/>
          </a:xfrm>
          <a:prstGeom prst="rect">
            <a:avLst/>
          </a:prstGeom>
          <a:noFill/>
        </p:spPr>
        <p:txBody>
          <a:bodyPr wrap="square" anchor="t" lIns="45720" rIns="45720">
            <a:spAutoFit/>
          </a:bodyPr>
          <a:lstStyle/>
          <a:p>
            <a:pPr algn="l">
              <a:spcAft>
                <a:spcPts val="600"/>
              </a:spcAft>
            </a:pPr>
            <a:r>
              <a:rPr sz="1400" b="0">
                <a:solidFill>
                  <a:srgbClr val="5A3E2B"/>
                </a:solidFill>
                <a:latin typeface="Calibri"/>
              </a:rPr>
              <a:t>A persistent top bar, tan buttons, powder blue highlights and the same logo throughout. On small screens the menu becomes a drop-down.</a:t>
            </a:r>
          </a:p>
        </p:txBody>
      </p:sp>
      <p:sp>
        <p:nvSpPr>
          <p:cNvPr id="12" name="TextBox 11"/>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Kelebogile (suggested)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4"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1000"/>
                                        <p:tgtEl>
                                          <p:spTgt spid="7"/>
                                        </p:tgtEl>
                                      </p:cBhvr>
                                    </p:animEffect>
                                  </p:childTnLst>
                                </p:cTn>
                              </p:par>
                              <p:par>
                                <p:cTn id="20" presetID="10" presetClass="entr" presetSubtype="0" fill="hold" nodeType="withEffect">
                                  <p:stCondLst>
                                    <p:cond delay="60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childTnLst>
                                </p:cTn>
                              </p:par>
                              <p:par>
                                <p:cTn id="24" presetID="10" presetClass="entr" presetSubtype="0" fill="hold" nodeType="withEffect">
                                  <p:stCondLst>
                                    <p:cond delay="75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1000"/>
                                        <p:tgtEl>
                                          <p:spTgt spid="9"/>
                                        </p:tgtEl>
                                      </p:cBhvr>
                                    </p:animEffect>
                                  </p:childTnLst>
                                </p:cTn>
                              </p:par>
                              <p:par>
                                <p:cTn id="28" presetID="10" presetClass="entr" presetSubtype="0" fill="hold" nodeType="withEffect">
                                  <p:stCondLst>
                                    <p:cond delay="90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1000"/>
                                        <p:tgtEl>
                                          <p:spTgt spid="6"/>
                                        </p:tgtEl>
                                      </p:cBhvr>
                                    </p:animEffect>
                                  </p:childTnLst>
                                </p:cTn>
                              </p:par>
                              <p:par>
                                <p:cTn id="32" presetID="10" presetClass="entr" presetSubtype="0" fill="hold" nodeType="withEffect">
                                  <p:stCondLst>
                                    <p:cond delay="105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childTnLst>
                                </p:cTn>
                              </p:par>
                              <p:par>
                                <p:cTn id="36" presetID="10" presetClass="entr" presetSubtype="0" fill="hold" nodeType="withEffect">
                                  <p:stCondLst>
                                    <p:cond delay="120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1000"/>
                                        <p:tgtEl>
                                          <p:spTgt spid="10"/>
                                        </p:tgtEl>
                                      </p:cBhvr>
                                    </p:animEffect>
                                  </p:childTnLst>
                                </p:cTn>
                              </p:par>
                              <p:par>
                                <p:cTn id="40" presetID="10" presetClass="entr" presetSubtype="0" fill="hold" nodeType="withEffect">
                                  <p:stCondLst>
                                    <p:cond delay="135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Course detail pages and Contact Us</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Every course has its own page; Contact Us has a map and a message form</a:t>
            </a:r>
          </a:p>
        </p:txBody>
      </p:sp>
      <p:pic>
        <p:nvPicPr>
          <p:cNvPr id="5" name="Picture 4" descr="web_detail.png"/>
          <p:cNvPicPr>
            <a:picLocks noChangeAspect="1"/>
          </p:cNvPicPr>
          <p:nvPr/>
        </p:nvPicPr>
        <p:blipFill>
          <a:blip r:embed="rId2"/>
          <a:stretch>
            <a:fillRect/>
          </a:stretch>
        </p:blipFill>
        <p:spPr>
          <a:xfrm>
            <a:off x="548640" y="2125980"/>
            <a:ext cx="5486400" cy="3429000"/>
          </a:xfrm>
          <a:prstGeom prst="rect">
            <a:avLst/>
          </a:prstGeom>
          <a:ln w="15875">
            <a:solidFill>
              <a:srgbClr val="C68B59"/>
            </a:solidFill>
          </a:ln>
        </p:spPr>
      </p:pic>
      <p:pic>
        <p:nvPicPr>
          <p:cNvPr id="6" name="Picture 5" descr="web_contact.png"/>
          <p:cNvPicPr>
            <a:picLocks noChangeAspect="1"/>
          </p:cNvPicPr>
          <p:nvPr/>
        </p:nvPicPr>
        <p:blipFill>
          <a:blip r:embed="rId3"/>
          <a:stretch>
            <a:fillRect/>
          </a:stretch>
        </p:blipFill>
        <p:spPr>
          <a:xfrm>
            <a:off x="6309360" y="2125980"/>
            <a:ext cx="5486400" cy="3429000"/>
          </a:xfrm>
          <a:prstGeom prst="rect">
            <a:avLst/>
          </a:prstGeom>
          <a:ln w="15875">
            <a:solidFill>
              <a:srgbClr val="C68B59"/>
            </a:solidFill>
          </a:ln>
        </p:spPr>
      </p:pic>
      <p:sp>
        <p:nvSpPr>
          <p:cNvPr id="7" name="TextBox 6"/>
          <p:cNvSpPr txBox="1"/>
          <p:nvPr/>
        </p:nvSpPr>
        <p:spPr>
          <a:xfrm>
            <a:off x="548640" y="5989320"/>
            <a:ext cx="11155680" cy="548640"/>
          </a:xfrm>
          <a:prstGeom prst="rect">
            <a:avLst/>
          </a:prstGeom>
          <a:noFill/>
        </p:spPr>
        <p:txBody>
          <a:bodyPr wrap="square" anchor="t" lIns="45720" rIns="45720">
            <a:spAutoFit/>
          </a:bodyPr>
          <a:lstStyle/>
          <a:p>
            <a:pPr algn="l">
              <a:spcAft>
                <a:spcPts val="600"/>
              </a:spcAft>
            </a:pPr>
            <a:r>
              <a:rPr sz="1400" b="0">
                <a:solidFill>
                  <a:srgbClr val="5A3E2B"/>
                </a:solidFill>
                <a:latin typeface="Calibri"/>
              </a:rPr>
              <a:t>Left: course detail page. Right: Contact Us on the finished website.</a:t>
            </a:r>
          </a:p>
        </p:txBody>
      </p:sp>
      <p:sp>
        <p:nvSpPr>
          <p:cNvPr id="8" name="TextBox 7"/>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Kelebogile (suggested)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28"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childTnLst>
                                </p:cTn>
                              </p:par>
                              <p:par>
                                <p:cTn id="24" presetID="10" presetClass="entr" presetSubtype="0" fill="hold" nodeType="withEffect">
                                  <p:stCondLst>
                                    <p:cond delay="75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The mobile app</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A native Android app in Kotlin that mirrors the website</a:t>
            </a:r>
          </a:p>
        </p:txBody>
      </p:sp>
      <p:pic>
        <p:nvPicPr>
          <p:cNvPr id="5" name="Picture 4" descr="hi_mob_splash.jpg"/>
          <p:cNvPicPr>
            <a:picLocks noChangeAspect="1"/>
          </p:cNvPicPr>
          <p:nvPr/>
        </p:nvPicPr>
        <p:blipFill>
          <a:blip r:embed="rId2"/>
          <a:stretch>
            <a:fillRect/>
          </a:stretch>
        </p:blipFill>
        <p:spPr>
          <a:xfrm>
            <a:off x="548640" y="1822703"/>
            <a:ext cx="1188720" cy="2572512"/>
          </a:xfrm>
          <a:prstGeom prst="rect">
            <a:avLst/>
          </a:prstGeom>
          <a:ln w="15875">
            <a:solidFill>
              <a:srgbClr val="C68B59"/>
            </a:solidFill>
          </a:ln>
        </p:spPr>
      </p:pic>
      <p:pic>
        <p:nvPicPr>
          <p:cNvPr id="6" name="Picture 5" descr="hi_mob_home.jpg"/>
          <p:cNvPicPr>
            <a:picLocks noChangeAspect="1"/>
          </p:cNvPicPr>
          <p:nvPr/>
        </p:nvPicPr>
        <p:blipFill>
          <a:blip r:embed="rId3"/>
          <a:stretch>
            <a:fillRect/>
          </a:stretch>
        </p:blipFill>
        <p:spPr>
          <a:xfrm>
            <a:off x="1874519" y="1822703"/>
            <a:ext cx="1188720" cy="2572512"/>
          </a:xfrm>
          <a:prstGeom prst="rect">
            <a:avLst/>
          </a:prstGeom>
          <a:ln w="15875">
            <a:solidFill>
              <a:srgbClr val="C68B59"/>
            </a:solidFill>
          </a:ln>
        </p:spPr>
      </p:pic>
      <p:pic>
        <p:nvPicPr>
          <p:cNvPr id="7" name="Picture 6" descr="hi_mob_summary.jpg"/>
          <p:cNvPicPr>
            <a:picLocks noChangeAspect="1"/>
          </p:cNvPicPr>
          <p:nvPr/>
        </p:nvPicPr>
        <p:blipFill>
          <a:blip r:embed="rId4"/>
          <a:stretch>
            <a:fillRect/>
          </a:stretch>
        </p:blipFill>
        <p:spPr>
          <a:xfrm>
            <a:off x="3200400" y="1827275"/>
            <a:ext cx="1188720" cy="2563368"/>
          </a:xfrm>
          <a:prstGeom prst="rect">
            <a:avLst/>
          </a:prstGeom>
          <a:ln w="15875">
            <a:solidFill>
              <a:srgbClr val="C68B59"/>
            </a:solidFill>
          </a:ln>
        </p:spPr>
      </p:pic>
      <p:pic>
        <p:nvPicPr>
          <p:cNvPr id="8" name="Picture 7" descr="hi_mob_detail.jpg"/>
          <p:cNvPicPr>
            <a:picLocks noChangeAspect="1"/>
          </p:cNvPicPr>
          <p:nvPr/>
        </p:nvPicPr>
        <p:blipFill>
          <a:blip r:embed="rId5"/>
          <a:stretch>
            <a:fillRect/>
          </a:stretch>
        </p:blipFill>
        <p:spPr>
          <a:xfrm>
            <a:off x="4526279" y="1834896"/>
            <a:ext cx="1188720" cy="2548128"/>
          </a:xfrm>
          <a:prstGeom prst="rect">
            <a:avLst/>
          </a:prstGeom>
          <a:ln w="15875">
            <a:solidFill>
              <a:srgbClr val="C68B59"/>
            </a:solidFill>
          </a:ln>
        </p:spPr>
      </p:pic>
      <p:pic>
        <p:nvPicPr>
          <p:cNvPr id="9" name="Picture 8" descr="hi_mob_fees.jpg"/>
          <p:cNvPicPr>
            <a:picLocks noChangeAspect="1"/>
          </p:cNvPicPr>
          <p:nvPr/>
        </p:nvPicPr>
        <p:blipFill>
          <a:blip r:embed="rId6"/>
          <a:stretch>
            <a:fillRect/>
          </a:stretch>
        </p:blipFill>
        <p:spPr>
          <a:xfrm>
            <a:off x="5852159" y="1787651"/>
            <a:ext cx="1188720" cy="2642616"/>
          </a:xfrm>
          <a:prstGeom prst="rect">
            <a:avLst/>
          </a:prstGeom>
          <a:ln w="15875">
            <a:solidFill>
              <a:srgbClr val="C68B59"/>
            </a:solidFill>
          </a:ln>
        </p:spPr>
      </p:pic>
      <p:pic>
        <p:nvPicPr>
          <p:cNvPr id="10" name="Picture 9" descr="hi_mob_contact.jpg"/>
          <p:cNvPicPr>
            <a:picLocks noChangeAspect="1"/>
          </p:cNvPicPr>
          <p:nvPr/>
        </p:nvPicPr>
        <p:blipFill>
          <a:blip r:embed="rId7"/>
          <a:stretch>
            <a:fillRect/>
          </a:stretch>
        </p:blipFill>
        <p:spPr>
          <a:xfrm>
            <a:off x="7178040" y="1783080"/>
            <a:ext cx="1188720" cy="2651760"/>
          </a:xfrm>
          <a:prstGeom prst="rect">
            <a:avLst/>
          </a:prstGeom>
          <a:ln w="15875">
            <a:solidFill>
              <a:srgbClr val="C68B59"/>
            </a:solidFill>
          </a:ln>
        </p:spPr>
      </p:pic>
      <p:sp>
        <p:nvSpPr>
          <p:cNvPr id="11" name="TextBox 10"/>
          <p:cNvSpPr txBox="1"/>
          <p:nvPr/>
        </p:nvSpPr>
        <p:spPr>
          <a:xfrm>
            <a:off x="548640" y="4572000"/>
            <a:ext cx="11155680" cy="4114800"/>
          </a:xfrm>
          <a:prstGeom prst="rect">
            <a:avLst/>
          </a:prstGeom>
          <a:noFill/>
        </p:spPr>
        <p:txBody>
          <a:bodyPr wrap="square">
            <a:spAutoFit/>
          </a:bodyPr>
          <a:lstStyle/>
          <a:p>
            <a:pPr>
              <a:spcAft>
                <a:spcPts val="600"/>
              </a:spcAft>
            </a:pPr>
            <a:r>
              <a:rPr sz="1500">
                <a:solidFill>
                  <a:srgbClr val="2F302D"/>
                </a:solidFill>
                <a:latin typeface="Calibri"/>
              </a:rPr>
              <a:t>•  Bottom bar: Home, Courses, Fees and Contact. About Us and Pricing sit in a top menu</a:t>
            </a:r>
          </a:p>
          <a:p>
            <a:pPr>
              <a:spcAft>
                <a:spcPts val="600"/>
              </a:spcAft>
            </a:pPr>
            <a:r>
              <a:rPr sz="1500">
                <a:solidFill>
                  <a:srgbClr val="2F302D"/>
                </a:solidFill>
                <a:latin typeface="Calibri"/>
              </a:rPr>
              <a:t>•  Each screen is its own page with an XML layout; shared course data keeps the website and app consistent</a:t>
            </a:r>
          </a:p>
          <a:p>
            <a:pPr>
              <a:spcAft>
                <a:spcPts val="600"/>
              </a:spcAft>
            </a:pPr>
            <a:r>
              <a:rPr sz="1500">
                <a:solidFill>
                  <a:srgbClr val="2F302D"/>
                </a:solidFill>
                <a:latin typeface="Calibri"/>
              </a:rPr>
              <a:t>•  Screens shown are the high-fidelity designs from Figma; the finished app follows them and lists all 7 courses</a:t>
            </a:r>
          </a:p>
        </p:txBody>
      </p:sp>
      <p:sp>
        <p:nvSpPr>
          <p:cNvPr id="12" name="TextBox 11"/>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Theolin (suggested)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4"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1000"/>
                                        <p:tgtEl>
                                          <p:spTgt spid="10"/>
                                        </p:tgtEl>
                                      </p:cBhvr>
                                    </p:animEffect>
                                  </p:childTnLst>
                                </p:cTn>
                              </p:par>
                              <p:par>
                                <p:cTn id="20" presetID="10" presetClass="entr" presetSubtype="0" fill="hold" nodeType="withEffect">
                                  <p:stCondLst>
                                    <p:cond delay="60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childTnLst>
                                </p:cTn>
                              </p:par>
                              <p:par>
                                <p:cTn id="24" presetID="10" presetClass="entr" presetSubtype="0" fill="hold" nodeType="withEffect">
                                  <p:stCondLst>
                                    <p:cond delay="75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childTnLst>
                                </p:cTn>
                              </p:par>
                              <p:par>
                                <p:cTn id="28" presetID="10" presetClass="entr" presetSubtype="0" fill="hold" nodeType="withEffect">
                                  <p:stCondLst>
                                    <p:cond delay="90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1000"/>
                                        <p:tgtEl>
                                          <p:spTgt spid="7"/>
                                        </p:tgtEl>
                                      </p:cBhvr>
                                    </p:animEffect>
                                  </p:childTnLst>
                                </p:cTn>
                              </p:par>
                              <p:par>
                                <p:cTn id="32" presetID="10" presetClass="entr" presetSubtype="0" fill="hold" nodeType="withEffect">
                                  <p:stCondLst>
                                    <p:cond delay="105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childTnLst>
                                </p:cTn>
                              </p:par>
                              <p:par>
                                <p:cTn id="36" presetID="10" presetClass="entr" presetSubtype="0" fill="hold" nodeType="withEffect">
                                  <p:stCondLst>
                                    <p:cond delay="12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1000"/>
                                        <p:tgtEl>
                                          <p:spTgt spid="9"/>
                                        </p:tgtEl>
                                      </p:cBhvr>
                                    </p:animEffect>
                                  </p:childTnLst>
                                </p:cTn>
                              </p:par>
                              <p:par>
                                <p:cTn id="40" presetID="10" presetClass="entr" presetSubtype="0" fill="hold" nodeType="withEffect">
                                  <p:stCondLst>
                                    <p:cond delay="135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Design choices: colour and type</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Soft, warm and easy on the eyes, on the website and in the app</a:t>
            </a:r>
          </a:p>
        </p:txBody>
      </p:sp>
      <p:sp>
        <p:nvSpPr>
          <p:cNvPr id="5" name="Rounded Rectangle 4"/>
          <p:cNvSpPr/>
          <p:nvPr/>
        </p:nvSpPr>
        <p:spPr>
          <a:xfrm>
            <a:off x="640080" y="1783080"/>
            <a:ext cx="2331720" cy="1554480"/>
          </a:xfrm>
          <a:prstGeom prst="roundRect">
            <a:avLst>
              <a:gd name="adj" fmla="val 6000"/>
            </a:avLst>
          </a:prstGeom>
          <a:solidFill>
            <a:srgbClr val="FFFDD0"/>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20240"/>
            <a:ext cx="2103120" cy="457200"/>
          </a:xfrm>
          <a:prstGeom prst="rect">
            <a:avLst/>
          </a:prstGeom>
          <a:noFill/>
        </p:spPr>
        <p:txBody>
          <a:bodyPr wrap="square" anchor="t" lIns="45720" rIns="45720">
            <a:spAutoFit/>
          </a:bodyPr>
          <a:lstStyle/>
          <a:p>
            <a:pPr algn="l">
              <a:spcAft>
                <a:spcPts val="600"/>
              </a:spcAft>
            </a:pPr>
            <a:r>
              <a:rPr sz="2000" b="1">
                <a:solidFill>
                  <a:srgbClr val="2F302D"/>
                </a:solidFill>
                <a:latin typeface="Book Antiqua"/>
              </a:rPr>
              <a:t>Cream</a:t>
            </a:r>
          </a:p>
        </p:txBody>
      </p:sp>
      <p:sp>
        <p:nvSpPr>
          <p:cNvPr id="7" name="TextBox 6"/>
          <p:cNvSpPr txBox="1"/>
          <p:nvPr/>
        </p:nvSpPr>
        <p:spPr>
          <a:xfrm>
            <a:off x="777240" y="2423160"/>
            <a:ext cx="2103120" cy="36576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#FFFDD0</a:t>
            </a:r>
          </a:p>
        </p:txBody>
      </p:sp>
      <p:sp>
        <p:nvSpPr>
          <p:cNvPr id="8" name="TextBox 7"/>
          <p:cNvSpPr txBox="1"/>
          <p:nvPr/>
        </p:nvSpPr>
        <p:spPr>
          <a:xfrm>
            <a:off x="640080" y="3429000"/>
            <a:ext cx="2331720" cy="914400"/>
          </a:xfrm>
          <a:prstGeom prst="rect">
            <a:avLst/>
          </a:prstGeom>
          <a:noFill/>
        </p:spPr>
        <p:txBody>
          <a:bodyPr wrap="square" anchor="t" lIns="45720" rIns="45720">
            <a:spAutoFit/>
          </a:bodyPr>
          <a:lstStyle/>
          <a:p>
            <a:pPr algn="l">
              <a:spcAft>
                <a:spcPts val="600"/>
              </a:spcAft>
            </a:pPr>
            <a:r>
              <a:rPr sz="1400" b="0">
                <a:solidFill>
                  <a:srgbClr val="2F302D"/>
                </a:solidFill>
                <a:latin typeface="Calibri"/>
              </a:rPr>
              <a:t>Main backgrounds. Soft and warm.</a:t>
            </a:r>
          </a:p>
        </p:txBody>
      </p:sp>
      <p:sp>
        <p:nvSpPr>
          <p:cNvPr id="9" name="Rounded Rectangle 8"/>
          <p:cNvSpPr/>
          <p:nvPr/>
        </p:nvSpPr>
        <p:spPr>
          <a:xfrm>
            <a:off x="3154680" y="1783080"/>
            <a:ext cx="2331720" cy="1554480"/>
          </a:xfrm>
          <a:prstGeom prst="roundRect">
            <a:avLst>
              <a:gd name="adj" fmla="val 6000"/>
            </a:avLst>
          </a:prstGeom>
          <a:solidFill>
            <a:srgbClr val="B0E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91840" y="1920240"/>
            <a:ext cx="2103120" cy="457200"/>
          </a:xfrm>
          <a:prstGeom prst="rect">
            <a:avLst/>
          </a:prstGeom>
          <a:noFill/>
        </p:spPr>
        <p:txBody>
          <a:bodyPr wrap="square" anchor="t" lIns="45720" rIns="45720">
            <a:spAutoFit/>
          </a:bodyPr>
          <a:lstStyle/>
          <a:p>
            <a:pPr algn="l">
              <a:spcAft>
                <a:spcPts val="600"/>
              </a:spcAft>
            </a:pPr>
            <a:r>
              <a:rPr sz="2000" b="1">
                <a:solidFill>
                  <a:srgbClr val="2F302D"/>
                </a:solidFill>
                <a:latin typeface="Book Antiqua"/>
              </a:rPr>
              <a:t>Powder Blue</a:t>
            </a:r>
          </a:p>
        </p:txBody>
      </p:sp>
      <p:sp>
        <p:nvSpPr>
          <p:cNvPr id="11" name="TextBox 10"/>
          <p:cNvSpPr txBox="1"/>
          <p:nvPr/>
        </p:nvSpPr>
        <p:spPr>
          <a:xfrm>
            <a:off x="3291840" y="2423160"/>
            <a:ext cx="2103120" cy="36576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#B0E0E6</a:t>
            </a:r>
          </a:p>
        </p:txBody>
      </p:sp>
      <p:sp>
        <p:nvSpPr>
          <p:cNvPr id="12" name="TextBox 11"/>
          <p:cNvSpPr txBox="1"/>
          <p:nvPr/>
        </p:nvSpPr>
        <p:spPr>
          <a:xfrm>
            <a:off x="3154680" y="3429000"/>
            <a:ext cx="2331720" cy="914400"/>
          </a:xfrm>
          <a:prstGeom prst="rect">
            <a:avLst/>
          </a:prstGeom>
          <a:noFill/>
        </p:spPr>
        <p:txBody>
          <a:bodyPr wrap="square" anchor="t" lIns="45720" rIns="45720">
            <a:spAutoFit/>
          </a:bodyPr>
          <a:lstStyle/>
          <a:p>
            <a:pPr algn="l">
              <a:spcAft>
                <a:spcPts val="600"/>
              </a:spcAft>
            </a:pPr>
            <a:r>
              <a:rPr sz="1400" b="0">
                <a:solidFill>
                  <a:srgbClr val="2F302D"/>
                </a:solidFill>
                <a:latin typeface="Calibri"/>
              </a:rPr>
              <a:t>Cards and sections that group information.</a:t>
            </a:r>
          </a:p>
        </p:txBody>
      </p:sp>
      <p:sp>
        <p:nvSpPr>
          <p:cNvPr id="13" name="Rounded Rectangle 12"/>
          <p:cNvSpPr/>
          <p:nvPr/>
        </p:nvSpPr>
        <p:spPr>
          <a:xfrm>
            <a:off x="5669280" y="1783080"/>
            <a:ext cx="2331720" cy="1554480"/>
          </a:xfrm>
          <a:prstGeom prst="roundRect">
            <a:avLst>
              <a:gd name="adj" fmla="val 6000"/>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06440" y="1920240"/>
            <a:ext cx="2103120" cy="457200"/>
          </a:xfrm>
          <a:prstGeom prst="rect">
            <a:avLst/>
          </a:prstGeom>
          <a:noFill/>
        </p:spPr>
        <p:txBody>
          <a:bodyPr wrap="square" anchor="t" lIns="45720" rIns="45720">
            <a:spAutoFit/>
          </a:bodyPr>
          <a:lstStyle/>
          <a:p>
            <a:pPr algn="l">
              <a:spcAft>
                <a:spcPts val="600"/>
              </a:spcAft>
            </a:pPr>
            <a:r>
              <a:rPr sz="2000" b="1">
                <a:solidFill>
                  <a:srgbClr val="FFFFFF"/>
                </a:solidFill>
                <a:latin typeface="Book Antiqua"/>
              </a:rPr>
              <a:t>Tan</a:t>
            </a:r>
          </a:p>
        </p:txBody>
      </p:sp>
      <p:sp>
        <p:nvSpPr>
          <p:cNvPr id="15" name="TextBox 14"/>
          <p:cNvSpPr txBox="1"/>
          <p:nvPr/>
        </p:nvSpPr>
        <p:spPr>
          <a:xfrm>
            <a:off x="5806440" y="2423160"/>
            <a:ext cx="2103120" cy="365760"/>
          </a:xfrm>
          <a:prstGeom prst="rect">
            <a:avLst/>
          </a:prstGeom>
          <a:noFill/>
        </p:spPr>
        <p:txBody>
          <a:bodyPr wrap="square" anchor="t" lIns="45720" rIns="45720">
            <a:spAutoFit/>
          </a:bodyPr>
          <a:lstStyle/>
          <a:p>
            <a:pPr algn="l">
              <a:spcAft>
                <a:spcPts val="600"/>
              </a:spcAft>
            </a:pPr>
            <a:r>
              <a:rPr sz="1600" b="0">
                <a:solidFill>
                  <a:srgbClr val="FFFFFF"/>
                </a:solidFill>
                <a:latin typeface="Calibri"/>
              </a:rPr>
              <a:t>#C68B59</a:t>
            </a:r>
          </a:p>
        </p:txBody>
      </p:sp>
      <p:sp>
        <p:nvSpPr>
          <p:cNvPr id="16" name="TextBox 15"/>
          <p:cNvSpPr txBox="1"/>
          <p:nvPr/>
        </p:nvSpPr>
        <p:spPr>
          <a:xfrm>
            <a:off x="5669280" y="3429000"/>
            <a:ext cx="2331720" cy="914400"/>
          </a:xfrm>
          <a:prstGeom prst="rect">
            <a:avLst/>
          </a:prstGeom>
          <a:noFill/>
        </p:spPr>
        <p:txBody>
          <a:bodyPr wrap="square" anchor="t" lIns="45720" rIns="45720">
            <a:spAutoFit/>
          </a:bodyPr>
          <a:lstStyle/>
          <a:p>
            <a:pPr algn="l">
              <a:spcAft>
                <a:spcPts val="600"/>
              </a:spcAft>
            </a:pPr>
            <a:r>
              <a:rPr sz="1400" b="0">
                <a:solidFill>
                  <a:srgbClr val="2F302D"/>
                </a:solidFill>
                <a:latin typeface="Calibri"/>
              </a:rPr>
              <a:t>Actions only: buttons, borders, highlights.</a:t>
            </a:r>
          </a:p>
        </p:txBody>
      </p:sp>
      <p:sp>
        <p:nvSpPr>
          <p:cNvPr id="17" name="TextBox 16"/>
          <p:cNvSpPr txBox="1"/>
          <p:nvPr/>
        </p:nvSpPr>
        <p:spPr>
          <a:xfrm>
            <a:off x="640080" y="4572000"/>
            <a:ext cx="7315200" cy="1097280"/>
          </a:xfrm>
          <a:prstGeom prst="rect">
            <a:avLst/>
          </a:prstGeom>
          <a:noFill/>
        </p:spPr>
        <p:txBody>
          <a:bodyPr wrap="square" anchor="t" lIns="45720" rIns="45720">
            <a:spAutoFit/>
          </a:bodyPr>
          <a:lstStyle/>
          <a:p>
            <a:pPr algn="l">
              <a:spcAft>
                <a:spcPts val="600"/>
              </a:spcAft>
            </a:pPr>
            <a:r>
              <a:rPr sz="1600" b="0">
                <a:solidFill>
                  <a:srgbClr val="5A3E2B"/>
                </a:solidFill>
                <a:latin typeface="Calibri"/>
              </a:rPr>
              <a:t>Tan is kept for things people click, so the eye goes straight to the next step. Cream and blue carry everything else.</a:t>
            </a:r>
          </a:p>
        </p:txBody>
      </p:sp>
      <p:sp>
        <p:nvSpPr>
          <p:cNvPr id="18" name="Rounded Rectangle 17"/>
          <p:cNvSpPr/>
          <p:nvPr/>
        </p:nvSpPr>
        <p:spPr>
          <a:xfrm>
            <a:off x="8229600" y="1783080"/>
            <a:ext cx="3383280" cy="384048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1874519"/>
            <a:ext cx="3017520" cy="457200"/>
          </a:xfrm>
          <a:prstGeom prst="rect">
            <a:avLst/>
          </a:prstGeom>
          <a:noFill/>
        </p:spPr>
        <p:txBody>
          <a:bodyPr wrap="square" anchor="t" lIns="45720" rIns="45720">
            <a:spAutoFit/>
          </a:bodyPr>
          <a:lstStyle/>
          <a:p>
            <a:pPr algn="l">
              <a:spcAft>
                <a:spcPts val="600"/>
              </a:spcAft>
            </a:pPr>
            <a:r>
              <a:rPr sz="2200" b="1">
                <a:solidFill>
                  <a:srgbClr val="5A3E2B"/>
                </a:solidFill>
                <a:latin typeface="Book Antiqua"/>
              </a:rPr>
              <a:t>Fonts</a:t>
            </a:r>
          </a:p>
        </p:txBody>
      </p:sp>
      <p:sp>
        <p:nvSpPr>
          <p:cNvPr id="20" name="TextBox 19"/>
          <p:cNvSpPr txBox="1"/>
          <p:nvPr/>
        </p:nvSpPr>
        <p:spPr>
          <a:xfrm>
            <a:off x="8412480" y="2468880"/>
            <a:ext cx="3017520" cy="548640"/>
          </a:xfrm>
          <a:prstGeom prst="rect">
            <a:avLst/>
          </a:prstGeom>
          <a:noFill/>
        </p:spPr>
        <p:txBody>
          <a:bodyPr wrap="square" anchor="t" lIns="45720" rIns="45720">
            <a:spAutoFit/>
          </a:bodyPr>
          <a:lstStyle/>
          <a:p>
            <a:pPr algn="l">
              <a:spcAft>
                <a:spcPts val="600"/>
              </a:spcAft>
            </a:pPr>
            <a:r>
              <a:rPr sz="1200" b="0">
                <a:solidFill>
                  <a:srgbClr val="5A3E2B"/>
                </a:solidFill>
                <a:latin typeface="Calibri"/>
              </a:rPr>
              <a:t>Headings</a:t>
            </a:r>
          </a:p>
        </p:txBody>
      </p:sp>
      <p:sp>
        <p:nvSpPr>
          <p:cNvPr id="21" name="TextBox 20"/>
          <p:cNvSpPr txBox="1"/>
          <p:nvPr/>
        </p:nvSpPr>
        <p:spPr>
          <a:xfrm>
            <a:off x="8412480" y="2697480"/>
            <a:ext cx="3017520" cy="548640"/>
          </a:xfrm>
          <a:prstGeom prst="rect">
            <a:avLst/>
          </a:prstGeom>
          <a:noFill/>
        </p:spPr>
        <p:txBody>
          <a:bodyPr wrap="square" anchor="t" lIns="45720" rIns="45720">
            <a:spAutoFit/>
          </a:bodyPr>
          <a:lstStyle/>
          <a:p>
            <a:pPr algn="l">
              <a:spcAft>
                <a:spcPts val="600"/>
              </a:spcAft>
            </a:pPr>
            <a:r>
              <a:rPr sz="2200" b="0">
                <a:solidFill>
                  <a:srgbClr val="2F302D"/>
                </a:solidFill>
                <a:latin typeface="Book Antiqua"/>
              </a:rPr>
              <a:t>Book Antiqua</a:t>
            </a:r>
          </a:p>
        </p:txBody>
      </p:sp>
      <p:sp>
        <p:nvSpPr>
          <p:cNvPr id="22" name="TextBox 21"/>
          <p:cNvSpPr txBox="1"/>
          <p:nvPr/>
        </p:nvSpPr>
        <p:spPr>
          <a:xfrm>
            <a:off x="8412480" y="3337560"/>
            <a:ext cx="3017520" cy="365760"/>
          </a:xfrm>
          <a:prstGeom prst="rect">
            <a:avLst/>
          </a:prstGeom>
          <a:noFill/>
        </p:spPr>
        <p:txBody>
          <a:bodyPr wrap="square" anchor="t" lIns="45720" rIns="45720">
            <a:spAutoFit/>
          </a:bodyPr>
          <a:lstStyle/>
          <a:p>
            <a:pPr algn="l">
              <a:spcAft>
                <a:spcPts val="600"/>
              </a:spcAft>
            </a:pPr>
            <a:r>
              <a:rPr sz="1200" b="0">
                <a:solidFill>
                  <a:srgbClr val="5A3E2B"/>
                </a:solidFill>
                <a:latin typeface="Calibri"/>
              </a:rPr>
              <a:t>Subheadings</a:t>
            </a:r>
          </a:p>
        </p:txBody>
      </p:sp>
      <p:sp>
        <p:nvSpPr>
          <p:cNvPr id="23" name="TextBox 22"/>
          <p:cNvSpPr txBox="1"/>
          <p:nvPr/>
        </p:nvSpPr>
        <p:spPr>
          <a:xfrm>
            <a:off x="8412480" y="3566160"/>
            <a:ext cx="3017520" cy="457200"/>
          </a:xfrm>
          <a:prstGeom prst="rect">
            <a:avLst/>
          </a:prstGeom>
          <a:noFill/>
        </p:spPr>
        <p:txBody>
          <a:bodyPr wrap="square" anchor="t" lIns="45720" rIns="45720">
            <a:spAutoFit/>
          </a:bodyPr>
          <a:lstStyle/>
          <a:p>
            <a:pPr algn="l">
              <a:spcAft>
                <a:spcPts val="600"/>
              </a:spcAft>
            </a:pPr>
            <a:r>
              <a:rPr sz="1900" b="0">
                <a:solidFill>
                  <a:srgbClr val="2F302D"/>
                </a:solidFill>
                <a:latin typeface="Arial Narrow"/>
              </a:rPr>
              <a:t>Arial Narrow</a:t>
            </a:r>
          </a:p>
        </p:txBody>
      </p:sp>
      <p:sp>
        <p:nvSpPr>
          <p:cNvPr id="24" name="TextBox 23"/>
          <p:cNvSpPr txBox="1"/>
          <p:nvPr/>
        </p:nvSpPr>
        <p:spPr>
          <a:xfrm>
            <a:off x="8412480" y="4160520"/>
            <a:ext cx="3017520" cy="365760"/>
          </a:xfrm>
          <a:prstGeom prst="rect">
            <a:avLst/>
          </a:prstGeom>
          <a:noFill/>
        </p:spPr>
        <p:txBody>
          <a:bodyPr wrap="square" anchor="t" lIns="45720" rIns="45720">
            <a:spAutoFit/>
          </a:bodyPr>
          <a:lstStyle/>
          <a:p>
            <a:pPr algn="l">
              <a:spcAft>
                <a:spcPts val="600"/>
              </a:spcAft>
            </a:pPr>
            <a:r>
              <a:rPr sz="1200" b="0">
                <a:solidFill>
                  <a:srgbClr val="5A3E2B"/>
                </a:solidFill>
                <a:latin typeface="Calibri"/>
              </a:rPr>
              <a:t>Body text</a:t>
            </a:r>
          </a:p>
        </p:txBody>
      </p:sp>
      <p:sp>
        <p:nvSpPr>
          <p:cNvPr id="25" name="TextBox 24"/>
          <p:cNvSpPr txBox="1"/>
          <p:nvPr/>
        </p:nvSpPr>
        <p:spPr>
          <a:xfrm>
            <a:off x="8412480" y="4389120"/>
            <a:ext cx="3017520" cy="457200"/>
          </a:xfrm>
          <a:prstGeom prst="rect">
            <a:avLst/>
          </a:prstGeom>
          <a:noFill/>
        </p:spPr>
        <p:txBody>
          <a:bodyPr wrap="square" anchor="t" lIns="45720" rIns="45720">
            <a:spAutoFit/>
          </a:bodyPr>
          <a:lstStyle/>
          <a:p>
            <a:pPr algn="l">
              <a:spcAft>
                <a:spcPts val="600"/>
              </a:spcAft>
            </a:pPr>
            <a:r>
              <a:rPr sz="1900" b="0">
                <a:solidFill>
                  <a:srgbClr val="2F302D"/>
                </a:solidFill>
                <a:latin typeface="Calibri"/>
              </a:rPr>
              <a:t>Calibri</a:t>
            </a:r>
          </a:p>
        </p:txBody>
      </p:sp>
      <p:sp>
        <p:nvSpPr>
          <p:cNvPr id="26" name="TextBox 25"/>
          <p:cNvSpPr txBox="1"/>
          <p:nvPr/>
        </p:nvSpPr>
        <p:spPr>
          <a:xfrm>
            <a:off x="8412480" y="4983480"/>
            <a:ext cx="3017520" cy="548640"/>
          </a:xfrm>
          <a:prstGeom prst="rect">
            <a:avLst/>
          </a:prstGeom>
          <a:noFill/>
        </p:spPr>
        <p:txBody>
          <a:bodyPr wrap="square" anchor="t" lIns="45720" rIns="45720">
            <a:spAutoFit/>
          </a:bodyPr>
          <a:lstStyle/>
          <a:p>
            <a:pPr algn="l">
              <a:spcAft>
                <a:spcPts val="600"/>
              </a:spcAft>
            </a:pPr>
            <a:r>
              <a:rPr sz="1200" b="0">
                <a:solidFill>
                  <a:srgbClr val="2F302D"/>
                </a:solidFill>
                <a:latin typeface="Calibri"/>
              </a:rPr>
              <a:t>Serif headings feel warm; clean body text stays easy to read.</a:t>
            </a:r>
          </a:p>
        </p:txBody>
      </p:sp>
      <p:sp>
        <p:nvSpPr>
          <p:cNvPr id="27" name="TextBox 26"/>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Mohamed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4"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childTnLst>
                                </p:cTn>
                              </p:par>
                              <p:par>
                                <p:cTn id="24" presetID="10" presetClass="entr" presetSubtype="0" fill="hold" nodeType="withEffect">
                                  <p:stCondLst>
                                    <p:cond delay="75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1000"/>
                                        <p:tgtEl>
                                          <p:spTgt spid="13"/>
                                        </p:tgtEl>
                                      </p:cBhvr>
                                    </p:animEffect>
                                  </p:childTnLst>
                                </p:cTn>
                              </p:par>
                              <p:par>
                                <p:cTn id="28" presetID="10" presetClass="entr" presetSubtype="0" fill="hold" nodeType="withEffect">
                                  <p:stCondLst>
                                    <p:cond delay="90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1000"/>
                                        <p:tgtEl>
                                          <p:spTgt spid="18"/>
                                        </p:tgtEl>
                                      </p:cBhvr>
                                    </p:animEffect>
                                  </p:childTnLst>
                                </p:cTn>
                              </p:par>
                              <p:par>
                                <p:cTn id="32" presetID="10" presetClass="entr" presetSubtype="0" fill="hold" nodeType="withEffect">
                                  <p:stCondLst>
                                    <p:cond delay="105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1000"/>
                                        <p:tgtEl>
                                          <p:spTgt spid="19"/>
                                        </p:tgtEl>
                                      </p:cBhvr>
                                    </p:animEffect>
                                  </p:childTnLst>
                                </p:cTn>
                              </p:par>
                              <p:par>
                                <p:cTn id="36" presetID="10" presetClass="entr" presetSubtype="0" fill="hold" nodeType="withEffect">
                                  <p:stCondLst>
                                    <p:cond delay="120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1000"/>
                                        <p:tgtEl>
                                          <p:spTgt spid="6"/>
                                        </p:tgtEl>
                                      </p:cBhvr>
                                    </p:animEffect>
                                  </p:childTnLst>
                                </p:cTn>
                              </p:par>
                              <p:par>
                                <p:cTn id="40" presetID="10" presetClass="entr" presetSubtype="0" fill="hold" nodeType="withEffect">
                                  <p:stCondLst>
                                    <p:cond delay="135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childTnLst>
                                </p:cTn>
                              </p:par>
                              <p:par>
                                <p:cTn id="44" presetID="10" presetClass="entr" presetSubtype="0" fill="hold" nodeType="withEffect">
                                  <p:stCondLst>
                                    <p:cond delay="150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1000"/>
                                        <p:tgtEl>
                                          <p:spTgt spid="14"/>
                                        </p:tgtEl>
                                      </p:cBhvr>
                                    </p:animEffect>
                                  </p:childTnLst>
                                </p:cTn>
                              </p:par>
                              <p:par>
                                <p:cTn id="48" presetID="10" presetClass="entr" presetSubtype="0" fill="hold" nodeType="withEffect">
                                  <p:stCondLst>
                                    <p:cond delay="1650"/>
                                  </p:stCondLst>
                                  <p:childTnLst>
                                    <p:set>
                                      <p:cBhvr>
                                        <p:cTn id="49" dur="1" fill="hold">
                                          <p:stCondLst>
                                            <p:cond delay="0"/>
                                          </p:stCondLst>
                                        </p:cTn>
                                        <p:tgtEl>
                                          <p:spTgt spid="7"/>
                                        </p:tgtEl>
                                        <p:attrNameLst>
                                          <p:attrName>style.visibility</p:attrName>
                                        </p:attrNameLst>
                                      </p:cBhvr>
                                      <p:to>
                                        <p:strVal val="visible"/>
                                      </p:to>
                                    </p:set>
                                    <p:animEffect transition="in" filter="fade">
                                      <p:cBhvr>
                                        <p:cTn id="50" dur="1000"/>
                                        <p:tgtEl>
                                          <p:spTgt spid="7"/>
                                        </p:tgtEl>
                                      </p:cBhvr>
                                    </p:animEffect>
                                  </p:childTnLst>
                                </p:cTn>
                              </p:par>
                              <p:par>
                                <p:cTn id="52" presetID="10" presetClass="entr" presetSubtype="0" fill="hold" nodeType="withEffect">
                                  <p:stCondLst>
                                    <p:cond delay="180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1000"/>
                                        <p:tgtEl>
                                          <p:spTgt spid="11"/>
                                        </p:tgtEl>
                                      </p:cBhvr>
                                    </p:animEffect>
                                  </p:childTnLst>
                                </p:cTn>
                              </p:par>
                              <p:par>
                                <p:cTn id="56" presetID="10" presetClass="entr" presetSubtype="0" fill="hold" nodeType="withEffect">
                                  <p:stCondLst>
                                    <p:cond delay="180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1000"/>
                                        <p:tgtEl>
                                          <p:spTgt spid="15"/>
                                        </p:tgtEl>
                                      </p:cBhvr>
                                    </p:animEffect>
                                  </p:childTnLst>
                                </p:cTn>
                              </p:par>
                              <p:par>
                                <p:cTn id="60" presetID="10" presetClass="entr" presetSubtype="0" fill="hold" nodeType="withEffect">
                                  <p:stCondLst>
                                    <p:cond delay="180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1000"/>
                                        <p:tgtEl>
                                          <p:spTgt spid="20"/>
                                        </p:tgtEl>
                                      </p:cBhvr>
                                    </p:animEffect>
                                  </p:childTnLst>
                                </p:cTn>
                              </p:par>
                              <p:par>
                                <p:cTn id="64" presetID="10" presetClass="entr" presetSubtype="0" fill="hold" nodeType="withEffect">
                                  <p:stCondLst>
                                    <p:cond delay="180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1000"/>
                                        <p:tgtEl>
                                          <p:spTgt spid="21"/>
                                        </p:tgtEl>
                                      </p:cBhvr>
                                    </p:animEffect>
                                  </p:childTnLst>
                                </p:cTn>
                              </p:par>
                              <p:par>
                                <p:cTn id="68" presetID="10" presetClass="entr" presetSubtype="0" fill="hold" nodeType="withEffect">
                                  <p:stCondLst>
                                    <p:cond delay="180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1000"/>
                                        <p:tgtEl>
                                          <p:spTgt spid="22"/>
                                        </p:tgtEl>
                                      </p:cBhvr>
                                    </p:animEffect>
                                  </p:childTnLst>
                                </p:cTn>
                              </p:par>
                              <p:par>
                                <p:cTn id="72" presetID="10" presetClass="entr" presetSubtype="0" fill="hold" nodeType="withEffect">
                                  <p:stCondLst>
                                    <p:cond delay="1800"/>
                                  </p:stCondLst>
                                  <p:childTnLst>
                                    <p:set>
                                      <p:cBhvr>
                                        <p:cTn id="73" dur="1" fill="hold">
                                          <p:stCondLst>
                                            <p:cond delay="0"/>
                                          </p:stCondLst>
                                        </p:cTn>
                                        <p:tgtEl>
                                          <p:spTgt spid="8"/>
                                        </p:tgtEl>
                                        <p:attrNameLst>
                                          <p:attrName>style.visibility</p:attrName>
                                        </p:attrNameLst>
                                      </p:cBhvr>
                                      <p:to>
                                        <p:strVal val="visible"/>
                                      </p:to>
                                    </p:set>
                                    <p:animEffect transition="in" filter="fade">
                                      <p:cBhvr>
                                        <p:cTn id="74" dur="1000"/>
                                        <p:tgtEl>
                                          <p:spTgt spid="8"/>
                                        </p:tgtEl>
                                      </p:cBhvr>
                                    </p:animEffect>
                                  </p:childTnLst>
                                </p:cTn>
                              </p:par>
                              <p:par>
                                <p:cTn id="76" presetID="10" presetClass="entr" presetSubtype="0" fill="hold" nodeType="withEffect">
                                  <p:stCondLst>
                                    <p:cond delay="1800"/>
                                  </p:stCondLst>
                                  <p:childTnLst>
                                    <p:set>
                                      <p:cBhvr>
                                        <p:cTn id="77" dur="1" fill="hold">
                                          <p:stCondLst>
                                            <p:cond delay="0"/>
                                          </p:stCondLst>
                                        </p:cTn>
                                        <p:tgtEl>
                                          <p:spTgt spid="12"/>
                                        </p:tgtEl>
                                        <p:attrNameLst>
                                          <p:attrName>style.visibility</p:attrName>
                                        </p:attrNameLst>
                                      </p:cBhvr>
                                      <p:to>
                                        <p:strVal val="visible"/>
                                      </p:to>
                                    </p:set>
                                    <p:animEffect transition="in" filter="fade">
                                      <p:cBhvr>
                                        <p:cTn id="78" dur="1000"/>
                                        <p:tgtEl>
                                          <p:spTgt spid="12"/>
                                        </p:tgtEl>
                                      </p:cBhvr>
                                    </p:animEffect>
                                  </p:childTnLst>
                                </p:cTn>
                              </p:par>
                              <p:par>
                                <p:cTn id="80" presetID="10" presetClass="entr" presetSubtype="0" fill="hold" nodeType="withEffect">
                                  <p:stCondLst>
                                    <p:cond delay="1800"/>
                                  </p:stCondLst>
                                  <p:childTnLst>
                                    <p:set>
                                      <p:cBhvr>
                                        <p:cTn id="81" dur="1" fill="hold">
                                          <p:stCondLst>
                                            <p:cond delay="0"/>
                                          </p:stCondLst>
                                        </p:cTn>
                                        <p:tgtEl>
                                          <p:spTgt spid="16"/>
                                        </p:tgtEl>
                                        <p:attrNameLst>
                                          <p:attrName>style.visibility</p:attrName>
                                        </p:attrNameLst>
                                      </p:cBhvr>
                                      <p:to>
                                        <p:strVal val="visible"/>
                                      </p:to>
                                    </p:set>
                                    <p:animEffect transition="in" filter="fade">
                                      <p:cBhvr>
                                        <p:cTn id="82" dur="1000"/>
                                        <p:tgtEl>
                                          <p:spTgt spid="16"/>
                                        </p:tgtEl>
                                      </p:cBhvr>
                                    </p:animEffect>
                                  </p:childTnLst>
                                </p:cTn>
                              </p:par>
                              <p:par>
                                <p:cTn id="84" presetID="10" presetClass="entr" presetSubtype="0" fill="hold" nodeType="withEffect">
                                  <p:stCondLst>
                                    <p:cond delay="180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1000"/>
                                        <p:tgtEl>
                                          <p:spTgt spid="23"/>
                                        </p:tgtEl>
                                      </p:cBhvr>
                                    </p:animEffect>
                                  </p:childTnLst>
                                </p:cTn>
                              </p:par>
                              <p:par>
                                <p:cTn id="88" presetID="10" presetClass="entr" presetSubtype="0" fill="hold" nodeType="withEffect">
                                  <p:stCondLst>
                                    <p:cond delay="180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1000"/>
                                        <p:tgtEl>
                                          <p:spTgt spid="24"/>
                                        </p:tgtEl>
                                      </p:cBhvr>
                                    </p:animEffect>
                                  </p:childTnLst>
                                </p:cTn>
                              </p:par>
                              <p:par>
                                <p:cTn id="92" presetID="10" presetClass="entr" presetSubtype="0" fill="hold" nodeType="withEffect">
                                  <p:stCondLst>
                                    <p:cond delay="180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1000"/>
                                        <p:tgtEl>
                                          <p:spTgt spid="25"/>
                                        </p:tgtEl>
                                      </p:cBhvr>
                                    </p:animEffect>
                                  </p:childTnLst>
                                </p:cTn>
                              </p:par>
                              <p:par>
                                <p:cTn id="96" presetID="10" presetClass="entr" presetSubtype="0" fill="hold" nodeType="withEffect">
                                  <p:stCondLst>
                                    <p:cond delay="1800"/>
                                  </p:stCondLst>
                                  <p:childTnLst>
                                    <p:set>
                                      <p:cBhvr>
                                        <p:cTn id="97" dur="1" fill="hold">
                                          <p:stCondLst>
                                            <p:cond delay="0"/>
                                          </p:stCondLst>
                                        </p:cTn>
                                        <p:tgtEl>
                                          <p:spTgt spid="17"/>
                                        </p:tgtEl>
                                        <p:attrNameLst>
                                          <p:attrName>style.visibility</p:attrName>
                                        </p:attrNameLst>
                                      </p:cBhvr>
                                      <p:to>
                                        <p:strVal val="visible"/>
                                      </p:to>
                                    </p:set>
                                    <p:animEffect transition="in" filter="fade">
                                      <p:cBhvr>
                                        <p:cTn id="98" dur="1000"/>
                                        <p:tgtEl>
                                          <p:spTgt spid="17"/>
                                        </p:tgtEl>
                                      </p:cBhvr>
                                    </p:animEffect>
                                  </p:childTnLst>
                                </p:cTn>
                              </p:par>
                              <p:par>
                                <p:cTn id="100" presetID="10" presetClass="entr" presetSubtype="0" fill="hold" nodeType="withEffect">
                                  <p:stCondLst>
                                    <p:cond delay="1800"/>
                                  </p:stCondLst>
                                  <p:childTnLst>
                                    <p:set>
                                      <p:cBhvr>
                                        <p:cTn id="101" dur="1" fill="hold">
                                          <p:stCondLst>
                                            <p:cond delay="0"/>
                                          </p:stCondLst>
                                        </p:cTn>
                                        <p:tgtEl>
                                          <p:spTgt spid="26"/>
                                        </p:tgtEl>
                                        <p:attrNameLst>
                                          <p:attrName>style.visibility</p:attrName>
                                        </p:attrNameLst>
                                      </p:cBhvr>
                                      <p:to>
                                        <p:strVal val="visible"/>
                                      </p:to>
                                    </p:set>
                                    <p:animEffect transition="in" filter="fade">
                                      <p:cBhvr>
                                        <p:cTn id="102"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Why the app uses bottom tabs</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A phone is a thumb device, so the main places stay one tap away</a:t>
            </a:r>
          </a:p>
        </p:txBody>
      </p:sp>
      <p:sp>
        <p:nvSpPr>
          <p:cNvPr id="5" name="TextBox 4"/>
          <p:cNvSpPr txBox="1"/>
          <p:nvPr/>
        </p:nvSpPr>
        <p:spPr>
          <a:xfrm>
            <a:off x="640080" y="1828800"/>
            <a:ext cx="6035040" cy="4114800"/>
          </a:xfrm>
          <a:prstGeom prst="rect">
            <a:avLst/>
          </a:prstGeom>
          <a:noFill/>
        </p:spPr>
        <p:txBody>
          <a:bodyPr wrap="square">
            <a:spAutoFit/>
          </a:bodyPr>
          <a:lstStyle/>
          <a:p>
            <a:pPr>
              <a:spcAft>
                <a:spcPts val="1200"/>
              </a:spcAft>
            </a:pPr>
            <a:r>
              <a:rPr sz="1900">
                <a:solidFill>
                  <a:srgbClr val="2F302D"/>
                </a:solidFill>
                <a:latin typeface="Calibri"/>
              </a:rPr>
              <a:t>•  Four main places always visible: Home, Courses, Fees, Contact</a:t>
            </a:r>
          </a:p>
          <a:p>
            <a:pPr>
              <a:spcAft>
                <a:spcPts val="1200"/>
              </a:spcAft>
            </a:pPr>
            <a:r>
              <a:rPr sz="1900">
                <a:solidFill>
                  <a:srgbClr val="2F302D"/>
                </a:solidFill>
                <a:latin typeface="Calibri"/>
              </a:rPr>
              <a:t>•  Easy to reach with one thumb, unlike a menu at the top</a:t>
            </a:r>
          </a:p>
          <a:p>
            <a:pPr>
              <a:spcAft>
                <a:spcPts val="1200"/>
              </a:spcAft>
            </a:pPr>
            <a:r>
              <a:rPr sz="1900">
                <a:solidFill>
                  <a:srgbClr val="2F302D"/>
                </a:solidFill>
                <a:latin typeface="Calibri"/>
              </a:rPr>
              <a:t>•  Hidden menus (hamburger) get used less; visible tabs get used more</a:t>
            </a:r>
          </a:p>
          <a:p>
            <a:pPr>
              <a:spcAft>
                <a:spcPts val="1200"/>
              </a:spcAft>
            </a:pPr>
            <a:r>
              <a:rPr sz="1900">
                <a:solidFill>
                  <a:srgbClr val="2F302D"/>
                </a:solidFill>
                <a:latin typeface="Calibri"/>
              </a:rPr>
              <a:t>•  The website keeps a top bar instead. Different screen, different pattern</a:t>
            </a:r>
          </a:p>
          <a:p>
            <a:pPr>
              <a:spcAft>
                <a:spcPts val="1200"/>
              </a:spcAft>
            </a:pPr>
            <a:r>
              <a:rPr sz="1900">
                <a:solidFill>
                  <a:srgbClr val="2F302D"/>
                </a:solidFill>
                <a:latin typeface="Calibri"/>
              </a:rPr>
              <a:t>•  Less-used pages (About Us, Pricing) sit in a top menu</a:t>
            </a:r>
          </a:p>
        </p:txBody>
      </p:sp>
      <p:sp>
        <p:nvSpPr>
          <p:cNvPr id="6" name="Rounded Rectangle 5"/>
          <p:cNvSpPr/>
          <p:nvPr/>
        </p:nvSpPr>
        <p:spPr>
          <a:xfrm>
            <a:off x="7315200" y="1783080"/>
            <a:ext cx="4297680" cy="4297680"/>
          </a:xfrm>
          <a:prstGeom prst="roundRect">
            <a:avLst>
              <a:gd name="adj" fmla="val 6000"/>
            </a:avLst>
          </a:prstGeom>
          <a:solidFill>
            <a:srgbClr val="B0E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43800" y="1920240"/>
            <a:ext cx="3840480" cy="457200"/>
          </a:xfrm>
          <a:prstGeom prst="rect">
            <a:avLst/>
          </a:prstGeom>
          <a:noFill/>
        </p:spPr>
        <p:txBody>
          <a:bodyPr wrap="square" anchor="t" lIns="45720" rIns="45720">
            <a:spAutoFit/>
          </a:bodyPr>
          <a:lstStyle/>
          <a:p>
            <a:pPr algn="l">
              <a:spcAft>
                <a:spcPts val="600"/>
              </a:spcAft>
            </a:pPr>
            <a:r>
              <a:rPr sz="2000" b="1">
                <a:solidFill>
                  <a:srgbClr val="5A3E2B"/>
                </a:solidFill>
                <a:latin typeface="Book Antiqua"/>
              </a:rPr>
              <a:t>App bottom bar</a:t>
            </a:r>
          </a:p>
        </p:txBody>
      </p:sp>
      <p:sp>
        <p:nvSpPr>
          <p:cNvPr id="8" name="Rounded Rectangle 7"/>
          <p:cNvSpPr/>
          <p:nvPr/>
        </p:nvSpPr>
        <p:spPr>
          <a:xfrm>
            <a:off x="7680960" y="4663440"/>
            <a:ext cx="3566160" cy="868680"/>
          </a:xfrm>
          <a:prstGeom prst="roundRect">
            <a:avLst>
              <a:gd name="adj" fmla="val 6000"/>
            </a:avLst>
          </a:prstGeom>
          <a:solidFill>
            <a:srgbClr val="FFFFFF"/>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4892040"/>
            <a:ext cx="868680" cy="457200"/>
          </a:xfrm>
          <a:prstGeom prst="rect">
            <a:avLst/>
          </a:prstGeom>
          <a:noFill/>
        </p:spPr>
        <p:txBody>
          <a:bodyPr wrap="square" anchor="t" lIns="45720" rIns="45720">
            <a:spAutoFit/>
          </a:bodyPr>
          <a:lstStyle/>
          <a:p>
            <a:pPr algn="ctr">
              <a:spcAft>
                <a:spcPts val="600"/>
              </a:spcAft>
            </a:pPr>
            <a:r>
              <a:rPr sz="1300" b="0">
                <a:solidFill>
                  <a:srgbClr val="2F302D"/>
                </a:solidFill>
                <a:latin typeface="Calibri"/>
              </a:rPr>
              <a:t>Home</a:t>
            </a:r>
          </a:p>
        </p:txBody>
      </p:sp>
      <p:sp>
        <p:nvSpPr>
          <p:cNvPr id="10" name="TextBox 9"/>
          <p:cNvSpPr txBox="1"/>
          <p:nvPr/>
        </p:nvSpPr>
        <p:spPr>
          <a:xfrm>
            <a:off x="8613648" y="4892040"/>
            <a:ext cx="868680" cy="457200"/>
          </a:xfrm>
          <a:prstGeom prst="rect">
            <a:avLst/>
          </a:prstGeom>
          <a:noFill/>
        </p:spPr>
        <p:txBody>
          <a:bodyPr wrap="square" anchor="t" lIns="45720" rIns="45720">
            <a:spAutoFit/>
          </a:bodyPr>
          <a:lstStyle/>
          <a:p>
            <a:pPr algn="ctr">
              <a:spcAft>
                <a:spcPts val="600"/>
              </a:spcAft>
            </a:pPr>
            <a:r>
              <a:rPr sz="1300" b="0">
                <a:solidFill>
                  <a:srgbClr val="2F302D"/>
                </a:solidFill>
                <a:latin typeface="Calibri"/>
              </a:rPr>
              <a:t>Courses</a:t>
            </a:r>
          </a:p>
        </p:txBody>
      </p:sp>
      <p:sp>
        <p:nvSpPr>
          <p:cNvPr id="11" name="TextBox 10"/>
          <p:cNvSpPr txBox="1"/>
          <p:nvPr/>
        </p:nvSpPr>
        <p:spPr>
          <a:xfrm>
            <a:off x="9500615" y="4892040"/>
            <a:ext cx="868680" cy="457200"/>
          </a:xfrm>
          <a:prstGeom prst="rect">
            <a:avLst/>
          </a:prstGeom>
          <a:noFill/>
        </p:spPr>
        <p:txBody>
          <a:bodyPr wrap="square" anchor="t" lIns="45720" rIns="45720">
            <a:spAutoFit/>
          </a:bodyPr>
          <a:lstStyle/>
          <a:p>
            <a:pPr algn="ctr">
              <a:spcAft>
                <a:spcPts val="600"/>
              </a:spcAft>
            </a:pPr>
            <a:r>
              <a:rPr sz="1300" b="1">
                <a:solidFill>
                  <a:srgbClr val="C68B59"/>
                </a:solidFill>
                <a:latin typeface="Calibri"/>
              </a:rPr>
              <a:t>Fees</a:t>
            </a:r>
          </a:p>
        </p:txBody>
      </p:sp>
      <p:sp>
        <p:nvSpPr>
          <p:cNvPr id="12" name="TextBox 11"/>
          <p:cNvSpPr txBox="1"/>
          <p:nvPr/>
        </p:nvSpPr>
        <p:spPr>
          <a:xfrm>
            <a:off x="10387584" y="4892040"/>
            <a:ext cx="868680" cy="457200"/>
          </a:xfrm>
          <a:prstGeom prst="rect">
            <a:avLst/>
          </a:prstGeom>
          <a:noFill/>
        </p:spPr>
        <p:txBody>
          <a:bodyPr wrap="square" anchor="t" lIns="45720" rIns="45720">
            <a:spAutoFit/>
          </a:bodyPr>
          <a:lstStyle/>
          <a:p>
            <a:pPr algn="ctr">
              <a:spcAft>
                <a:spcPts val="600"/>
              </a:spcAft>
            </a:pPr>
            <a:r>
              <a:rPr sz="1300" b="0">
                <a:solidFill>
                  <a:srgbClr val="2F302D"/>
                </a:solidFill>
                <a:latin typeface="Calibri"/>
              </a:rPr>
              <a:t>Contact</a:t>
            </a:r>
          </a:p>
        </p:txBody>
      </p:sp>
      <p:sp>
        <p:nvSpPr>
          <p:cNvPr id="13" name="TextBox 12"/>
          <p:cNvSpPr txBox="1"/>
          <p:nvPr/>
        </p:nvSpPr>
        <p:spPr>
          <a:xfrm>
            <a:off x="7543800" y="2468880"/>
            <a:ext cx="3840480" cy="201168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Fees and Contact are the two pages people want most, so they are in the bar, not behind a menu.</a:t>
            </a:r>
          </a:p>
        </p:txBody>
      </p:sp>
      <p:sp>
        <p:nvSpPr>
          <p:cNvPr id="14" name="TextBox 13"/>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Mohamed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52"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1000"/>
                                        <p:tgtEl>
                                          <p:spTgt spid="6"/>
                                        </p:tgtEl>
                                      </p:cBhvr>
                                    </p:animEffect>
                                  </p:childTnLst>
                                </p:cTn>
                              </p:par>
                              <p:par>
                                <p:cTn id="20" presetID="10" presetClass="entr" presetSubtype="0" fill="hold" nodeType="withEffect">
                                  <p:stCondLst>
                                    <p:cond delay="60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childTnLst>
                                </p:cTn>
                              </p:par>
                              <p:par>
                                <p:cTn id="24" presetID="10" presetClass="entr" presetSubtype="0" fill="hold" nodeType="withEffect">
                                  <p:stCondLst>
                                    <p:cond delay="75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childTnLst>
                                </p:cTn>
                              </p:par>
                              <p:par>
                                <p:cTn id="28" presetID="10" presetClass="entr" presetSubtype="0" fill="hold" nodeType="withEffect">
                                  <p:stCondLst>
                                    <p:cond delay="90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1000"/>
                                        <p:tgtEl>
                                          <p:spTgt spid="13"/>
                                        </p:tgtEl>
                                      </p:cBhvr>
                                    </p:animEffect>
                                  </p:childTnLst>
                                </p:cTn>
                              </p:par>
                              <p:par>
                                <p:cTn id="32" presetID="10" presetClass="entr" presetSubtype="0" fill="hold" nodeType="withEffect">
                                  <p:stCondLst>
                                    <p:cond delay="105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childTnLst>
                                </p:cTn>
                              </p:par>
                              <p:par>
                                <p:cTn id="36" presetID="10" presetClass="entr" presetSubtype="0" fill="hold" nodeType="withEffect">
                                  <p:stCondLst>
                                    <p:cond delay="12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1000"/>
                                        <p:tgtEl>
                                          <p:spTgt spid="9"/>
                                        </p:tgtEl>
                                      </p:cBhvr>
                                    </p:animEffect>
                                  </p:childTnLst>
                                </p:cTn>
                              </p:par>
                              <p:par>
                                <p:cTn id="40" presetID="10" presetClass="entr" presetSubtype="0" fill="hold" nodeType="withEffect">
                                  <p:stCondLst>
                                    <p:cond delay="135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childTnLst>
                                </p:cTn>
                              </p:par>
                              <p:par>
                                <p:cTn id="44" presetID="10" presetClass="entr" presetSubtype="0" fill="hold" nodeType="withEffect">
                                  <p:stCondLst>
                                    <p:cond delay="150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1000"/>
                                        <p:tgtEl>
                                          <p:spTgt spid="11"/>
                                        </p:tgtEl>
                                      </p:cBhvr>
                                    </p:animEffect>
                                  </p:childTnLst>
                                </p:cTn>
                              </p:par>
                              <p:par>
                                <p:cTn id="48" presetID="10" presetClass="entr" presetSubtype="0" fill="hold" nodeType="withEffect">
                                  <p:stCondLst>
                                    <p:cond delay="165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My pages: Fees Calculator</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On the website and in the app</a:t>
            </a:r>
          </a:p>
        </p:txBody>
      </p:sp>
      <p:pic>
        <p:nvPicPr>
          <p:cNvPr id="5" name="Picture 4" descr="hi_web_fees.jpg"/>
          <p:cNvPicPr>
            <a:picLocks noChangeAspect="1"/>
          </p:cNvPicPr>
          <p:nvPr/>
        </p:nvPicPr>
        <p:blipFill>
          <a:blip r:embed="rId2"/>
          <a:stretch>
            <a:fillRect/>
          </a:stretch>
        </p:blipFill>
        <p:spPr>
          <a:xfrm>
            <a:off x="1671643" y="1737360"/>
            <a:ext cx="3606153" cy="4206240"/>
          </a:xfrm>
          <a:prstGeom prst="rect">
            <a:avLst/>
          </a:prstGeom>
          <a:ln w="15875">
            <a:solidFill>
              <a:srgbClr val="C68B59"/>
            </a:solidFill>
          </a:ln>
        </p:spPr>
      </p:pic>
      <p:pic>
        <p:nvPicPr>
          <p:cNvPr id="6" name="Picture 5" descr="hi_mob_fees.jpg"/>
          <p:cNvPicPr>
            <a:picLocks noChangeAspect="1"/>
          </p:cNvPicPr>
          <p:nvPr/>
        </p:nvPicPr>
        <p:blipFill>
          <a:blip r:embed="rId3"/>
          <a:stretch>
            <a:fillRect/>
          </a:stretch>
        </p:blipFill>
        <p:spPr>
          <a:xfrm>
            <a:off x="6872079" y="1737360"/>
            <a:ext cx="1892080" cy="4206240"/>
          </a:xfrm>
          <a:prstGeom prst="rect">
            <a:avLst/>
          </a:prstGeom>
          <a:ln w="15875">
            <a:solidFill>
              <a:srgbClr val="C68B59"/>
            </a:solidFill>
          </a:ln>
        </p:spPr>
      </p:pic>
      <p:sp>
        <p:nvSpPr>
          <p:cNvPr id="7" name="TextBox 6"/>
          <p:cNvSpPr txBox="1"/>
          <p:nvPr/>
        </p:nvSpPr>
        <p:spPr>
          <a:xfrm>
            <a:off x="9052560" y="1737360"/>
            <a:ext cx="2834640" cy="457200"/>
          </a:xfrm>
          <a:prstGeom prst="rect">
            <a:avLst/>
          </a:prstGeom>
          <a:noFill/>
        </p:spPr>
        <p:txBody>
          <a:bodyPr wrap="square" anchor="t" lIns="45720" rIns="45720">
            <a:spAutoFit/>
          </a:bodyPr>
          <a:lstStyle/>
          <a:p>
            <a:pPr algn="l">
              <a:spcAft>
                <a:spcPts val="600"/>
              </a:spcAft>
            </a:pPr>
            <a:r>
              <a:rPr sz="2000" b="1">
                <a:solidFill>
                  <a:srgbClr val="5A3E2B"/>
                </a:solidFill>
                <a:latin typeface="Book Antiqua"/>
              </a:rPr>
              <a:t>How it works</a:t>
            </a:r>
          </a:p>
        </p:txBody>
      </p:sp>
      <p:sp>
        <p:nvSpPr>
          <p:cNvPr id="8" name="TextBox 7"/>
          <p:cNvSpPr txBox="1"/>
          <p:nvPr/>
        </p:nvSpPr>
        <p:spPr>
          <a:xfrm>
            <a:off x="9052560" y="2240280"/>
            <a:ext cx="2926080" cy="4114800"/>
          </a:xfrm>
          <a:prstGeom prst="rect">
            <a:avLst/>
          </a:prstGeom>
          <a:noFill/>
        </p:spPr>
        <p:txBody>
          <a:bodyPr wrap="square">
            <a:spAutoFit/>
          </a:bodyPr>
          <a:lstStyle/>
          <a:p>
            <a:pPr>
              <a:spcAft>
                <a:spcPts val="800"/>
              </a:spcAft>
            </a:pPr>
            <a:r>
              <a:rPr sz="1500">
                <a:solidFill>
                  <a:srgbClr val="2F302D"/>
                </a:solidFill>
                <a:latin typeface="Calibri"/>
              </a:rPr>
              <a:t>•  Tick the courses you want</a:t>
            </a:r>
          </a:p>
          <a:p>
            <a:pPr>
              <a:spcAft>
                <a:spcPts val="800"/>
              </a:spcAft>
            </a:pPr>
            <a:r>
              <a:rPr sz="1500">
                <a:solidFill>
                  <a:srgbClr val="2F302D"/>
                </a:solidFill>
                <a:latin typeface="Calibri"/>
              </a:rPr>
              <a:t>•  Subtotal, discount, VAT and total update at once</a:t>
            </a:r>
          </a:p>
          <a:p>
            <a:pPr>
              <a:spcAft>
                <a:spcPts val="800"/>
              </a:spcAft>
            </a:pPr>
            <a:r>
              <a:rPr sz="1500">
                <a:solidFill>
                  <a:srgbClr val="2F302D"/>
                </a:solidFill>
                <a:latin typeface="Calibri"/>
              </a:rPr>
              <a:t>•  Request a quote when ready</a:t>
            </a:r>
          </a:p>
        </p:txBody>
      </p:sp>
      <p:sp>
        <p:nvSpPr>
          <p:cNvPr id="9" name="TextBox 8"/>
          <p:cNvSpPr txBox="1"/>
          <p:nvPr/>
        </p:nvSpPr>
        <p:spPr>
          <a:xfrm>
            <a:off x="548640" y="6035040"/>
            <a:ext cx="10972800" cy="548640"/>
          </a:xfrm>
          <a:prstGeom prst="rect">
            <a:avLst/>
          </a:prstGeom>
          <a:noFill/>
        </p:spPr>
        <p:txBody>
          <a:bodyPr wrap="square" anchor="t" lIns="45720" rIns="45720">
            <a:spAutoFit/>
          </a:bodyPr>
          <a:lstStyle/>
          <a:p>
            <a:pPr algn="l">
              <a:spcAft>
                <a:spcPts val="600"/>
              </a:spcAft>
            </a:pPr>
            <a:r>
              <a:rPr sz="1400" b="0">
                <a:solidFill>
                  <a:srgbClr val="5A3E2B"/>
                </a:solidFill>
                <a:latin typeface="Calibri"/>
              </a:rPr>
              <a:t>Website (left) and Android app (right). Same prices and rules on both, so a quote is identical on either platform.</a:t>
            </a:r>
          </a:p>
        </p:txBody>
      </p:sp>
      <p:sp>
        <p:nvSpPr>
          <p:cNvPr id="10" name="TextBox 9"/>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Mohamed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6"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childTnLst>
                                </p:cTn>
                              </p:par>
                              <p:par>
                                <p:cTn id="24" presetID="10" presetClass="entr" presetSubtype="0" fill="hold" nodeType="withEffect">
                                  <p:stCondLst>
                                    <p:cond delay="75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childTnLst>
                                </p:cTn>
                              </p:par>
                              <p:par>
                                <p:cTn id="28" presetID="10" presetClass="entr" presetSubtype="0" fill="hold" nodeType="withEffect">
                                  <p:stCondLst>
                                    <p:cond delay="90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1000"/>
                                        <p:tgtEl>
                                          <p:spTgt spid="8"/>
                                        </p:tgtEl>
                                      </p:cBhvr>
                                    </p:animEffect>
                                  </p:childTnLst>
                                </p:cTn>
                              </p:par>
                              <p:par>
                                <p:cTn id="32" presetID="10" presetClass="entr" presetSubtype="0" fill="hold" nodeType="withEffect">
                                  <p:stCondLst>
                                    <p:cond delay="105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My pages: Contact Us</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Everything a customer needs to reach Sarah and the team</a:t>
            </a:r>
          </a:p>
        </p:txBody>
      </p:sp>
      <p:pic>
        <p:nvPicPr>
          <p:cNvPr id="5" name="Picture 4" descr="hi_web_contact.jpg"/>
          <p:cNvPicPr>
            <a:picLocks noChangeAspect="1"/>
          </p:cNvPicPr>
          <p:nvPr/>
        </p:nvPicPr>
        <p:blipFill>
          <a:blip r:embed="rId2"/>
          <a:stretch>
            <a:fillRect/>
          </a:stretch>
        </p:blipFill>
        <p:spPr>
          <a:xfrm>
            <a:off x="864433" y="1737360"/>
            <a:ext cx="4854812" cy="4206240"/>
          </a:xfrm>
          <a:prstGeom prst="rect">
            <a:avLst/>
          </a:prstGeom>
          <a:ln w="15875">
            <a:solidFill>
              <a:srgbClr val="C68B59"/>
            </a:solidFill>
          </a:ln>
        </p:spPr>
      </p:pic>
      <p:pic>
        <p:nvPicPr>
          <p:cNvPr id="6" name="Picture 5" descr="hi_mob_contact.jpg"/>
          <p:cNvPicPr>
            <a:picLocks noChangeAspect="1"/>
          </p:cNvPicPr>
          <p:nvPr/>
        </p:nvPicPr>
        <p:blipFill>
          <a:blip r:embed="rId3"/>
          <a:stretch>
            <a:fillRect/>
          </a:stretch>
        </p:blipFill>
        <p:spPr>
          <a:xfrm>
            <a:off x="6418142" y="1737360"/>
            <a:ext cx="1885555" cy="4206240"/>
          </a:xfrm>
          <a:prstGeom prst="rect">
            <a:avLst/>
          </a:prstGeom>
          <a:ln w="15875">
            <a:solidFill>
              <a:srgbClr val="C68B59"/>
            </a:solidFill>
          </a:ln>
        </p:spPr>
      </p:pic>
      <p:sp>
        <p:nvSpPr>
          <p:cNvPr id="7" name="TextBox 6"/>
          <p:cNvSpPr txBox="1"/>
          <p:nvPr/>
        </p:nvSpPr>
        <p:spPr>
          <a:xfrm>
            <a:off x="8595360" y="1737360"/>
            <a:ext cx="3200400" cy="457200"/>
          </a:xfrm>
          <a:prstGeom prst="rect">
            <a:avLst/>
          </a:prstGeom>
          <a:noFill/>
        </p:spPr>
        <p:txBody>
          <a:bodyPr wrap="square" anchor="t" lIns="45720" rIns="45720">
            <a:spAutoFit/>
          </a:bodyPr>
          <a:lstStyle/>
          <a:p>
            <a:pPr algn="l">
              <a:spcAft>
                <a:spcPts val="600"/>
              </a:spcAft>
            </a:pPr>
            <a:r>
              <a:rPr sz="2000" b="1">
                <a:solidFill>
                  <a:srgbClr val="5A3E2B"/>
                </a:solidFill>
                <a:latin typeface="Book Antiqua"/>
              </a:rPr>
              <a:t>On both platforms</a:t>
            </a:r>
          </a:p>
        </p:txBody>
      </p:sp>
      <p:sp>
        <p:nvSpPr>
          <p:cNvPr id="8" name="TextBox 7"/>
          <p:cNvSpPr txBox="1"/>
          <p:nvPr/>
        </p:nvSpPr>
        <p:spPr>
          <a:xfrm>
            <a:off x="8595360" y="2240280"/>
            <a:ext cx="3291840" cy="4114800"/>
          </a:xfrm>
          <a:prstGeom prst="rect">
            <a:avLst/>
          </a:prstGeom>
          <a:noFill/>
        </p:spPr>
        <p:txBody>
          <a:bodyPr wrap="square">
            <a:spAutoFit/>
          </a:bodyPr>
          <a:lstStyle/>
          <a:p>
            <a:pPr>
              <a:spcAft>
                <a:spcPts val="600"/>
              </a:spcAft>
            </a:pPr>
            <a:r>
              <a:rPr sz="1500">
                <a:solidFill>
                  <a:srgbClr val="2F302D"/>
                </a:solidFill>
                <a:latin typeface="Calibri"/>
              </a:rPr>
              <a:t>•  Phone, email and address (12 Florida Road, Morningside, Durban)</a:t>
            </a:r>
          </a:p>
          <a:p>
            <a:pPr>
              <a:spcAft>
                <a:spcPts val="600"/>
              </a:spcAft>
            </a:pPr>
            <a:r>
              <a:rPr sz="1500">
                <a:solidFill>
                  <a:srgbClr val="2F302D"/>
                </a:solidFill>
                <a:latin typeface="Calibri"/>
              </a:rPr>
              <a:t>•  Office hours: Mon to Fri, 08:00 to 17:00</a:t>
            </a:r>
          </a:p>
          <a:p>
            <a:pPr>
              <a:spcAft>
                <a:spcPts val="600"/>
              </a:spcAft>
            </a:pPr>
            <a:r>
              <a:rPr sz="1500">
                <a:solidFill>
                  <a:srgbClr val="2F302D"/>
                </a:solidFill>
                <a:latin typeface="Calibri"/>
              </a:rPr>
              <a:t>•  Social media links</a:t>
            </a:r>
          </a:p>
          <a:p>
            <a:pPr>
              <a:spcAft>
                <a:spcPts val="600"/>
              </a:spcAft>
            </a:pPr>
            <a:r>
              <a:rPr sz="1500">
                <a:solidFill>
                  <a:srgbClr val="2F302D"/>
                </a:solidFill>
                <a:latin typeface="Calibri"/>
              </a:rPr>
              <a:t>•  A map with directions</a:t>
            </a:r>
          </a:p>
          <a:p>
            <a:pPr>
              <a:spcAft>
                <a:spcPts val="600"/>
              </a:spcAft>
            </a:pPr>
            <a:r>
              <a:rPr sz="1500">
                <a:solidFill>
                  <a:srgbClr val="2F302D"/>
                </a:solidFill>
                <a:latin typeface="Calibri"/>
              </a:rPr>
              <a:t>•  A message form (name, email, message)</a:t>
            </a:r>
          </a:p>
        </p:txBody>
      </p:sp>
      <p:sp>
        <p:nvSpPr>
          <p:cNvPr id="9" name="TextBox 8"/>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Mohamed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2"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childTnLst>
                                </p:cTn>
                              </p:par>
                              <p:par>
                                <p:cTn id="24" presetID="10" presetClass="entr" presetSubtype="0" fill="hold" nodeType="withEffect">
                                  <p:stCondLst>
                                    <p:cond delay="75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childTnLst>
                                </p:cTn>
                              </p:par>
                              <p:par>
                                <p:cTn id="28" presetID="10" presetClass="entr" presetSubtype="0" fill="hold" nodeType="withEffect">
                                  <p:stCondLst>
                                    <p:cond delay="90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Discount tiers, then VAT</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VAT is added after the discount, so customers are taxed on what they actually pay</a:t>
            </a:r>
          </a:p>
        </p:txBody>
      </p:sp>
      <p:sp>
        <p:nvSpPr>
          <p:cNvPr id="5" name="Rectangle 4"/>
          <p:cNvSpPr/>
          <p:nvPr/>
        </p:nvSpPr>
        <p:spPr>
          <a:xfrm>
            <a:off x="640080" y="1828800"/>
            <a:ext cx="4754880" cy="548640"/>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874519"/>
            <a:ext cx="2743200" cy="457200"/>
          </a:xfrm>
          <a:prstGeom prst="rect">
            <a:avLst/>
          </a:prstGeom>
          <a:noFill/>
        </p:spPr>
        <p:txBody>
          <a:bodyPr wrap="square" anchor="ctr" lIns="45720" rIns="45720">
            <a:spAutoFit/>
          </a:bodyPr>
          <a:lstStyle/>
          <a:p>
            <a:pPr algn="l">
              <a:spcAft>
                <a:spcPts val="600"/>
              </a:spcAft>
            </a:pPr>
            <a:r>
              <a:rPr sz="1800" b="1">
                <a:solidFill>
                  <a:srgbClr val="FFFFFF"/>
                </a:solidFill>
                <a:latin typeface="Calibri"/>
              </a:rPr>
              <a:t>Courses chosen</a:t>
            </a:r>
          </a:p>
        </p:txBody>
      </p:sp>
      <p:sp>
        <p:nvSpPr>
          <p:cNvPr id="7" name="TextBox 6"/>
          <p:cNvSpPr txBox="1"/>
          <p:nvPr/>
        </p:nvSpPr>
        <p:spPr>
          <a:xfrm>
            <a:off x="3657600" y="1874519"/>
            <a:ext cx="1645920" cy="457200"/>
          </a:xfrm>
          <a:prstGeom prst="rect">
            <a:avLst/>
          </a:prstGeom>
          <a:noFill/>
        </p:spPr>
        <p:txBody>
          <a:bodyPr wrap="square" anchor="ctr" lIns="45720" rIns="45720">
            <a:spAutoFit/>
          </a:bodyPr>
          <a:lstStyle/>
          <a:p>
            <a:pPr algn="r">
              <a:spcAft>
                <a:spcPts val="600"/>
              </a:spcAft>
            </a:pPr>
            <a:r>
              <a:rPr sz="1800" b="1">
                <a:solidFill>
                  <a:srgbClr val="FFFFFF"/>
                </a:solidFill>
                <a:latin typeface="Calibri"/>
              </a:rPr>
              <a:t>Discount</a:t>
            </a:r>
          </a:p>
        </p:txBody>
      </p:sp>
      <p:sp>
        <p:nvSpPr>
          <p:cNvPr id="8" name="Rectangle 7"/>
          <p:cNvSpPr/>
          <p:nvPr/>
        </p:nvSpPr>
        <p:spPr>
          <a:xfrm>
            <a:off x="640080" y="2450592"/>
            <a:ext cx="4754880" cy="548640"/>
          </a:xfrm>
          <a:prstGeom prst="rect">
            <a:avLst/>
          </a:prstGeom>
          <a:solidFill>
            <a:srgbClr val="B0E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496312"/>
            <a:ext cx="2743200" cy="457200"/>
          </a:xfrm>
          <a:prstGeom prst="rect">
            <a:avLst/>
          </a:prstGeom>
          <a:noFill/>
        </p:spPr>
        <p:txBody>
          <a:bodyPr wrap="square" anchor="ctr" lIns="45720" rIns="45720">
            <a:spAutoFit/>
          </a:bodyPr>
          <a:lstStyle/>
          <a:p>
            <a:pPr algn="l">
              <a:spcAft>
                <a:spcPts val="600"/>
              </a:spcAft>
            </a:pPr>
            <a:r>
              <a:rPr sz="1800" b="0">
                <a:solidFill>
                  <a:srgbClr val="2F302D"/>
                </a:solidFill>
                <a:latin typeface="Calibri"/>
              </a:rPr>
              <a:t>1 course</a:t>
            </a:r>
          </a:p>
        </p:txBody>
      </p:sp>
      <p:sp>
        <p:nvSpPr>
          <p:cNvPr id="10" name="TextBox 9"/>
          <p:cNvSpPr txBox="1"/>
          <p:nvPr/>
        </p:nvSpPr>
        <p:spPr>
          <a:xfrm>
            <a:off x="3657600" y="2496312"/>
            <a:ext cx="1645920" cy="457200"/>
          </a:xfrm>
          <a:prstGeom prst="rect">
            <a:avLst/>
          </a:prstGeom>
          <a:noFill/>
        </p:spPr>
        <p:txBody>
          <a:bodyPr wrap="square" anchor="ctr" lIns="45720" rIns="45720">
            <a:spAutoFit/>
          </a:bodyPr>
          <a:lstStyle/>
          <a:p>
            <a:pPr algn="r">
              <a:spcAft>
                <a:spcPts val="600"/>
              </a:spcAft>
            </a:pPr>
            <a:r>
              <a:rPr sz="1800" b="1">
                <a:solidFill>
                  <a:srgbClr val="2F302D"/>
                </a:solidFill>
                <a:latin typeface="Calibri"/>
              </a:rPr>
              <a:t>0%</a:t>
            </a:r>
          </a:p>
        </p:txBody>
      </p:sp>
      <p:sp>
        <p:nvSpPr>
          <p:cNvPr id="11" name="Rectangle 10"/>
          <p:cNvSpPr/>
          <p:nvPr/>
        </p:nvSpPr>
        <p:spPr>
          <a:xfrm>
            <a:off x="640080" y="3072384"/>
            <a:ext cx="475488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118104"/>
            <a:ext cx="2743200" cy="457200"/>
          </a:xfrm>
          <a:prstGeom prst="rect">
            <a:avLst/>
          </a:prstGeom>
          <a:noFill/>
        </p:spPr>
        <p:txBody>
          <a:bodyPr wrap="square" anchor="ctr" lIns="45720" rIns="45720">
            <a:spAutoFit/>
          </a:bodyPr>
          <a:lstStyle/>
          <a:p>
            <a:pPr algn="l">
              <a:spcAft>
                <a:spcPts val="600"/>
              </a:spcAft>
            </a:pPr>
            <a:r>
              <a:rPr sz="1800" b="0">
                <a:solidFill>
                  <a:srgbClr val="2F302D"/>
                </a:solidFill>
                <a:latin typeface="Calibri"/>
              </a:rPr>
              <a:t>2 courses</a:t>
            </a:r>
          </a:p>
        </p:txBody>
      </p:sp>
      <p:sp>
        <p:nvSpPr>
          <p:cNvPr id="13" name="TextBox 12"/>
          <p:cNvSpPr txBox="1"/>
          <p:nvPr/>
        </p:nvSpPr>
        <p:spPr>
          <a:xfrm>
            <a:off x="3657600" y="3118104"/>
            <a:ext cx="1645920" cy="457200"/>
          </a:xfrm>
          <a:prstGeom prst="rect">
            <a:avLst/>
          </a:prstGeom>
          <a:noFill/>
        </p:spPr>
        <p:txBody>
          <a:bodyPr wrap="square" anchor="ctr" lIns="45720" rIns="45720">
            <a:spAutoFit/>
          </a:bodyPr>
          <a:lstStyle/>
          <a:p>
            <a:pPr algn="r">
              <a:spcAft>
                <a:spcPts val="600"/>
              </a:spcAft>
            </a:pPr>
            <a:r>
              <a:rPr sz="1800" b="1">
                <a:solidFill>
                  <a:srgbClr val="2F302D"/>
                </a:solidFill>
                <a:latin typeface="Calibri"/>
              </a:rPr>
              <a:t>5%</a:t>
            </a:r>
          </a:p>
        </p:txBody>
      </p:sp>
      <p:sp>
        <p:nvSpPr>
          <p:cNvPr id="14" name="Rectangle 13"/>
          <p:cNvSpPr/>
          <p:nvPr/>
        </p:nvSpPr>
        <p:spPr>
          <a:xfrm>
            <a:off x="640080" y="3694176"/>
            <a:ext cx="4754880" cy="548640"/>
          </a:xfrm>
          <a:prstGeom prst="rect">
            <a:avLst/>
          </a:prstGeom>
          <a:solidFill>
            <a:srgbClr val="B0E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739896"/>
            <a:ext cx="2743200" cy="457200"/>
          </a:xfrm>
          <a:prstGeom prst="rect">
            <a:avLst/>
          </a:prstGeom>
          <a:noFill/>
        </p:spPr>
        <p:txBody>
          <a:bodyPr wrap="square" anchor="ctr" lIns="45720" rIns="45720">
            <a:spAutoFit/>
          </a:bodyPr>
          <a:lstStyle/>
          <a:p>
            <a:pPr algn="l">
              <a:spcAft>
                <a:spcPts val="600"/>
              </a:spcAft>
            </a:pPr>
            <a:r>
              <a:rPr sz="1800" b="0">
                <a:solidFill>
                  <a:srgbClr val="2F302D"/>
                </a:solidFill>
                <a:latin typeface="Calibri"/>
              </a:rPr>
              <a:t>3 courses</a:t>
            </a:r>
          </a:p>
        </p:txBody>
      </p:sp>
      <p:sp>
        <p:nvSpPr>
          <p:cNvPr id="16" name="TextBox 15"/>
          <p:cNvSpPr txBox="1"/>
          <p:nvPr/>
        </p:nvSpPr>
        <p:spPr>
          <a:xfrm>
            <a:off x="3657600" y="3739896"/>
            <a:ext cx="1645920" cy="457200"/>
          </a:xfrm>
          <a:prstGeom prst="rect">
            <a:avLst/>
          </a:prstGeom>
          <a:noFill/>
        </p:spPr>
        <p:txBody>
          <a:bodyPr wrap="square" anchor="ctr" lIns="45720" rIns="45720">
            <a:spAutoFit/>
          </a:bodyPr>
          <a:lstStyle/>
          <a:p>
            <a:pPr algn="r">
              <a:spcAft>
                <a:spcPts val="600"/>
              </a:spcAft>
            </a:pPr>
            <a:r>
              <a:rPr sz="1800" b="1">
                <a:solidFill>
                  <a:srgbClr val="2F302D"/>
                </a:solidFill>
                <a:latin typeface="Calibri"/>
              </a:rPr>
              <a:t>10%</a:t>
            </a:r>
          </a:p>
        </p:txBody>
      </p:sp>
      <p:sp>
        <p:nvSpPr>
          <p:cNvPr id="17" name="Rectangle 16"/>
          <p:cNvSpPr/>
          <p:nvPr/>
        </p:nvSpPr>
        <p:spPr>
          <a:xfrm>
            <a:off x="640080" y="4315968"/>
            <a:ext cx="475488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361688"/>
            <a:ext cx="2743200" cy="457200"/>
          </a:xfrm>
          <a:prstGeom prst="rect">
            <a:avLst/>
          </a:prstGeom>
          <a:noFill/>
        </p:spPr>
        <p:txBody>
          <a:bodyPr wrap="square" anchor="ctr" lIns="45720" rIns="45720">
            <a:spAutoFit/>
          </a:bodyPr>
          <a:lstStyle/>
          <a:p>
            <a:pPr algn="l">
              <a:spcAft>
                <a:spcPts val="600"/>
              </a:spcAft>
            </a:pPr>
            <a:r>
              <a:rPr sz="1800" b="0">
                <a:solidFill>
                  <a:srgbClr val="2F302D"/>
                </a:solidFill>
                <a:latin typeface="Calibri"/>
              </a:rPr>
              <a:t>4 or more</a:t>
            </a:r>
          </a:p>
        </p:txBody>
      </p:sp>
      <p:sp>
        <p:nvSpPr>
          <p:cNvPr id="19" name="TextBox 18"/>
          <p:cNvSpPr txBox="1"/>
          <p:nvPr/>
        </p:nvSpPr>
        <p:spPr>
          <a:xfrm>
            <a:off x="3657600" y="4361688"/>
            <a:ext cx="1645920" cy="457200"/>
          </a:xfrm>
          <a:prstGeom prst="rect">
            <a:avLst/>
          </a:prstGeom>
          <a:noFill/>
        </p:spPr>
        <p:txBody>
          <a:bodyPr wrap="square" anchor="ctr" lIns="45720" rIns="45720">
            <a:spAutoFit/>
          </a:bodyPr>
          <a:lstStyle/>
          <a:p>
            <a:pPr algn="r">
              <a:spcAft>
                <a:spcPts val="600"/>
              </a:spcAft>
            </a:pPr>
            <a:r>
              <a:rPr sz="1800" b="1">
                <a:solidFill>
                  <a:srgbClr val="2F302D"/>
                </a:solidFill>
                <a:latin typeface="Calibri"/>
              </a:rPr>
              <a:t>15%</a:t>
            </a:r>
          </a:p>
        </p:txBody>
      </p:sp>
      <p:sp>
        <p:nvSpPr>
          <p:cNvPr id="20" name="TextBox 19"/>
          <p:cNvSpPr txBox="1"/>
          <p:nvPr/>
        </p:nvSpPr>
        <p:spPr>
          <a:xfrm>
            <a:off x="640080" y="5074920"/>
            <a:ext cx="4754880" cy="1097280"/>
          </a:xfrm>
          <a:prstGeom prst="rect">
            <a:avLst/>
          </a:prstGeom>
          <a:noFill/>
        </p:spPr>
        <p:txBody>
          <a:bodyPr wrap="square" anchor="t" lIns="45720" rIns="45720">
            <a:spAutoFit/>
          </a:bodyPr>
          <a:lstStyle/>
          <a:p>
            <a:pPr algn="l">
              <a:spcAft>
                <a:spcPts val="600"/>
              </a:spcAft>
            </a:pPr>
            <a:r>
              <a:rPr sz="1600" b="0">
                <a:solidFill>
                  <a:srgbClr val="5A3E2B"/>
                </a:solidFill>
                <a:latin typeface="Calibri"/>
              </a:rPr>
              <a:t>Prices: 6-month course R1,500</a:t>
            </a:r>
          </a:p>
          <a:p>
            <a:pPr algn="l">
              <a:spcAft>
                <a:spcPts val="600"/>
              </a:spcAft>
            </a:pPr>
            <a:r>
              <a:rPr sz="1600" b="0">
                <a:solidFill>
                  <a:srgbClr val="5A3E2B"/>
                </a:solidFill>
                <a:latin typeface="Calibri"/>
              </a:rPr>
              <a:t>6-week course R750   |   VAT: 15%</a:t>
            </a:r>
          </a:p>
        </p:txBody>
      </p:sp>
      <p:sp>
        <p:nvSpPr>
          <p:cNvPr id="21" name="TextBox 20"/>
          <p:cNvSpPr txBox="1"/>
          <p:nvPr/>
        </p:nvSpPr>
        <p:spPr>
          <a:xfrm>
            <a:off x="5943600" y="1783080"/>
            <a:ext cx="5669280" cy="457200"/>
          </a:xfrm>
          <a:prstGeom prst="rect">
            <a:avLst/>
          </a:prstGeom>
          <a:noFill/>
        </p:spPr>
        <p:txBody>
          <a:bodyPr wrap="square" anchor="t" lIns="45720" rIns="45720">
            <a:spAutoFit/>
          </a:bodyPr>
          <a:lstStyle/>
          <a:p>
            <a:pPr algn="l">
              <a:spcAft>
                <a:spcPts val="600"/>
              </a:spcAft>
            </a:pPr>
            <a:r>
              <a:rPr sz="2200" b="1">
                <a:solidFill>
                  <a:srgbClr val="5A3E2B"/>
                </a:solidFill>
                <a:latin typeface="Book Antiqua"/>
              </a:rPr>
              <a:t>The order of steps</a:t>
            </a:r>
          </a:p>
        </p:txBody>
      </p:sp>
      <p:sp>
        <p:nvSpPr>
          <p:cNvPr id="22" name="Oval 21"/>
          <p:cNvSpPr/>
          <p:nvPr/>
        </p:nvSpPr>
        <p:spPr>
          <a:xfrm>
            <a:off x="5943600" y="2377440"/>
            <a:ext cx="640080" cy="640080"/>
          </a:xfrm>
          <a:prstGeom prst="ellipse">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200" b="1">
                <a:solidFill>
                  <a:srgbClr val="FFFFFF"/>
                </a:solidFill>
                <a:latin typeface="Calibri"/>
              </a:rPr>
              <a:t>1</a:t>
            </a:r>
          </a:p>
        </p:txBody>
      </p:sp>
      <p:sp>
        <p:nvSpPr>
          <p:cNvPr id="23" name="TextBox 22"/>
          <p:cNvSpPr txBox="1"/>
          <p:nvPr/>
        </p:nvSpPr>
        <p:spPr>
          <a:xfrm>
            <a:off x="6766560" y="2359152"/>
            <a:ext cx="4937760" cy="411480"/>
          </a:xfrm>
          <a:prstGeom prst="rect">
            <a:avLst/>
          </a:prstGeom>
          <a:noFill/>
        </p:spPr>
        <p:txBody>
          <a:bodyPr wrap="square" anchor="t" lIns="45720" rIns="45720">
            <a:spAutoFit/>
          </a:bodyPr>
          <a:lstStyle/>
          <a:p>
            <a:pPr algn="l">
              <a:spcAft>
                <a:spcPts val="600"/>
              </a:spcAft>
            </a:pPr>
            <a:r>
              <a:rPr sz="1900" b="1">
                <a:solidFill>
                  <a:srgbClr val="2F302D"/>
                </a:solidFill>
                <a:latin typeface="Calibri"/>
              </a:rPr>
              <a:t>Add up the course prices</a:t>
            </a:r>
          </a:p>
        </p:txBody>
      </p:sp>
      <p:sp>
        <p:nvSpPr>
          <p:cNvPr id="24" name="TextBox 23"/>
          <p:cNvSpPr txBox="1"/>
          <p:nvPr/>
        </p:nvSpPr>
        <p:spPr>
          <a:xfrm>
            <a:off x="6766560" y="2706624"/>
            <a:ext cx="4937760" cy="365760"/>
          </a:xfrm>
          <a:prstGeom prst="rect">
            <a:avLst/>
          </a:prstGeom>
          <a:noFill/>
        </p:spPr>
        <p:txBody>
          <a:bodyPr wrap="square" anchor="t" lIns="45720" rIns="45720">
            <a:spAutoFit/>
          </a:bodyPr>
          <a:lstStyle/>
          <a:p>
            <a:pPr algn="l">
              <a:spcAft>
                <a:spcPts val="600"/>
              </a:spcAft>
            </a:pPr>
            <a:r>
              <a:rPr sz="1400" b="0">
                <a:solidFill>
                  <a:srgbClr val="5A3E2B"/>
                </a:solidFill>
                <a:latin typeface="Calibri"/>
              </a:rPr>
              <a:t>subtotal</a:t>
            </a:r>
          </a:p>
        </p:txBody>
      </p:sp>
      <p:sp>
        <p:nvSpPr>
          <p:cNvPr id="25" name="Oval 24"/>
          <p:cNvSpPr/>
          <p:nvPr/>
        </p:nvSpPr>
        <p:spPr>
          <a:xfrm>
            <a:off x="5943600" y="3291840"/>
            <a:ext cx="640080" cy="640080"/>
          </a:xfrm>
          <a:prstGeom prst="ellipse">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200" b="1">
                <a:solidFill>
                  <a:srgbClr val="FFFFFF"/>
                </a:solidFill>
                <a:latin typeface="Calibri"/>
              </a:rPr>
              <a:t>2</a:t>
            </a:r>
          </a:p>
        </p:txBody>
      </p:sp>
      <p:sp>
        <p:nvSpPr>
          <p:cNvPr id="26" name="TextBox 25"/>
          <p:cNvSpPr txBox="1"/>
          <p:nvPr/>
        </p:nvSpPr>
        <p:spPr>
          <a:xfrm>
            <a:off x="6766560" y="3273552"/>
            <a:ext cx="4937760" cy="411480"/>
          </a:xfrm>
          <a:prstGeom prst="rect">
            <a:avLst/>
          </a:prstGeom>
          <a:noFill/>
        </p:spPr>
        <p:txBody>
          <a:bodyPr wrap="square" anchor="t" lIns="45720" rIns="45720">
            <a:spAutoFit/>
          </a:bodyPr>
          <a:lstStyle/>
          <a:p>
            <a:pPr algn="l">
              <a:spcAft>
                <a:spcPts val="600"/>
              </a:spcAft>
            </a:pPr>
            <a:r>
              <a:rPr sz="1900" b="1">
                <a:solidFill>
                  <a:srgbClr val="2F302D"/>
                </a:solidFill>
                <a:latin typeface="Calibri"/>
              </a:rPr>
              <a:t>Apply the discount tier</a:t>
            </a:r>
          </a:p>
        </p:txBody>
      </p:sp>
      <p:sp>
        <p:nvSpPr>
          <p:cNvPr id="27" name="TextBox 26"/>
          <p:cNvSpPr txBox="1"/>
          <p:nvPr/>
        </p:nvSpPr>
        <p:spPr>
          <a:xfrm>
            <a:off x="6766560" y="3621024"/>
            <a:ext cx="4937760" cy="365760"/>
          </a:xfrm>
          <a:prstGeom prst="rect">
            <a:avLst/>
          </a:prstGeom>
          <a:noFill/>
        </p:spPr>
        <p:txBody>
          <a:bodyPr wrap="square" anchor="t" lIns="45720" rIns="45720">
            <a:spAutoFit/>
          </a:bodyPr>
          <a:lstStyle/>
          <a:p>
            <a:pPr algn="l">
              <a:spcAft>
                <a:spcPts val="600"/>
              </a:spcAft>
            </a:pPr>
            <a:r>
              <a:rPr sz="1400" b="0">
                <a:solidFill>
                  <a:srgbClr val="5A3E2B"/>
                </a:solidFill>
                <a:latin typeface="Calibri"/>
              </a:rPr>
              <a:t>subtotal x rate</a:t>
            </a:r>
          </a:p>
        </p:txBody>
      </p:sp>
      <p:sp>
        <p:nvSpPr>
          <p:cNvPr id="28" name="Oval 27"/>
          <p:cNvSpPr/>
          <p:nvPr/>
        </p:nvSpPr>
        <p:spPr>
          <a:xfrm>
            <a:off x="5943600" y="4206240"/>
            <a:ext cx="640080" cy="640080"/>
          </a:xfrm>
          <a:prstGeom prst="ellipse">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200" b="1">
                <a:solidFill>
                  <a:srgbClr val="FFFFFF"/>
                </a:solidFill>
                <a:latin typeface="Calibri"/>
              </a:rPr>
              <a:t>3</a:t>
            </a:r>
          </a:p>
        </p:txBody>
      </p:sp>
      <p:sp>
        <p:nvSpPr>
          <p:cNvPr id="29" name="TextBox 28"/>
          <p:cNvSpPr txBox="1"/>
          <p:nvPr/>
        </p:nvSpPr>
        <p:spPr>
          <a:xfrm>
            <a:off x="6766560" y="4187952"/>
            <a:ext cx="4937760" cy="411480"/>
          </a:xfrm>
          <a:prstGeom prst="rect">
            <a:avLst/>
          </a:prstGeom>
          <a:noFill/>
        </p:spPr>
        <p:txBody>
          <a:bodyPr wrap="square" anchor="t" lIns="45720" rIns="45720">
            <a:spAutoFit/>
          </a:bodyPr>
          <a:lstStyle/>
          <a:p>
            <a:pPr algn="l">
              <a:spcAft>
                <a:spcPts val="600"/>
              </a:spcAft>
            </a:pPr>
            <a:r>
              <a:rPr sz="1900" b="1">
                <a:solidFill>
                  <a:srgbClr val="2F302D"/>
                </a:solidFill>
                <a:latin typeface="Calibri"/>
              </a:rPr>
              <a:t>Add 15% VAT on what is left</a:t>
            </a:r>
          </a:p>
        </p:txBody>
      </p:sp>
      <p:sp>
        <p:nvSpPr>
          <p:cNvPr id="30" name="TextBox 29"/>
          <p:cNvSpPr txBox="1"/>
          <p:nvPr/>
        </p:nvSpPr>
        <p:spPr>
          <a:xfrm>
            <a:off x="6766560" y="4535424"/>
            <a:ext cx="4937760" cy="365760"/>
          </a:xfrm>
          <a:prstGeom prst="rect">
            <a:avLst/>
          </a:prstGeom>
          <a:noFill/>
        </p:spPr>
        <p:txBody>
          <a:bodyPr wrap="square" anchor="t" lIns="45720" rIns="45720">
            <a:spAutoFit/>
          </a:bodyPr>
          <a:lstStyle/>
          <a:p>
            <a:pPr algn="l">
              <a:spcAft>
                <a:spcPts val="600"/>
              </a:spcAft>
            </a:pPr>
            <a:r>
              <a:rPr sz="1400" b="0">
                <a:solidFill>
                  <a:srgbClr val="5A3E2B"/>
                </a:solidFill>
                <a:latin typeface="Calibri"/>
              </a:rPr>
              <a:t>(subtotal - discount) x 15%</a:t>
            </a:r>
          </a:p>
        </p:txBody>
      </p:sp>
      <p:sp>
        <p:nvSpPr>
          <p:cNvPr id="31" name="Oval 30"/>
          <p:cNvSpPr/>
          <p:nvPr/>
        </p:nvSpPr>
        <p:spPr>
          <a:xfrm>
            <a:off x="5943600" y="5120640"/>
            <a:ext cx="640080" cy="640080"/>
          </a:xfrm>
          <a:prstGeom prst="ellipse">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200" b="1">
                <a:solidFill>
                  <a:srgbClr val="FFFFFF"/>
                </a:solidFill>
                <a:latin typeface="Calibri"/>
              </a:rPr>
              <a:t>4</a:t>
            </a:r>
          </a:p>
        </p:txBody>
      </p:sp>
      <p:sp>
        <p:nvSpPr>
          <p:cNvPr id="32" name="TextBox 31"/>
          <p:cNvSpPr txBox="1"/>
          <p:nvPr/>
        </p:nvSpPr>
        <p:spPr>
          <a:xfrm>
            <a:off x="6766560" y="5102352"/>
            <a:ext cx="4937760" cy="411480"/>
          </a:xfrm>
          <a:prstGeom prst="rect">
            <a:avLst/>
          </a:prstGeom>
          <a:noFill/>
        </p:spPr>
        <p:txBody>
          <a:bodyPr wrap="square" anchor="t" lIns="45720" rIns="45720">
            <a:spAutoFit/>
          </a:bodyPr>
          <a:lstStyle/>
          <a:p>
            <a:pPr algn="l">
              <a:spcAft>
                <a:spcPts val="600"/>
              </a:spcAft>
            </a:pPr>
            <a:r>
              <a:rPr sz="1900" b="1">
                <a:solidFill>
                  <a:srgbClr val="2F302D"/>
                </a:solidFill>
                <a:latin typeface="Calibri"/>
              </a:rPr>
              <a:t>Total</a:t>
            </a:r>
          </a:p>
        </p:txBody>
      </p:sp>
      <p:sp>
        <p:nvSpPr>
          <p:cNvPr id="33" name="TextBox 32"/>
          <p:cNvSpPr txBox="1"/>
          <p:nvPr/>
        </p:nvSpPr>
        <p:spPr>
          <a:xfrm>
            <a:off x="6766560" y="5449824"/>
            <a:ext cx="4937760" cy="365760"/>
          </a:xfrm>
          <a:prstGeom prst="rect">
            <a:avLst/>
          </a:prstGeom>
          <a:noFill/>
        </p:spPr>
        <p:txBody>
          <a:bodyPr wrap="square" anchor="t" lIns="45720" rIns="45720">
            <a:spAutoFit/>
          </a:bodyPr>
          <a:lstStyle/>
          <a:p>
            <a:pPr algn="l">
              <a:spcAft>
                <a:spcPts val="600"/>
              </a:spcAft>
            </a:pPr>
            <a:r>
              <a:rPr sz="1400" b="0">
                <a:solidFill>
                  <a:srgbClr val="5A3E2B"/>
                </a:solidFill>
                <a:latin typeface="Calibri"/>
              </a:rPr>
              <a:t>subtotal - discount + VAT</a:t>
            </a:r>
          </a:p>
        </p:txBody>
      </p:sp>
      <p:sp>
        <p:nvSpPr>
          <p:cNvPr id="34" name="TextBox 33"/>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Mohamed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32"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1000"/>
                                        <p:tgtEl>
                                          <p:spTgt spid="21"/>
                                        </p:tgtEl>
                                      </p:cBhvr>
                                    </p:animEffect>
                                  </p:childTnLst>
                                </p:cTn>
                              </p:par>
                              <p:par>
                                <p:cTn id="20" presetID="10" presetClass="entr" presetSubtype="0" fill="hold" nodeType="withEffect">
                                  <p:stCondLst>
                                    <p:cond delay="60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childTnLst>
                                </p:cTn>
                              </p:par>
                              <p:par>
                                <p:cTn id="24" presetID="10" presetClass="entr" presetSubtype="0" fill="hold" nodeType="withEffect">
                                  <p:stCondLst>
                                    <p:cond delay="75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childTnLst>
                                </p:cTn>
                              </p:par>
                              <p:par>
                                <p:cTn id="28" presetID="10" presetClass="entr" presetSubtype="0" fill="hold" nodeType="withEffect">
                                  <p:stCondLst>
                                    <p:cond delay="90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1000"/>
                                        <p:tgtEl>
                                          <p:spTgt spid="7"/>
                                        </p:tgtEl>
                                      </p:cBhvr>
                                    </p:animEffect>
                                  </p:childTnLst>
                                </p:cTn>
                              </p:par>
                              <p:par>
                                <p:cTn id="32" presetID="10" presetClass="entr" presetSubtype="0" fill="hold" nodeType="withEffect">
                                  <p:stCondLst>
                                    <p:cond delay="105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1000"/>
                                        <p:tgtEl>
                                          <p:spTgt spid="22"/>
                                        </p:tgtEl>
                                      </p:cBhvr>
                                    </p:animEffect>
                                  </p:childTnLst>
                                </p:cTn>
                              </p:par>
                              <p:par>
                                <p:cTn id="36" presetID="10" presetClass="entr" presetSubtype="0" fill="hold" nodeType="withEffect">
                                  <p:stCondLst>
                                    <p:cond delay="120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1000"/>
                                        <p:tgtEl>
                                          <p:spTgt spid="23"/>
                                        </p:tgtEl>
                                      </p:cBhvr>
                                    </p:animEffect>
                                  </p:childTnLst>
                                </p:cTn>
                              </p:par>
                              <p:par>
                                <p:cTn id="40" presetID="10" presetClass="entr" presetSubtype="0" fill="hold" nodeType="withEffect">
                                  <p:stCondLst>
                                    <p:cond delay="135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1000"/>
                                        <p:tgtEl>
                                          <p:spTgt spid="8"/>
                                        </p:tgtEl>
                                      </p:cBhvr>
                                    </p:animEffect>
                                  </p:childTnLst>
                                </p:cTn>
                              </p:par>
                              <p:par>
                                <p:cTn id="44" presetID="10" presetClass="entr" presetSubtype="0" fill="hold" nodeType="withEffect">
                                  <p:stCondLst>
                                    <p:cond delay="150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1000"/>
                                        <p:tgtEl>
                                          <p:spTgt spid="9"/>
                                        </p:tgtEl>
                                      </p:cBhvr>
                                    </p:animEffect>
                                  </p:childTnLst>
                                </p:cTn>
                              </p:par>
                              <p:par>
                                <p:cTn id="48" presetID="10" presetClass="entr" presetSubtype="0" fill="hold" nodeType="withEffect">
                                  <p:stCondLst>
                                    <p:cond delay="165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1000"/>
                                        <p:tgtEl>
                                          <p:spTgt spid="10"/>
                                        </p:tgtEl>
                                      </p:cBhvr>
                                    </p:animEffect>
                                  </p:childTnLst>
                                </p:cTn>
                              </p:par>
                              <p:par>
                                <p:cTn id="52" presetID="10" presetClass="entr" presetSubtype="0" fill="hold" nodeType="withEffect">
                                  <p:stCondLst>
                                    <p:cond delay="180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1000"/>
                                        <p:tgtEl>
                                          <p:spTgt spid="24"/>
                                        </p:tgtEl>
                                      </p:cBhvr>
                                    </p:animEffect>
                                  </p:childTnLst>
                                </p:cTn>
                              </p:par>
                              <p:par>
                                <p:cTn id="56" presetID="10" presetClass="entr" presetSubtype="0" fill="hold" nodeType="withEffect">
                                  <p:stCondLst>
                                    <p:cond delay="1800"/>
                                  </p:stCondLst>
                                  <p:childTnLst>
                                    <p:set>
                                      <p:cBhvr>
                                        <p:cTn id="57" dur="1" fill="hold">
                                          <p:stCondLst>
                                            <p:cond delay="0"/>
                                          </p:stCondLst>
                                        </p:cTn>
                                        <p:tgtEl>
                                          <p:spTgt spid="11"/>
                                        </p:tgtEl>
                                        <p:attrNameLst>
                                          <p:attrName>style.visibility</p:attrName>
                                        </p:attrNameLst>
                                      </p:cBhvr>
                                      <p:to>
                                        <p:strVal val="visible"/>
                                      </p:to>
                                    </p:set>
                                    <p:animEffect transition="in" filter="fade">
                                      <p:cBhvr>
                                        <p:cTn id="58" dur="1000"/>
                                        <p:tgtEl>
                                          <p:spTgt spid="11"/>
                                        </p:tgtEl>
                                      </p:cBhvr>
                                    </p:animEffect>
                                  </p:childTnLst>
                                </p:cTn>
                              </p:par>
                              <p:par>
                                <p:cTn id="60" presetID="10" presetClass="entr" presetSubtype="0" fill="hold" nodeType="withEffect">
                                  <p:stCondLst>
                                    <p:cond delay="1800"/>
                                  </p:stCondLst>
                                  <p:childTnLst>
                                    <p:set>
                                      <p:cBhvr>
                                        <p:cTn id="61" dur="1" fill="hold">
                                          <p:stCondLst>
                                            <p:cond delay="0"/>
                                          </p:stCondLst>
                                        </p:cTn>
                                        <p:tgtEl>
                                          <p:spTgt spid="12"/>
                                        </p:tgtEl>
                                        <p:attrNameLst>
                                          <p:attrName>style.visibility</p:attrName>
                                        </p:attrNameLst>
                                      </p:cBhvr>
                                      <p:to>
                                        <p:strVal val="visible"/>
                                      </p:to>
                                    </p:set>
                                    <p:animEffect transition="in" filter="fade">
                                      <p:cBhvr>
                                        <p:cTn id="62" dur="1000"/>
                                        <p:tgtEl>
                                          <p:spTgt spid="12"/>
                                        </p:tgtEl>
                                      </p:cBhvr>
                                    </p:animEffect>
                                  </p:childTnLst>
                                </p:cTn>
                              </p:par>
                              <p:par>
                                <p:cTn id="64" presetID="10" presetClass="entr" presetSubtype="0" fill="hold" nodeType="withEffect">
                                  <p:stCondLst>
                                    <p:cond delay="180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1000"/>
                                        <p:tgtEl>
                                          <p:spTgt spid="13"/>
                                        </p:tgtEl>
                                      </p:cBhvr>
                                    </p:animEffect>
                                  </p:childTnLst>
                                </p:cTn>
                              </p:par>
                              <p:par>
                                <p:cTn id="68" presetID="10" presetClass="entr" presetSubtype="0" fill="hold" nodeType="withEffect">
                                  <p:stCondLst>
                                    <p:cond delay="180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1000"/>
                                        <p:tgtEl>
                                          <p:spTgt spid="25"/>
                                        </p:tgtEl>
                                      </p:cBhvr>
                                    </p:animEffect>
                                  </p:childTnLst>
                                </p:cTn>
                              </p:par>
                              <p:par>
                                <p:cTn id="72" presetID="10" presetClass="entr" presetSubtype="0" fill="hold" nodeType="withEffect">
                                  <p:stCondLst>
                                    <p:cond delay="180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1000"/>
                                        <p:tgtEl>
                                          <p:spTgt spid="26"/>
                                        </p:tgtEl>
                                      </p:cBhvr>
                                    </p:animEffect>
                                  </p:childTnLst>
                                </p:cTn>
                              </p:par>
                              <p:par>
                                <p:cTn id="76" presetID="10" presetClass="entr" presetSubtype="0" fill="hold" nodeType="withEffect">
                                  <p:stCondLst>
                                    <p:cond delay="1800"/>
                                  </p:stCondLst>
                                  <p:childTnLst>
                                    <p:set>
                                      <p:cBhvr>
                                        <p:cTn id="77" dur="1" fill="hold">
                                          <p:stCondLst>
                                            <p:cond delay="0"/>
                                          </p:stCondLst>
                                        </p:cTn>
                                        <p:tgtEl>
                                          <p:spTgt spid="14"/>
                                        </p:tgtEl>
                                        <p:attrNameLst>
                                          <p:attrName>style.visibility</p:attrName>
                                        </p:attrNameLst>
                                      </p:cBhvr>
                                      <p:to>
                                        <p:strVal val="visible"/>
                                      </p:to>
                                    </p:set>
                                    <p:animEffect transition="in" filter="fade">
                                      <p:cBhvr>
                                        <p:cTn id="78" dur="1000"/>
                                        <p:tgtEl>
                                          <p:spTgt spid="14"/>
                                        </p:tgtEl>
                                      </p:cBhvr>
                                    </p:animEffect>
                                  </p:childTnLst>
                                </p:cTn>
                              </p:par>
                              <p:par>
                                <p:cTn id="80" presetID="10" presetClass="entr" presetSubtype="0" fill="hold" nodeType="withEffect">
                                  <p:stCondLst>
                                    <p:cond delay="180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1000"/>
                                        <p:tgtEl>
                                          <p:spTgt spid="27"/>
                                        </p:tgtEl>
                                      </p:cBhvr>
                                    </p:animEffect>
                                  </p:childTnLst>
                                </p:cTn>
                              </p:par>
                              <p:par>
                                <p:cTn id="84" presetID="10" presetClass="entr" presetSubtype="0" fill="hold" nodeType="withEffect">
                                  <p:stCondLst>
                                    <p:cond delay="1800"/>
                                  </p:stCondLst>
                                  <p:childTnLst>
                                    <p:set>
                                      <p:cBhvr>
                                        <p:cTn id="85" dur="1" fill="hold">
                                          <p:stCondLst>
                                            <p:cond delay="0"/>
                                          </p:stCondLst>
                                        </p:cTn>
                                        <p:tgtEl>
                                          <p:spTgt spid="15"/>
                                        </p:tgtEl>
                                        <p:attrNameLst>
                                          <p:attrName>style.visibility</p:attrName>
                                        </p:attrNameLst>
                                      </p:cBhvr>
                                      <p:to>
                                        <p:strVal val="visible"/>
                                      </p:to>
                                    </p:set>
                                    <p:animEffect transition="in" filter="fade">
                                      <p:cBhvr>
                                        <p:cTn id="86" dur="1000"/>
                                        <p:tgtEl>
                                          <p:spTgt spid="15"/>
                                        </p:tgtEl>
                                      </p:cBhvr>
                                    </p:animEffect>
                                  </p:childTnLst>
                                </p:cTn>
                              </p:par>
                              <p:par>
                                <p:cTn id="88" presetID="10" presetClass="entr" presetSubtype="0" fill="hold" nodeType="withEffect">
                                  <p:stCondLst>
                                    <p:cond delay="1800"/>
                                  </p:stCondLst>
                                  <p:childTnLst>
                                    <p:set>
                                      <p:cBhvr>
                                        <p:cTn id="89" dur="1" fill="hold">
                                          <p:stCondLst>
                                            <p:cond delay="0"/>
                                          </p:stCondLst>
                                        </p:cTn>
                                        <p:tgtEl>
                                          <p:spTgt spid="16"/>
                                        </p:tgtEl>
                                        <p:attrNameLst>
                                          <p:attrName>style.visibility</p:attrName>
                                        </p:attrNameLst>
                                      </p:cBhvr>
                                      <p:to>
                                        <p:strVal val="visible"/>
                                      </p:to>
                                    </p:set>
                                    <p:animEffect transition="in" filter="fade">
                                      <p:cBhvr>
                                        <p:cTn id="90" dur="1000"/>
                                        <p:tgtEl>
                                          <p:spTgt spid="16"/>
                                        </p:tgtEl>
                                      </p:cBhvr>
                                    </p:animEffect>
                                  </p:childTnLst>
                                </p:cTn>
                              </p:par>
                              <p:par>
                                <p:cTn id="92" presetID="10" presetClass="entr" presetSubtype="0" fill="hold" nodeType="withEffect">
                                  <p:stCondLst>
                                    <p:cond delay="1800"/>
                                  </p:stCondLst>
                                  <p:childTnLst>
                                    <p:set>
                                      <p:cBhvr>
                                        <p:cTn id="93" dur="1" fill="hold">
                                          <p:stCondLst>
                                            <p:cond delay="0"/>
                                          </p:stCondLst>
                                        </p:cTn>
                                        <p:tgtEl>
                                          <p:spTgt spid="28"/>
                                        </p:tgtEl>
                                        <p:attrNameLst>
                                          <p:attrName>style.visibility</p:attrName>
                                        </p:attrNameLst>
                                      </p:cBhvr>
                                      <p:to>
                                        <p:strVal val="visible"/>
                                      </p:to>
                                    </p:set>
                                    <p:animEffect transition="in" filter="fade">
                                      <p:cBhvr>
                                        <p:cTn id="94" dur="1000"/>
                                        <p:tgtEl>
                                          <p:spTgt spid="28"/>
                                        </p:tgtEl>
                                      </p:cBhvr>
                                    </p:animEffect>
                                  </p:childTnLst>
                                </p:cTn>
                              </p:par>
                              <p:par>
                                <p:cTn id="96" presetID="10" presetClass="entr" presetSubtype="0" fill="hold" nodeType="withEffect">
                                  <p:stCondLst>
                                    <p:cond delay="1800"/>
                                  </p:stCondLst>
                                  <p:childTnLst>
                                    <p:set>
                                      <p:cBhvr>
                                        <p:cTn id="97" dur="1" fill="hold">
                                          <p:stCondLst>
                                            <p:cond delay="0"/>
                                          </p:stCondLst>
                                        </p:cTn>
                                        <p:tgtEl>
                                          <p:spTgt spid="29"/>
                                        </p:tgtEl>
                                        <p:attrNameLst>
                                          <p:attrName>style.visibility</p:attrName>
                                        </p:attrNameLst>
                                      </p:cBhvr>
                                      <p:to>
                                        <p:strVal val="visible"/>
                                      </p:to>
                                    </p:set>
                                    <p:animEffect transition="in" filter="fade">
                                      <p:cBhvr>
                                        <p:cTn id="98" dur="1000"/>
                                        <p:tgtEl>
                                          <p:spTgt spid="29"/>
                                        </p:tgtEl>
                                      </p:cBhvr>
                                    </p:animEffect>
                                  </p:childTnLst>
                                </p:cTn>
                              </p:par>
                              <p:par>
                                <p:cTn id="100" presetID="10" presetClass="entr" presetSubtype="0" fill="hold" nodeType="withEffect">
                                  <p:stCondLst>
                                    <p:cond delay="1800"/>
                                  </p:stCondLst>
                                  <p:childTnLst>
                                    <p:set>
                                      <p:cBhvr>
                                        <p:cTn id="101" dur="1" fill="hold">
                                          <p:stCondLst>
                                            <p:cond delay="0"/>
                                          </p:stCondLst>
                                        </p:cTn>
                                        <p:tgtEl>
                                          <p:spTgt spid="17"/>
                                        </p:tgtEl>
                                        <p:attrNameLst>
                                          <p:attrName>style.visibility</p:attrName>
                                        </p:attrNameLst>
                                      </p:cBhvr>
                                      <p:to>
                                        <p:strVal val="visible"/>
                                      </p:to>
                                    </p:set>
                                    <p:animEffect transition="in" filter="fade">
                                      <p:cBhvr>
                                        <p:cTn id="102" dur="1000"/>
                                        <p:tgtEl>
                                          <p:spTgt spid="17"/>
                                        </p:tgtEl>
                                      </p:cBhvr>
                                    </p:animEffect>
                                  </p:childTnLst>
                                </p:cTn>
                              </p:par>
                              <p:par>
                                <p:cTn id="104" presetID="10" presetClass="entr" presetSubtype="0" fill="hold" nodeType="withEffect">
                                  <p:stCondLst>
                                    <p:cond delay="1800"/>
                                  </p:stCondLst>
                                  <p:childTnLst>
                                    <p:set>
                                      <p:cBhvr>
                                        <p:cTn id="105" dur="1" fill="hold">
                                          <p:stCondLst>
                                            <p:cond delay="0"/>
                                          </p:stCondLst>
                                        </p:cTn>
                                        <p:tgtEl>
                                          <p:spTgt spid="18"/>
                                        </p:tgtEl>
                                        <p:attrNameLst>
                                          <p:attrName>style.visibility</p:attrName>
                                        </p:attrNameLst>
                                      </p:cBhvr>
                                      <p:to>
                                        <p:strVal val="visible"/>
                                      </p:to>
                                    </p:set>
                                    <p:animEffect transition="in" filter="fade">
                                      <p:cBhvr>
                                        <p:cTn id="106" dur="1000"/>
                                        <p:tgtEl>
                                          <p:spTgt spid="18"/>
                                        </p:tgtEl>
                                      </p:cBhvr>
                                    </p:animEffect>
                                  </p:childTnLst>
                                </p:cTn>
                              </p:par>
                              <p:par>
                                <p:cTn id="108" presetID="10" presetClass="entr" presetSubtype="0" fill="hold" nodeType="withEffect">
                                  <p:stCondLst>
                                    <p:cond delay="1800"/>
                                  </p:stCondLst>
                                  <p:childTnLst>
                                    <p:set>
                                      <p:cBhvr>
                                        <p:cTn id="109" dur="1" fill="hold">
                                          <p:stCondLst>
                                            <p:cond delay="0"/>
                                          </p:stCondLst>
                                        </p:cTn>
                                        <p:tgtEl>
                                          <p:spTgt spid="19"/>
                                        </p:tgtEl>
                                        <p:attrNameLst>
                                          <p:attrName>style.visibility</p:attrName>
                                        </p:attrNameLst>
                                      </p:cBhvr>
                                      <p:to>
                                        <p:strVal val="visible"/>
                                      </p:to>
                                    </p:set>
                                    <p:animEffect transition="in" filter="fade">
                                      <p:cBhvr>
                                        <p:cTn id="110" dur="1000"/>
                                        <p:tgtEl>
                                          <p:spTgt spid="19"/>
                                        </p:tgtEl>
                                      </p:cBhvr>
                                    </p:animEffect>
                                  </p:childTnLst>
                                </p:cTn>
                              </p:par>
                              <p:par>
                                <p:cTn id="112" presetID="10" presetClass="entr" presetSubtype="0" fill="hold" nodeType="withEffect">
                                  <p:stCondLst>
                                    <p:cond delay="180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1000"/>
                                        <p:tgtEl>
                                          <p:spTgt spid="30"/>
                                        </p:tgtEl>
                                      </p:cBhvr>
                                    </p:animEffect>
                                  </p:childTnLst>
                                </p:cTn>
                              </p:par>
                              <p:par>
                                <p:cTn id="116" presetID="10" presetClass="entr" presetSubtype="0" fill="hold" nodeType="withEffect">
                                  <p:stCondLst>
                                    <p:cond delay="1800"/>
                                  </p:stCondLst>
                                  <p:childTnLst>
                                    <p:set>
                                      <p:cBhvr>
                                        <p:cTn id="117" dur="1" fill="hold">
                                          <p:stCondLst>
                                            <p:cond delay="0"/>
                                          </p:stCondLst>
                                        </p:cTn>
                                        <p:tgtEl>
                                          <p:spTgt spid="20"/>
                                        </p:tgtEl>
                                        <p:attrNameLst>
                                          <p:attrName>style.visibility</p:attrName>
                                        </p:attrNameLst>
                                      </p:cBhvr>
                                      <p:to>
                                        <p:strVal val="visible"/>
                                      </p:to>
                                    </p:set>
                                    <p:animEffect transition="in" filter="fade">
                                      <p:cBhvr>
                                        <p:cTn id="118" dur="1000"/>
                                        <p:tgtEl>
                                          <p:spTgt spid="20"/>
                                        </p:tgtEl>
                                      </p:cBhvr>
                                    </p:animEffect>
                                  </p:childTnLst>
                                </p:cTn>
                              </p:par>
                              <p:par>
                                <p:cTn id="120" presetID="10" presetClass="entr" presetSubtype="0" fill="hold" nodeType="withEffect">
                                  <p:stCondLst>
                                    <p:cond delay="1800"/>
                                  </p:stCondLst>
                                  <p:childTnLst>
                                    <p:set>
                                      <p:cBhvr>
                                        <p:cTn id="121" dur="1" fill="hold">
                                          <p:stCondLst>
                                            <p:cond delay="0"/>
                                          </p:stCondLst>
                                        </p:cTn>
                                        <p:tgtEl>
                                          <p:spTgt spid="31"/>
                                        </p:tgtEl>
                                        <p:attrNameLst>
                                          <p:attrName>style.visibility</p:attrName>
                                        </p:attrNameLst>
                                      </p:cBhvr>
                                      <p:to>
                                        <p:strVal val="visible"/>
                                      </p:to>
                                    </p:set>
                                    <p:animEffect transition="in" filter="fade">
                                      <p:cBhvr>
                                        <p:cTn id="122" dur="1000"/>
                                        <p:tgtEl>
                                          <p:spTgt spid="31"/>
                                        </p:tgtEl>
                                      </p:cBhvr>
                                    </p:animEffect>
                                  </p:childTnLst>
                                </p:cTn>
                              </p:par>
                              <p:par>
                                <p:cTn id="124" presetID="10" presetClass="entr" presetSubtype="0" fill="hold" nodeType="withEffect">
                                  <p:stCondLst>
                                    <p:cond delay="1800"/>
                                  </p:stCondLst>
                                  <p:childTnLst>
                                    <p:set>
                                      <p:cBhvr>
                                        <p:cTn id="125" dur="1" fill="hold">
                                          <p:stCondLst>
                                            <p:cond delay="0"/>
                                          </p:stCondLst>
                                        </p:cTn>
                                        <p:tgtEl>
                                          <p:spTgt spid="32"/>
                                        </p:tgtEl>
                                        <p:attrNameLst>
                                          <p:attrName>style.visibility</p:attrName>
                                        </p:attrNameLst>
                                      </p:cBhvr>
                                      <p:to>
                                        <p:strVal val="visible"/>
                                      </p:to>
                                    </p:set>
                                    <p:animEffect transition="in" filter="fade">
                                      <p:cBhvr>
                                        <p:cTn id="126" dur="1000"/>
                                        <p:tgtEl>
                                          <p:spTgt spid="32"/>
                                        </p:tgtEl>
                                      </p:cBhvr>
                                    </p:animEffect>
                                  </p:childTnLst>
                                </p:cTn>
                              </p:par>
                              <p:par>
                                <p:cTn id="128" presetID="10" presetClass="entr" presetSubtype="0" fill="hold" nodeType="withEffect">
                                  <p:stCondLst>
                                    <p:cond delay="1800"/>
                                  </p:stCondLst>
                                  <p:childTnLst>
                                    <p:set>
                                      <p:cBhvr>
                                        <p:cTn id="129" dur="1" fill="hold">
                                          <p:stCondLst>
                                            <p:cond delay="0"/>
                                          </p:stCondLst>
                                        </p:cTn>
                                        <p:tgtEl>
                                          <p:spTgt spid="33"/>
                                        </p:tgtEl>
                                        <p:attrNameLst>
                                          <p:attrName>style.visibility</p:attrName>
                                        </p:attrNameLst>
                                      </p:cBhvr>
                                      <p:to>
                                        <p:strVal val="visible"/>
                                      </p:to>
                                    </p:set>
                                    <p:animEffect transition="in" filter="fade">
                                      <p:cBhvr>
                                        <p:cTn id="130" dur="1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Worked example: 4 courses</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The numbers you will see in the demo</a:t>
            </a:r>
          </a:p>
        </p:txBody>
      </p:sp>
      <p:sp>
        <p:nvSpPr>
          <p:cNvPr id="5" name="Rounded Rectangle 4"/>
          <p:cNvSpPr/>
          <p:nvPr/>
        </p:nvSpPr>
        <p:spPr>
          <a:xfrm>
            <a:off x="640080" y="1737360"/>
            <a:ext cx="6675120" cy="448056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20240"/>
            <a:ext cx="4572000" cy="45720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Canine Obedience Training (6 months)</a:t>
            </a:r>
          </a:p>
        </p:txBody>
      </p:sp>
      <p:sp>
        <p:nvSpPr>
          <p:cNvPr id="7" name="TextBox 6"/>
          <p:cNvSpPr txBox="1"/>
          <p:nvPr/>
        </p:nvSpPr>
        <p:spPr>
          <a:xfrm>
            <a:off x="5303520" y="1920240"/>
            <a:ext cx="1828800" cy="457200"/>
          </a:xfrm>
          <a:prstGeom prst="rect">
            <a:avLst/>
          </a:prstGeom>
          <a:noFill/>
        </p:spPr>
        <p:txBody>
          <a:bodyPr wrap="square" anchor="t" lIns="45720" rIns="45720">
            <a:spAutoFit/>
          </a:bodyPr>
          <a:lstStyle/>
          <a:p>
            <a:pPr algn="r">
              <a:spcAft>
                <a:spcPts val="600"/>
              </a:spcAft>
            </a:pPr>
            <a:r>
              <a:rPr sz="1700" b="1">
                <a:solidFill>
                  <a:srgbClr val="2F302D"/>
                </a:solidFill>
                <a:latin typeface="Calibri"/>
              </a:rPr>
              <a:t>R1,500.00</a:t>
            </a:r>
          </a:p>
        </p:txBody>
      </p:sp>
      <p:sp>
        <p:nvSpPr>
          <p:cNvPr id="8" name="TextBox 7"/>
          <p:cNvSpPr txBox="1"/>
          <p:nvPr/>
        </p:nvSpPr>
        <p:spPr>
          <a:xfrm>
            <a:off x="822960" y="2423160"/>
            <a:ext cx="4572000" cy="45720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Pet Grooming (6 months)</a:t>
            </a:r>
          </a:p>
        </p:txBody>
      </p:sp>
      <p:sp>
        <p:nvSpPr>
          <p:cNvPr id="9" name="TextBox 8"/>
          <p:cNvSpPr txBox="1"/>
          <p:nvPr/>
        </p:nvSpPr>
        <p:spPr>
          <a:xfrm>
            <a:off x="5303520" y="2423160"/>
            <a:ext cx="1828800" cy="457200"/>
          </a:xfrm>
          <a:prstGeom prst="rect">
            <a:avLst/>
          </a:prstGeom>
          <a:noFill/>
        </p:spPr>
        <p:txBody>
          <a:bodyPr wrap="square" anchor="t" lIns="45720" rIns="45720">
            <a:spAutoFit/>
          </a:bodyPr>
          <a:lstStyle/>
          <a:p>
            <a:pPr algn="r">
              <a:spcAft>
                <a:spcPts val="600"/>
              </a:spcAft>
            </a:pPr>
            <a:r>
              <a:rPr sz="1700" b="1">
                <a:solidFill>
                  <a:srgbClr val="2F302D"/>
                </a:solidFill>
                <a:latin typeface="Calibri"/>
              </a:rPr>
              <a:t>R1,500.00</a:t>
            </a:r>
          </a:p>
        </p:txBody>
      </p:sp>
      <p:sp>
        <p:nvSpPr>
          <p:cNvPr id="10" name="TextBox 9"/>
          <p:cNvSpPr txBox="1"/>
          <p:nvPr/>
        </p:nvSpPr>
        <p:spPr>
          <a:xfrm>
            <a:off x="822960" y="2926080"/>
            <a:ext cx="4572000" cy="45720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Puppy Care (6 weeks)</a:t>
            </a:r>
          </a:p>
        </p:txBody>
      </p:sp>
      <p:sp>
        <p:nvSpPr>
          <p:cNvPr id="11" name="TextBox 10"/>
          <p:cNvSpPr txBox="1"/>
          <p:nvPr/>
        </p:nvSpPr>
        <p:spPr>
          <a:xfrm>
            <a:off x="5303520" y="2926080"/>
            <a:ext cx="1828800" cy="457200"/>
          </a:xfrm>
          <a:prstGeom prst="rect">
            <a:avLst/>
          </a:prstGeom>
          <a:noFill/>
        </p:spPr>
        <p:txBody>
          <a:bodyPr wrap="square" anchor="t" lIns="45720" rIns="45720">
            <a:spAutoFit/>
          </a:bodyPr>
          <a:lstStyle/>
          <a:p>
            <a:pPr algn="r">
              <a:spcAft>
                <a:spcPts val="600"/>
              </a:spcAft>
            </a:pPr>
            <a:r>
              <a:rPr sz="1700" b="1">
                <a:solidFill>
                  <a:srgbClr val="2F302D"/>
                </a:solidFill>
                <a:latin typeface="Calibri"/>
              </a:rPr>
              <a:t>R750.00</a:t>
            </a:r>
          </a:p>
        </p:txBody>
      </p:sp>
      <p:sp>
        <p:nvSpPr>
          <p:cNvPr id="12" name="TextBox 11"/>
          <p:cNvSpPr txBox="1"/>
          <p:nvPr/>
        </p:nvSpPr>
        <p:spPr>
          <a:xfrm>
            <a:off x="822960" y="3429000"/>
            <a:ext cx="4572000" cy="45720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Pet First Aid (6 weeks)</a:t>
            </a:r>
          </a:p>
        </p:txBody>
      </p:sp>
      <p:sp>
        <p:nvSpPr>
          <p:cNvPr id="13" name="TextBox 12"/>
          <p:cNvSpPr txBox="1"/>
          <p:nvPr/>
        </p:nvSpPr>
        <p:spPr>
          <a:xfrm>
            <a:off x="5303520" y="3429000"/>
            <a:ext cx="1828800" cy="457200"/>
          </a:xfrm>
          <a:prstGeom prst="rect">
            <a:avLst/>
          </a:prstGeom>
          <a:noFill/>
        </p:spPr>
        <p:txBody>
          <a:bodyPr wrap="square" anchor="t" lIns="45720" rIns="45720">
            <a:spAutoFit/>
          </a:bodyPr>
          <a:lstStyle/>
          <a:p>
            <a:pPr algn="r">
              <a:spcAft>
                <a:spcPts val="600"/>
              </a:spcAft>
            </a:pPr>
            <a:r>
              <a:rPr sz="1700" b="1">
                <a:solidFill>
                  <a:srgbClr val="2F302D"/>
                </a:solidFill>
                <a:latin typeface="Calibri"/>
              </a:rPr>
              <a:t>R750.00</a:t>
            </a:r>
          </a:p>
        </p:txBody>
      </p:sp>
      <p:sp>
        <p:nvSpPr>
          <p:cNvPr id="14" name="TextBox 13"/>
          <p:cNvSpPr txBox="1"/>
          <p:nvPr/>
        </p:nvSpPr>
        <p:spPr>
          <a:xfrm>
            <a:off x="822960" y="4023360"/>
            <a:ext cx="4114800" cy="41148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Subtotal</a:t>
            </a:r>
          </a:p>
        </p:txBody>
      </p:sp>
      <p:sp>
        <p:nvSpPr>
          <p:cNvPr id="15" name="TextBox 14"/>
          <p:cNvSpPr txBox="1"/>
          <p:nvPr/>
        </p:nvSpPr>
        <p:spPr>
          <a:xfrm>
            <a:off x="5303520" y="4023360"/>
            <a:ext cx="1828800" cy="411480"/>
          </a:xfrm>
          <a:prstGeom prst="rect">
            <a:avLst/>
          </a:prstGeom>
          <a:noFill/>
        </p:spPr>
        <p:txBody>
          <a:bodyPr wrap="square" anchor="t" lIns="45720" rIns="45720">
            <a:spAutoFit/>
          </a:bodyPr>
          <a:lstStyle/>
          <a:p>
            <a:pPr algn="r">
              <a:spcAft>
                <a:spcPts val="600"/>
              </a:spcAft>
            </a:pPr>
            <a:r>
              <a:rPr sz="1700" b="1">
                <a:solidFill>
                  <a:srgbClr val="2F302D"/>
                </a:solidFill>
                <a:latin typeface="Calibri"/>
              </a:rPr>
              <a:t>R4,500.00</a:t>
            </a:r>
          </a:p>
        </p:txBody>
      </p:sp>
      <p:sp>
        <p:nvSpPr>
          <p:cNvPr id="16" name="TextBox 15"/>
          <p:cNvSpPr txBox="1"/>
          <p:nvPr/>
        </p:nvSpPr>
        <p:spPr>
          <a:xfrm>
            <a:off x="822960" y="4434840"/>
            <a:ext cx="4114800" cy="41148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Discount (15%)</a:t>
            </a:r>
          </a:p>
        </p:txBody>
      </p:sp>
      <p:sp>
        <p:nvSpPr>
          <p:cNvPr id="17" name="TextBox 16"/>
          <p:cNvSpPr txBox="1"/>
          <p:nvPr/>
        </p:nvSpPr>
        <p:spPr>
          <a:xfrm>
            <a:off x="5303520" y="4434840"/>
            <a:ext cx="1828800" cy="411480"/>
          </a:xfrm>
          <a:prstGeom prst="rect">
            <a:avLst/>
          </a:prstGeom>
          <a:noFill/>
        </p:spPr>
        <p:txBody>
          <a:bodyPr wrap="square" anchor="t" lIns="45720" rIns="45720">
            <a:spAutoFit/>
          </a:bodyPr>
          <a:lstStyle/>
          <a:p>
            <a:pPr algn="r">
              <a:spcAft>
                <a:spcPts val="600"/>
              </a:spcAft>
            </a:pPr>
            <a:r>
              <a:rPr sz="1700" b="1">
                <a:solidFill>
                  <a:srgbClr val="2F302D"/>
                </a:solidFill>
                <a:latin typeface="Calibri"/>
              </a:rPr>
              <a:t>-R675.00</a:t>
            </a:r>
          </a:p>
        </p:txBody>
      </p:sp>
      <p:sp>
        <p:nvSpPr>
          <p:cNvPr id="18" name="TextBox 17"/>
          <p:cNvSpPr txBox="1"/>
          <p:nvPr/>
        </p:nvSpPr>
        <p:spPr>
          <a:xfrm>
            <a:off x="822960" y="4846320"/>
            <a:ext cx="4114800" cy="41148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After discount</a:t>
            </a:r>
          </a:p>
        </p:txBody>
      </p:sp>
      <p:sp>
        <p:nvSpPr>
          <p:cNvPr id="19" name="TextBox 18"/>
          <p:cNvSpPr txBox="1"/>
          <p:nvPr/>
        </p:nvSpPr>
        <p:spPr>
          <a:xfrm>
            <a:off x="5303520" y="4846320"/>
            <a:ext cx="1828800" cy="411480"/>
          </a:xfrm>
          <a:prstGeom prst="rect">
            <a:avLst/>
          </a:prstGeom>
          <a:noFill/>
        </p:spPr>
        <p:txBody>
          <a:bodyPr wrap="square" anchor="t" lIns="45720" rIns="45720">
            <a:spAutoFit/>
          </a:bodyPr>
          <a:lstStyle/>
          <a:p>
            <a:pPr algn="r">
              <a:spcAft>
                <a:spcPts val="600"/>
              </a:spcAft>
            </a:pPr>
            <a:r>
              <a:rPr sz="1700" b="1">
                <a:solidFill>
                  <a:srgbClr val="2F302D"/>
                </a:solidFill>
                <a:latin typeface="Calibri"/>
              </a:rPr>
              <a:t>R3,825.00</a:t>
            </a:r>
          </a:p>
        </p:txBody>
      </p:sp>
      <p:sp>
        <p:nvSpPr>
          <p:cNvPr id="20" name="TextBox 19"/>
          <p:cNvSpPr txBox="1"/>
          <p:nvPr/>
        </p:nvSpPr>
        <p:spPr>
          <a:xfrm>
            <a:off x="822960" y="5257800"/>
            <a:ext cx="4114800" cy="41148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VAT (15%)</a:t>
            </a:r>
          </a:p>
        </p:txBody>
      </p:sp>
      <p:sp>
        <p:nvSpPr>
          <p:cNvPr id="21" name="TextBox 20"/>
          <p:cNvSpPr txBox="1"/>
          <p:nvPr/>
        </p:nvSpPr>
        <p:spPr>
          <a:xfrm>
            <a:off x="5303520" y="5257800"/>
            <a:ext cx="1828800" cy="411480"/>
          </a:xfrm>
          <a:prstGeom prst="rect">
            <a:avLst/>
          </a:prstGeom>
          <a:noFill/>
        </p:spPr>
        <p:txBody>
          <a:bodyPr wrap="square" anchor="t" lIns="45720" rIns="45720">
            <a:spAutoFit/>
          </a:bodyPr>
          <a:lstStyle/>
          <a:p>
            <a:pPr algn="r">
              <a:spcAft>
                <a:spcPts val="600"/>
              </a:spcAft>
            </a:pPr>
            <a:r>
              <a:rPr sz="1700" b="1">
                <a:solidFill>
                  <a:srgbClr val="2F302D"/>
                </a:solidFill>
                <a:latin typeface="Calibri"/>
              </a:rPr>
              <a:t>R573.75</a:t>
            </a:r>
          </a:p>
        </p:txBody>
      </p:sp>
      <p:sp>
        <p:nvSpPr>
          <p:cNvPr id="22" name="Rectangle 21"/>
          <p:cNvSpPr/>
          <p:nvPr/>
        </p:nvSpPr>
        <p:spPr>
          <a:xfrm>
            <a:off x="731520" y="5650992"/>
            <a:ext cx="6492240" cy="457200"/>
          </a:xfrm>
          <a:prstGeom prst="rect">
            <a:avLst/>
          </a:prstGeom>
          <a:solidFill>
            <a:srgbClr val="B0E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669280"/>
            <a:ext cx="4114800" cy="411480"/>
          </a:xfrm>
          <a:prstGeom prst="rect">
            <a:avLst/>
          </a:prstGeom>
          <a:noFill/>
        </p:spPr>
        <p:txBody>
          <a:bodyPr wrap="square" anchor="t" lIns="45720" rIns="45720">
            <a:spAutoFit/>
          </a:bodyPr>
          <a:lstStyle/>
          <a:p>
            <a:pPr algn="l">
              <a:spcAft>
                <a:spcPts val="600"/>
              </a:spcAft>
            </a:pPr>
            <a:r>
              <a:rPr sz="1700" b="1">
                <a:solidFill>
                  <a:srgbClr val="2F302D"/>
                </a:solidFill>
                <a:latin typeface="Calibri"/>
              </a:rPr>
              <a:t>Total</a:t>
            </a:r>
          </a:p>
        </p:txBody>
      </p:sp>
      <p:sp>
        <p:nvSpPr>
          <p:cNvPr id="24" name="TextBox 23"/>
          <p:cNvSpPr txBox="1"/>
          <p:nvPr/>
        </p:nvSpPr>
        <p:spPr>
          <a:xfrm>
            <a:off x="5303520" y="5669280"/>
            <a:ext cx="1828800" cy="411480"/>
          </a:xfrm>
          <a:prstGeom prst="rect">
            <a:avLst/>
          </a:prstGeom>
          <a:noFill/>
        </p:spPr>
        <p:txBody>
          <a:bodyPr wrap="square" anchor="t" lIns="45720" rIns="45720">
            <a:spAutoFit/>
          </a:bodyPr>
          <a:lstStyle/>
          <a:p>
            <a:pPr algn="r">
              <a:spcAft>
                <a:spcPts val="600"/>
              </a:spcAft>
            </a:pPr>
            <a:r>
              <a:rPr sz="1700" b="1">
                <a:solidFill>
                  <a:srgbClr val="2F302D"/>
                </a:solidFill>
                <a:latin typeface="Calibri"/>
              </a:rPr>
              <a:t>R4,398.75</a:t>
            </a:r>
          </a:p>
        </p:txBody>
      </p:sp>
      <p:sp>
        <p:nvSpPr>
          <p:cNvPr id="25" name="Rounded Rectangle 24"/>
          <p:cNvSpPr/>
          <p:nvPr/>
        </p:nvSpPr>
        <p:spPr>
          <a:xfrm>
            <a:off x="7772400" y="1737360"/>
            <a:ext cx="3840480" cy="4480560"/>
          </a:xfrm>
          <a:prstGeom prst="roundRect">
            <a:avLst>
              <a:gd name="adj" fmla="val 6000"/>
            </a:avLst>
          </a:prstGeom>
          <a:solidFill>
            <a:srgbClr val="B0E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01000" y="1920240"/>
            <a:ext cx="3383280" cy="457200"/>
          </a:xfrm>
          <a:prstGeom prst="rect">
            <a:avLst/>
          </a:prstGeom>
          <a:noFill/>
        </p:spPr>
        <p:txBody>
          <a:bodyPr wrap="square" anchor="t" lIns="45720" rIns="45720">
            <a:spAutoFit/>
          </a:bodyPr>
          <a:lstStyle/>
          <a:p>
            <a:pPr algn="l">
              <a:spcAft>
                <a:spcPts val="600"/>
              </a:spcAft>
            </a:pPr>
            <a:r>
              <a:rPr sz="2200" b="1">
                <a:solidFill>
                  <a:srgbClr val="5A3E2B"/>
                </a:solidFill>
                <a:latin typeface="Book Antiqua"/>
              </a:rPr>
              <a:t>Check it</a:t>
            </a:r>
          </a:p>
        </p:txBody>
      </p:sp>
      <p:sp>
        <p:nvSpPr>
          <p:cNvPr id="27" name="TextBox 26"/>
          <p:cNvSpPr txBox="1"/>
          <p:nvPr/>
        </p:nvSpPr>
        <p:spPr>
          <a:xfrm>
            <a:off x="8001000" y="2514600"/>
            <a:ext cx="3383280" cy="347472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4 x courses picks the 15% tier.</a:t>
            </a:r>
          </a:p>
          <a:p>
            <a:pPr algn="l">
              <a:spcAft>
                <a:spcPts val="600"/>
              </a:spcAft>
            </a:pPr>
            <a:r>
              <a:rPr sz="1600" b="0">
                <a:solidFill>
                  <a:srgbClr val="2F302D"/>
                </a:solidFill>
                <a:latin typeface="Calibri"/>
              </a:rPr>
              <a:t>R4,500 x 0.15 = R675 off.</a:t>
            </a:r>
          </a:p>
          <a:p>
            <a:pPr algn="l">
              <a:spcAft>
                <a:spcPts val="600"/>
              </a:spcAft>
            </a:pPr>
            <a:r>
              <a:rPr sz="1600" b="0">
                <a:solidFill>
                  <a:srgbClr val="2F302D"/>
                </a:solidFill>
                <a:latin typeface="Calibri"/>
              </a:rPr>
              <a:t>R3,825 x 0.15 = R573.75 VAT.</a:t>
            </a:r>
          </a:p>
          <a:p>
            <a:pPr algn="l">
              <a:spcAft>
                <a:spcPts val="600"/>
              </a:spcAft>
            </a:pPr>
            <a:r>
              <a:rPr sz="1600" b="0">
                <a:solidFill>
                  <a:srgbClr val="2F302D"/>
                </a:solidFill>
                <a:latin typeface="Calibri"/>
              </a:rPr>
              <a:t>R3,825 + R573.75 = R4,398.75.</a:t>
            </a:r>
          </a:p>
          <a:p>
            <a:pPr algn="l">
              <a:spcAft>
                <a:spcPts val="600"/>
              </a:spcAft>
            </a:pPr>
            <a:r>
              <a:rPr sz="1600" b="0">
                <a:solidFill>
                  <a:srgbClr val="2F302D"/>
                </a:solidFill>
                <a:latin typeface="Calibri"/>
              </a:rPr>
              <a:t/>
            </a:r>
          </a:p>
          <a:p>
            <a:pPr algn="l">
              <a:spcAft>
                <a:spcPts val="600"/>
              </a:spcAft>
            </a:pPr>
            <a:r>
              <a:rPr sz="1600" b="0">
                <a:solidFill>
                  <a:srgbClr val="2F302D"/>
                </a:solidFill>
                <a:latin typeface="Calibri"/>
              </a:rPr>
              <a:t>VAT is worked out on the R3,825 the customer actually pays, not on the R4,500 list price.</a:t>
            </a:r>
          </a:p>
        </p:txBody>
      </p:sp>
      <p:sp>
        <p:nvSpPr>
          <p:cNvPr id="28" name="TextBox 27"/>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Mohamed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8"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1000"/>
                                        <p:tgtEl>
                                          <p:spTgt spid="25"/>
                                        </p:tgtEl>
                                      </p:cBhvr>
                                    </p:animEffect>
                                  </p:childTnLst>
                                </p:cTn>
                              </p:par>
                              <p:par>
                                <p:cTn id="24" presetID="10" presetClass="entr" presetSubtype="0" fill="hold" nodeType="withEffect">
                                  <p:stCondLst>
                                    <p:cond delay="75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childTnLst>
                                </p:cTn>
                              </p:par>
                              <p:par>
                                <p:cTn id="28" presetID="10" presetClass="entr" presetSubtype="0" fill="hold" nodeType="withEffect">
                                  <p:stCondLst>
                                    <p:cond delay="90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1000"/>
                                        <p:tgtEl>
                                          <p:spTgt spid="7"/>
                                        </p:tgtEl>
                                      </p:cBhvr>
                                    </p:animEffect>
                                  </p:childTnLst>
                                </p:cTn>
                              </p:par>
                              <p:par>
                                <p:cTn id="32" presetID="10" presetClass="entr" presetSubtype="0" fill="hold" nodeType="withEffect">
                                  <p:stCondLst>
                                    <p:cond delay="105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1000"/>
                                        <p:tgtEl>
                                          <p:spTgt spid="26"/>
                                        </p:tgtEl>
                                      </p:cBhvr>
                                    </p:animEffect>
                                  </p:childTnLst>
                                </p:cTn>
                              </p:par>
                              <p:par>
                                <p:cTn id="36" presetID="10" presetClass="entr" presetSubtype="0" fill="hold" nodeType="withEffect">
                                  <p:stCondLst>
                                    <p:cond delay="120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1000"/>
                                        <p:tgtEl>
                                          <p:spTgt spid="8"/>
                                        </p:tgtEl>
                                      </p:cBhvr>
                                    </p:animEffect>
                                  </p:childTnLst>
                                </p:cTn>
                              </p:par>
                              <p:par>
                                <p:cTn id="40" presetID="10" presetClass="entr" presetSubtype="0" fill="hold" nodeType="withEffect">
                                  <p:stCondLst>
                                    <p:cond delay="135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childTnLst>
                                </p:cTn>
                              </p:par>
                              <p:par>
                                <p:cTn id="44" presetID="10" presetClass="entr" presetSubtype="0" fill="hold" nodeType="withEffect">
                                  <p:stCondLst>
                                    <p:cond delay="150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1000"/>
                                        <p:tgtEl>
                                          <p:spTgt spid="27"/>
                                        </p:tgtEl>
                                      </p:cBhvr>
                                    </p:animEffect>
                                  </p:childTnLst>
                                </p:cTn>
                              </p:par>
                              <p:par>
                                <p:cTn id="48" presetID="10" presetClass="entr" presetSubtype="0" fill="hold" nodeType="withEffect">
                                  <p:stCondLst>
                                    <p:cond delay="165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1000"/>
                                        <p:tgtEl>
                                          <p:spTgt spid="10"/>
                                        </p:tgtEl>
                                      </p:cBhvr>
                                    </p:animEffect>
                                  </p:childTnLst>
                                </p:cTn>
                              </p:par>
                              <p:par>
                                <p:cTn id="52" presetID="10" presetClass="entr" presetSubtype="0" fill="hold" nodeType="withEffect">
                                  <p:stCondLst>
                                    <p:cond delay="180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1000"/>
                                        <p:tgtEl>
                                          <p:spTgt spid="11"/>
                                        </p:tgtEl>
                                      </p:cBhvr>
                                    </p:animEffect>
                                  </p:childTnLst>
                                </p:cTn>
                              </p:par>
                              <p:par>
                                <p:cTn id="56" presetID="10" presetClass="entr" presetSubtype="0" fill="hold" nodeType="withEffect">
                                  <p:stCondLst>
                                    <p:cond delay="180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1000"/>
                                        <p:tgtEl>
                                          <p:spTgt spid="12"/>
                                        </p:tgtEl>
                                      </p:cBhvr>
                                    </p:animEffect>
                                  </p:childTnLst>
                                </p:cTn>
                              </p:par>
                              <p:par>
                                <p:cTn id="60" presetID="10" presetClass="entr" presetSubtype="0" fill="hold" nodeType="withEffect">
                                  <p:stCondLst>
                                    <p:cond delay="180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1000"/>
                                        <p:tgtEl>
                                          <p:spTgt spid="13"/>
                                        </p:tgtEl>
                                      </p:cBhvr>
                                    </p:animEffect>
                                  </p:childTnLst>
                                </p:cTn>
                              </p:par>
                              <p:par>
                                <p:cTn id="64" presetID="10" presetClass="entr" presetSubtype="0" fill="hold" nodeType="withEffect">
                                  <p:stCondLst>
                                    <p:cond delay="1800"/>
                                  </p:stCondLst>
                                  <p:childTnLst>
                                    <p:set>
                                      <p:cBhvr>
                                        <p:cTn id="65" dur="1" fill="hold">
                                          <p:stCondLst>
                                            <p:cond delay="0"/>
                                          </p:stCondLst>
                                        </p:cTn>
                                        <p:tgtEl>
                                          <p:spTgt spid="14"/>
                                        </p:tgtEl>
                                        <p:attrNameLst>
                                          <p:attrName>style.visibility</p:attrName>
                                        </p:attrNameLst>
                                      </p:cBhvr>
                                      <p:to>
                                        <p:strVal val="visible"/>
                                      </p:to>
                                    </p:set>
                                    <p:animEffect transition="in" filter="fade">
                                      <p:cBhvr>
                                        <p:cTn id="66" dur="1000"/>
                                        <p:tgtEl>
                                          <p:spTgt spid="14"/>
                                        </p:tgtEl>
                                      </p:cBhvr>
                                    </p:animEffect>
                                  </p:childTnLst>
                                </p:cTn>
                              </p:par>
                              <p:par>
                                <p:cTn id="68" presetID="10" presetClass="entr" presetSubtype="0" fill="hold" nodeType="withEffect">
                                  <p:stCondLst>
                                    <p:cond delay="1800"/>
                                  </p:stCondLst>
                                  <p:childTnLst>
                                    <p:set>
                                      <p:cBhvr>
                                        <p:cTn id="69" dur="1" fill="hold">
                                          <p:stCondLst>
                                            <p:cond delay="0"/>
                                          </p:stCondLst>
                                        </p:cTn>
                                        <p:tgtEl>
                                          <p:spTgt spid="15"/>
                                        </p:tgtEl>
                                        <p:attrNameLst>
                                          <p:attrName>style.visibility</p:attrName>
                                        </p:attrNameLst>
                                      </p:cBhvr>
                                      <p:to>
                                        <p:strVal val="visible"/>
                                      </p:to>
                                    </p:set>
                                    <p:animEffect transition="in" filter="fade">
                                      <p:cBhvr>
                                        <p:cTn id="70" dur="1000"/>
                                        <p:tgtEl>
                                          <p:spTgt spid="15"/>
                                        </p:tgtEl>
                                      </p:cBhvr>
                                    </p:animEffect>
                                  </p:childTnLst>
                                </p:cTn>
                              </p:par>
                              <p:par>
                                <p:cTn id="72" presetID="10" presetClass="entr" presetSubtype="0" fill="hold" nodeType="withEffect">
                                  <p:stCondLst>
                                    <p:cond delay="1800"/>
                                  </p:stCondLst>
                                  <p:childTnLst>
                                    <p:set>
                                      <p:cBhvr>
                                        <p:cTn id="73" dur="1" fill="hold">
                                          <p:stCondLst>
                                            <p:cond delay="0"/>
                                          </p:stCondLst>
                                        </p:cTn>
                                        <p:tgtEl>
                                          <p:spTgt spid="16"/>
                                        </p:tgtEl>
                                        <p:attrNameLst>
                                          <p:attrName>style.visibility</p:attrName>
                                        </p:attrNameLst>
                                      </p:cBhvr>
                                      <p:to>
                                        <p:strVal val="visible"/>
                                      </p:to>
                                    </p:set>
                                    <p:animEffect transition="in" filter="fade">
                                      <p:cBhvr>
                                        <p:cTn id="74" dur="1000"/>
                                        <p:tgtEl>
                                          <p:spTgt spid="16"/>
                                        </p:tgtEl>
                                      </p:cBhvr>
                                    </p:animEffect>
                                  </p:childTnLst>
                                </p:cTn>
                              </p:par>
                              <p:par>
                                <p:cTn id="76" presetID="10" presetClass="entr" presetSubtype="0" fill="hold" nodeType="withEffect">
                                  <p:stCondLst>
                                    <p:cond delay="1800"/>
                                  </p:stCondLst>
                                  <p:childTnLst>
                                    <p:set>
                                      <p:cBhvr>
                                        <p:cTn id="77" dur="1" fill="hold">
                                          <p:stCondLst>
                                            <p:cond delay="0"/>
                                          </p:stCondLst>
                                        </p:cTn>
                                        <p:tgtEl>
                                          <p:spTgt spid="17"/>
                                        </p:tgtEl>
                                        <p:attrNameLst>
                                          <p:attrName>style.visibility</p:attrName>
                                        </p:attrNameLst>
                                      </p:cBhvr>
                                      <p:to>
                                        <p:strVal val="visible"/>
                                      </p:to>
                                    </p:set>
                                    <p:animEffect transition="in" filter="fade">
                                      <p:cBhvr>
                                        <p:cTn id="78" dur="1000"/>
                                        <p:tgtEl>
                                          <p:spTgt spid="17"/>
                                        </p:tgtEl>
                                      </p:cBhvr>
                                    </p:animEffect>
                                  </p:childTnLst>
                                </p:cTn>
                              </p:par>
                              <p:par>
                                <p:cTn id="80" presetID="10" presetClass="entr" presetSubtype="0" fill="hold" nodeType="withEffect">
                                  <p:stCondLst>
                                    <p:cond delay="1800"/>
                                  </p:stCondLst>
                                  <p:childTnLst>
                                    <p:set>
                                      <p:cBhvr>
                                        <p:cTn id="81" dur="1" fill="hold">
                                          <p:stCondLst>
                                            <p:cond delay="0"/>
                                          </p:stCondLst>
                                        </p:cTn>
                                        <p:tgtEl>
                                          <p:spTgt spid="18"/>
                                        </p:tgtEl>
                                        <p:attrNameLst>
                                          <p:attrName>style.visibility</p:attrName>
                                        </p:attrNameLst>
                                      </p:cBhvr>
                                      <p:to>
                                        <p:strVal val="visible"/>
                                      </p:to>
                                    </p:set>
                                    <p:animEffect transition="in" filter="fade">
                                      <p:cBhvr>
                                        <p:cTn id="82" dur="1000"/>
                                        <p:tgtEl>
                                          <p:spTgt spid="18"/>
                                        </p:tgtEl>
                                      </p:cBhvr>
                                    </p:animEffect>
                                  </p:childTnLst>
                                </p:cTn>
                              </p:par>
                              <p:par>
                                <p:cTn id="84" presetID="10" presetClass="entr" presetSubtype="0" fill="hold" nodeType="withEffect">
                                  <p:stCondLst>
                                    <p:cond delay="1800"/>
                                  </p:stCondLst>
                                  <p:childTnLst>
                                    <p:set>
                                      <p:cBhvr>
                                        <p:cTn id="85" dur="1" fill="hold">
                                          <p:stCondLst>
                                            <p:cond delay="0"/>
                                          </p:stCondLst>
                                        </p:cTn>
                                        <p:tgtEl>
                                          <p:spTgt spid="19"/>
                                        </p:tgtEl>
                                        <p:attrNameLst>
                                          <p:attrName>style.visibility</p:attrName>
                                        </p:attrNameLst>
                                      </p:cBhvr>
                                      <p:to>
                                        <p:strVal val="visible"/>
                                      </p:to>
                                    </p:set>
                                    <p:animEffect transition="in" filter="fade">
                                      <p:cBhvr>
                                        <p:cTn id="86" dur="1000"/>
                                        <p:tgtEl>
                                          <p:spTgt spid="19"/>
                                        </p:tgtEl>
                                      </p:cBhvr>
                                    </p:animEffect>
                                  </p:childTnLst>
                                </p:cTn>
                              </p:par>
                              <p:par>
                                <p:cTn id="88" presetID="10" presetClass="entr" presetSubtype="0" fill="hold" nodeType="withEffect">
                                  <p:stCondLst>
                                    <p:cond delay="1800"/>
                                  </p:stCondLst>
                                  <p:childTnLst>
                                    <p:set>
                                      <p:cBhvr>
                                        <p:cTn id="89" dur="1" fill="hold">
                                          <p:stCondLst>
                                            <p:cond delay="0"/>
                                          </p:stCondLst>
                                        </p:cTn>
                                        <p:tgtEl>
                                          <p:spTgt spid="20"/>
                                        </p:tgtEl>
                                        <p:attrNameLst>
                                          <p:attrName>style.visibility</p:attrName>
                                        </p:attrNameLst>
                                      </p:cBhvr>
                                      <p:to>
                                        <p:strVal val="visible"/>
                                      </p:to>
                                    </p:set>
                                    <p:animEffect transition="in" filter="fade">
                                      <p:cBhvr>
                                        <p:cTn id="90" dur="1000"/>
                                        <p:tgtEl>
                                          <p:spTgt spid="20"/>
                                        </p:tgtEl>
                                      </p:cBhvr>
                                    </p:animEffect>
                                  </p:childTnLst>
                                </p:cTn>
                              </p:par>
                              <p:par>
                                <p:cTn id="92" presetID="10" presetClass="entr" presetSubtype="0" fill="hold" nodeType="withEffect">
                                  <p:stCondLst>
                                    <p:cond delay="180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1000"/>
                                        <p:tgtEl>
                                          <p:spTgt spid="21"/>
                                        </p:tgtEl>
                                      </p:cBhvr>
                                    </p:animEffect>
                                  </p:childTnLst>
                                </p:cTn>
                              </p:par>
                              <p:par>
                                <p:cTn id="96" presetID="10" presetClass="entr" presetSubtype="0" fill="hold" nodeType="withEffect">
                                  <p:stCondLst>
                                    <p:cond delay="1800"/>
                                  </p:stCondLst>
                                  <p:childTnLst>
                                    <p:set>
                                      <p:cBhvr>
                                        <p:cTn id="97" dur="1" fill="hold">
                                          <p:stCondLst>
                                            <p:cond delay="0"/>
                                          </p:stCondLst>
                                        </p:cTn>
                                        <p:tgtEl>
                                          <p:spTgt spid="22"/>
                                        </p:tgtEl>
                                        <p:attrNameLst>
                                          <p:attrName>style.visibility</p:attrName>
                                        </p:attrNameLst>
                                      </p:cBhvr>
                                      <p:to>
                                        <p:strVal val="visible"/>
                                      </p:to>
                                    </p:set>
                                    <p:animEffect transition="in" filter="fade">
                                      <p:cBhvr>
                                        <p:cTn id="98" dur="1000"/>
                                        <p:tgtEl>
                                          <p:spTgt spid="22"/>
                                        </p:tgtEl>
                                      </p:cBhvr>
                                    </p:animEffect>
                                  </p:childTnLst>
                                </p:cTn>
                              </p:par>
                              <p:par>
                                <p:cTn id="100" presetID="10" presetClass="entr" presetSubtype="0" fill="hold" nodeType="withEffect">
                                  <p:stCondLst>
                                    <p:cond delay="180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1000"/>
                                        <p:tgtEl>
                                          <p:spTgt spid="23"/>
                                        </p:tgtEl>
                                      </p:cBhvr>
                                    </p:animEffect>
                                  </p:childTnLst>
                                </p:cTn>
                              </p:par>
                              <p:par>
                                <p:cTn id="104" presetID="10" presetClass="entr" presetSubtype="0" fill="hold" nodeType="withEffect">
                                  <p:stCondLst>
                                    <p:cond delay="1800"/>
                                  </p:stCondLst>
                                  <p:childTnLst>
                                    <p:set>
                                      <p:cBhvr>
                                        <p:cTn id="105" dur="1" fill="hold">
                                          <p:stCondLst>
                                            <p:cond delay="0"/>
                                          </p:stCondLst>
                                        </p:cTn>
                                        <p:tgtEl>
                                          <p:spTgt spid="24"/>
                                        </p:tgtEl>
                                        <p:attrNameLst>
                                          <p:attrName>style.visibility</p:attrName>
                                        </p:attrNameLst>
                                      </p:cBhvr>
                                      <p:to>
                                        <p:strVal val="visible"/>
                                      </p:to>
                                    </p:set>
                                    <p:animEffect transition="in" filter="fade">
                                      <p:cBhvr>
                                        <p:cTn id="106"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The finished Fees Calculator</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Real screenshot from the website with the 4 courses ticked</a:t>
            </a:r>
          </a:p>
        </p:txBody>
      </p:sp>
      <p:pic>
        <p:nvPicPr>
          <p:cNvPr id="5" name="Picture 4" descr="web_fees_4.png"/>
          <p:cNvPicPr>
            <a:picLocks noChangeAspect="1"/>
          </p:cNvPicPr>
          <p:nvPr/>
        </p:nvPicPr>
        <p:blipFill>
          <a:blip r:embed="rId2"/>
          <a:stretch>
            <a:fillRect/>
          </a:stretch>
        </p:blipFill>
        <p:spPr>
          <a:xfrm>
            <a:off x="1890422" y="1737360"/>
            <a:ext cx="5088834" cy="4572000"/>
          </a:xfrm>
          <a:prstGeom prst="rect">
            <a:avLst/>
          </a:prstGeom>
          <a:ln w="15875">
            <a:solidFill>
              <a:srgbClr val="C68B59"/>
            </a:solidFill>
          </a:ln>
        </p:spPr>
      </p:pic>
      <p:sp>
        <p:nvSpPr>
          <p:cNvPr id="6" name="Rounded Rectangle 5"/>
          <p:cNvSpPr/>
          <p:nvPr/>
        </p:nvSpPr>
        <p:spPr>
          <a:xfrm>
            <a:off x="8503920" y="1737360"/>
            <a:ext cx="3200400" cy="4572000"/>
          </a:xfrm>
          <a:prstGeom prst="roundRect">
            <a:avLst>
              <a:gd name="adj" fmla="val 6000"/>
            </a:avLst>
          </a:prstGeom>
          <a:solidFill>
            <a:srgbClr val="B0E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0" y="1874519"/>
            <a:ext cx="2834640" cy="457200"/>
          </a:xfrm>
          <a:prstGeom prst="rect">
            <a:avLst/>
          </a:prstGeom>
          <a:noFill/>
        </p:spPr>
        <p:txBody>
          <a:bodyPr wrap="square" anchor="t" lIns="45720" rIns="45720">
            <a:spAutoFit/>
          </a:bodyPr>
          <a:lstStyle/>
          <a:p>
            <a:pPr algn="l">
              <a:spcAft>
                <a:spcPts val="600"/>
              </a:spcAft>
            </a:pPr>
            <a:r>
              <a:rPr sz="2000" b="1">
                <a:solidFill>
                  <a:srgbClr val="5A3E2B"/>
                </a:solidFill>
                <a:latin typeface="Book Antiqua"/>
              </a:rPr>
              <a:t>What to notice</a:t>
            </a:r>
          </a:p>
        </p:txBody>
      </p:sp>
      <p:sp>
        <p:nvSpPr>
          <p:cNvPr id="8" name="TextBox 7"/>
          <p:cNvSpPr txBox="1"/>
          <p:nvPr/>
        </p:nvSpPr>
        <p:spPr>
          <a:xfrm>
            <a:off x="8686800" y="2468880"/>
            <a:ext cx="2834640" cy="4114800"/>
          </a:xfrm>
          <a:prstGeom prst="rect">
            <a:avLst/>
          </a:prstGeom>
          <a:noFill/>
        </p:spPr>
        <p:txBody>
          <a:bodyPr wrap="square">
            <a:spAutoFit/>
          </a:bodyPr>
          <a:lstStyle/>
          <a:p>
            <a:pPr>
              <a:spcAft>
                <a:spcPts val="800"/>
              </a:spcAft>
            </a:pPr>
            <a:r>
              <a:rPr sz="1500">
                <a:solidFill>
                  <a:srgbClr val="2F302D"/>
                </a:solidFill>
                <a:latin typeface="Calibri"/>
              </a:rPr>
              <a:t>•  Ticked courses are highlighted</a:t>
            </a:r>
          </a:p>
          <a:p>
            <a:pPr>
              <a:spcAft>
                <a:spcPts val="800"/>
              </a:spcAft>
            </a:pPr>
            <a:r>
              <a:rPr sz="1500">
                <a:solidFill>
                  <a:srgbClr val="2F302D"/>
                </a:solidFill>
                <a:latin typeface="Calibri"/>
              </a:rPr>
              <a:t>•  Discount label shows 15%</a:t>
            </a:r>
          </a:p>
          <a:p>
            <a:pPr>
              <a:spcAft>
                <a:spcPts val="800"/>
              </a:spcAft>
            </a:pPr>
            <a:r>
              <a:rPr sz="1500">
                <a:solidFill>
                  <a:srgbClr val="2F302D"/>
                </a:solidFill>
                <a:latin typeface="Calibri"/>
              </a:rPr>
              <a:t>•  VAT is a separate line</a:t>
            </a:r>
          </a:p>
          <a:p>
            <a:pPr>
              <a:spcAft>
                <a:spcPts val="800"/>
              </a:spcAft>
            </a:pPr>
            <a:r>
              <a:rPr sz="1500">
                <a:solidFill>
                  <a:srgbClr val="2F302D"/>
                </a:solidFill>
                <a:latin typeface="Calibri"/>
              </a:rPr>
              <a:t>•  Total updates as you tick</a:t>
            </a:r>
          </a:p>
          <a:p>
            <a:pPr>
              <a:spcAft>
                <a:spcPts val="800"/>
              </a:spcAft>
            </a:pPr>
            <a:r>
              <a:rPr sz="1500">
                <a:solidFill>
                  <a:srgbClr val="2F302D"/>
                </a:solidFill>
                <a:latin typeface="Calibri"/>
              </a:rPr>
              <a:t>•  A note says Sarah emails the official quote</a:t>
            </a:r>
          </a:p>
        </p:txBody>
      </p:sp>
      <p:sp>
        <p:nvSpPr>
          <p:cNvPr id="9" name="TextBox 8"/>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Mohamed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2"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childTnLst>
                                </p:cTn>
                              </p:par>
                              <p:par>
                                <p:cTn id="24" presetID="10" presetClass="entr" presetSubtype="0" fill="hold" nodeType="withEffect">
                                  <p:stCondLst>
                                    <p:cond delay="75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childTnLst>
                                </p:cTn>
                              </p:par>
                              <p:par>
                                <p:cTn id="28" presetID="10" presetClass="entr" presetSubtype="0" fill="hold" nodeType="withEffect">
                                  <p:stCondLst>
                                    <p:cond delay="90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Git workflow: branches, Pull Requests, reviews</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I set this up for the group on both repositories</a:t>
            </a:r>
          </a:p>
        </p:txBody>
      </p:sp>
      <p:sp>
        <p:nvSpPr>
          <p:cNvPr id="5" name="Rounded Rectangle 4"/>
          <p:cNvSpPr/>
          <p:nvPr/>
        </p:nvSpPr>
        <p:spPr>
          <a:xfrm>
            <a:off x="502920" y="1920240"/>
            <a:ext cx="2103120" cy="2011680"/>
          </a:xfrm>
          <a:prstGeom prst="roundRect">
            <a:avLst>
              <a:gd name="adj" fmla="val 6000"/>
            </a:avLst>
          </a:prstGeom>
          <a:solidFill>
            <a:srgbClr val="B0E0E6"/>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2057400"/>
            <a:ext cx="1920240" cy="548640"/>
          </a:xfrm>
          <a:prstGeom prst="rect">
            <a:avLst/>
          </a:prstGeom>
          <a:noFill/>
        </p:spPr>
        <p:txBody>
          <a:bodyPr wrap="square" anchor="t" lIns="45720" rIns="45720">
            <a:spAutoFit/>
          </a:bodyPr>
          <a:lstStyle/>
          <a:p>
            <a:pPr algn="ctr">
              <a:spcAft>
                <a:spcPts val="600"/>
              </a:spcAft>
            </a:pPr>
            <a:r>
              <a:rPr sz="1900" b="1">
                <a:solidFill>
                  <a:srgbClr val="5A3E2B"/>
                </a:solidFill>
                <a:latin typeface="Book Antiqua"/>
              </a:rPr>
              <a:t>Pull main</a:t>
            </a:r>
          </a:p>
        </p:txBody>
      </p:sp>
      <p:sp>
        <p:nvSpPr>
          <p:cNvPr id="7" name="TextBox 6"/>
          <p:cNvSpPr txBox="1"/>
          <p:nvPr/>
        </p:nvSpPr>
        <p:spPr>
          <a:xfrm>
            <a:off x="594360" y="2743200"/>
            <a:ext cx="1920240" cy="1097280"/>
          </a:xfrm>
          <a:prstGeom prst="rect">
            <a:avLst/>
          </a:prstGeom>
          <a:noFill/>
        </p:spPr>
        <p:txBody>
          <a:bodyPr wrap="square" anchor="t" lIns="45720" rIns="45720">
            <a:spAutoFit/>
          </a:bodyPr>
          <a:lstStyle/>
          <a:p>
            <a:pPr algn="ctr">
              <a:spcAft>
                <a:spcPts val="600"/>
              </a:spcAft>
            </a:pPr>
            <a:r>
              <a:rPr sz="1400" b="0">
                <a:solidFill>
                  <a:srgbClr val="2F302D"/>
                </a:solidFill>
                <a:latin typeface="Calibri"/>
              </a:rPr>
              <a:t>Start from the latest code</a:t>
            </a:r>
          </a:p>
        </p:txBody>
      </p:sp>
      <p:sp>
        <p:nvSpPr>
          <p:cNvPr id="8" name="TextBox 7"/>
          <p:cNvSpPr txBox="1"/>
          <p:nvPr/>
        </p:nvSpPr>
        <p:spPr>
          <a:xfrm>
            <a:off x="2514600" y="2606040"/>
            <a:ext cx="365760" cy="548640"/>
          </a:xfrm>
          <a:prstGeom prst="rect">
            <a:avLst/>
          </a:prstGeom>
          <a:noFill/>
        </p:spPr>
        <p:txBody>
          <a:bodyPr wrap="square" anchor="t" lIns="45720" rIns="45720">
            <a:spAutoFit/>
          </a:bodyPr>
          <a:lstStyle/>
          <a:p>
            <a:pPr algn="ctr">
              <a:spcAft>
                <a:spcPts val="600"/>
              </a:spcAft>
            </a:pPr>
            <a:r>
              <a:rPr sz="2600" b="1">
                <a:solidFill>
                  <a:srgbClr val="C68B59"/>
                </a:solidFill>
                <a:latin typeface="Calibri"/>
              </a:rPr>
              <a:t>→</a:t>
            </a:r>
          </a:p>
        </p:txBody>
      </p:sp>
      <p:sp>
        <p:nvSpPr>
          <p:cNvPr id="9" name="Rounded Rectangle 8"/>
          <p:cNvSpPr/>
          <p:nvPr/>
        </p:nvSpPr>
        <p:spPr>
          <a:xfrm>
            <a:off x="2788920" y="1920240"/>
            <a:ext cx="2103120" cy="201168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80360" y="2057400"/>
            <a:ext cx="1920240" cy="548640"/>
          </a:xfrm>
          <a:prstGeom prst="rect">
            <a:avLst/>
          </a:prstGeom>
          <a:noFill/>
        </p:spPr>
        <p:txBody>
          <a:bodyPr wrap="square" anchor="t" lIns="45720" rIns="45720">
            <a:spAutoFit/>
          </a:bodyPr>
          <a:lstStyle/>
          <a:p>
            <a:pPr algn="ctr">
              <a:spcAft>
                <a:spcPts val="600"/>
              </a:spcAft>
            </a:pPr>
            <a:r>
              <a:rPr sz="1900" b="1">
                <a:solidFill>
                  <a:srgbClr val="5A3E2B"/>
                </a:solidFill>
                <a:latin typeface="Book Antiqua"/>
              </a:rPr>
              <a:t>Branch</a:t>
            </a:r>
          </a:p>
        </p:txBody>
      </p:sp>
      <p:sp>
        <p:nvSpPr>
          <p:cNvPr id="11" name="TextBox 10"/>
          <p:cNvSpPr txBox="1"/>
          <p:nvPr/>
        </p:nvSpPr>
        <p:spPr>
          <a:xfrm>
            <a:off x="2880360" y="2743200"/>
            <a:ext cx="1920240" cy="1097280"/>
          </a:xfrm>
          <a:prstGeom prst="rect">
            <a:avLst/>
          </a:prstGeom>
          <a:noFill/>
        </p:spPr>
        <p:txBody>
          <a:bodyPr wrap="square" anchor="t" lIns="45720" rIns="45720">
            <a:spAutoFit/>
          </a:bodyPr>
          <a:lstStyle/>
          <a:p>
            <a:pPr algn="ctr">
              <a:spcAft>
                <a:spcPts val="600"/>
              </a:spcAft>
            </a:pPr>
            <a:r>
              <a:rPr sz="1400" b="0">
                <a:solidFill>
                  <a:srgbClr val="2F302D"/>
                </a:solidFill>
                <a:latin typeface="Calibri"/>
              </a:rPr>
              <a:t>One branch per person, e.g. MoZa-Website</a:t>
            </a:r>
          </a:p>
        </p:txBody>
      </p:sp>
      <p:sp>
        <p:nvSpPr>
          <p:cNvPr id="12" name="TextBox 11"/>
          <p:cNvSpPr txBox="1"/>
          <p:nvPr/>
        </p:nvSpPr>
        <p:spPr>
          <a:xfrm>
            <a:off x="4800600" y="2606040"/>
            <a:ext cx="365760" cy="548640"/>
          </a:xfrm>
          <a:prstGeom prst="rect">
            <a:avLst/>
          </a:prstGeom>
          <a:noFill/>
        </p:spPr>
        <p:txBody>
          <a:bodyPr wrap="square" anchor="t" lIns="45720" rIns="45720">
            <a:spAutoFit/>
          </a:bodyPr>
          <a:lstStyle/>
          <a:p>
            <a:pPr algn="ctr">
              <a:spcAft>
                <a:spcPts val="600"/>
              </a:spcAft>
            </a:pPr>
            <a:r>
              <a:rPr sz="2600" b="1">
                <a:solidFill>
                  <a:srgbClr val="C68B59"/>
                </a:solidFill>
                <a:latin typeface="Calibri"/>
              </a:rPr>
              <a:t>→</a:t>
            </a:r>
          </a:p>
        </p:txBody>
      </p:sp>
      <p:sp>
        <p:nvSpPr>
          <p:cNvPr id="13" name="Rounded Rectangle 12"/>
          <p:cNvSpPr/>
          <p:nvPr/>
        </p:nvSpPr>
        <p:spPr>
          <a:xfrm>
            <a:off x="5074920" y="1920240"/>
            <a:ext cx="2103120" cy="2011680"/>
          </a:xfrm>
          <a:prstGeom prst="roundRect">
            <a:avLst>
              <a:gd name="adj" fmla="val 6000"/>
            </a:avLst>
          </a:prstGeom>
          <a:solidFill>
            <a:srgbClr val="B0E0E6"/>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6359" y="2057400"/>
            <a:ext cx="1920240" cy="548640"/>
          </a:xfrm>
          <a:prstGeom prst="rect">
            <a:avLst/>
          </a:prstGeom>
          <a:noFill/>
        </p:spPr>
        <p:txBody>
          <a:bodyPr wrap="square" anchor="t" lIns="45720" rIns="45720">
            <a:spAutoFit/>
          </a:bodyPr>
          <a:lstStyle/>
          <a:p>
            <a:pPr algn="ctr">
              <a:spcAft>
                <a:spcPts val="600"/>
              </a:spcAft>
            </a:pPr>
            <a:r>
              <a:rPr sz="1900" b="1">
                <a:solidFill>
                  <a:srgbClr val="5A3E2B"/>
                </a:solidFill>
                <a:latin typeface="Book Antiqua"/>
              </a:rPr>
              <a:t>Commit + push</a:t>
            </a:r>
          </a:p>
        </p:txBody>
      </p:sp>
      <p:sp>
        <p:nvSpPr>
          <p:cNvPr id="15" name="TextBox 14"/>
          <p:cNvSpPr txBox="1"/>
          <p:nvPr/>
        </p:nvSpPr>
        <p:spPr>
          <a:xfrm>
            <a:off x="5166359" y="2743200"/>
            <a:ext cx="1920240" cy="1097280"/>
          </a:xfrm>
          <a:prstGeom prst="rect">
            <a:avLst/>
          </a:prstGeom>
          <a:noFill/>
        </p:spPr>
        <p:txBody>
          <a:bodyPr wrap="square" anchor="t" lIns="45720" rIns="45720">
            <a:spAutoFit/>
          </a:bodyPr>
          <a:lstStyle/>
          <a:p>
            <a:pPr algn="ctr">
              <a:spcAft>
                <a:spcPts val="600"/>
              </a:spcAft>
            </a:pPr>
            <a:r>
              <a:rPr sz="1400" b="0">
                <a:solidFill>
                  <a:srgbClr val="2F302D"/>
                </a:solidFill>
                <a:latin typeface="Calibri"/>
              </a:rPr>
              <a:t>Save small changes to your own branch</a:t>
            </a:r>
          </a:p>
        </p:txBody>
      </p:sp>
      <p:sp>
        <p:nvSpPr>
          <p:cNvPr id="16" name="TextBox 15"/>
          <p:cNvSpPr txBox="1"/>
          <p:nvPr/>
        </p:nvSpPr>
        <p:spPr>
          <a:xfrm>
            <a:off x="7086600" y="2606040"/>
            <a:ext cx="365760" cy="548640"/>
          </a:xfrm>
          <a:prstGeom prst="rect">
            <a:avLst/>
          </a:prstGeom>
          <a:noFill/>
        </p:spPr>
        <p:txBody>
          <a:bodyPr wrap="square" anchor="t" lIns="45720" rIns="45720">
            <a:spAutoFit/>
          </a:bodyPr>
          <a:lstStyle/>
          <a:p>
            <a:pPr algn="ctr">
              <a:spcAft>
                <a:spcPts val="600"/>
              </a:spcAft>
            </a:pPr>
            <a:r>
              <a:rPr sz="2600" b="1">
                <a:solidFill>
                  <a:srgbClr val="C68B59"/>
                </a:solidFill>
                <a:latin typeface="Calibri"/>
              </a:rPr>
              <a:t>→</a:t>
            </a:r>
          </a:p>
        </p:txBody>
      </p:sp>
      <p:sp>
        <p:nvSpPr>
          <p:cNvPr id="17" name="Rounded Rectangle 16"/>
          <p:cNvSpPr/>
          <p:nvPr/>
        </p:nvSpPr>
        <p:spPr>
          <a:xfrm>
            <a:off x="7360920" y="1920240"/>
            <a:ext cx="2103120" cy="201168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2057400"/>
            <a:ext cx="1920240" cy="548640"/>
          </a:xfrm>
          <a:prstGeom prst="rect">
            <a:avLst/>
          </a:prstGeom>
          <a:noFill/>
        </p:spPr>
        <p:txBody>
          <a:bodyPr wrap="square" anchor="t" lIns="45720" rIns="45720">
            <a:spAutoFit/>
          </a:bodyPr>
          <a:lstStyle/>
          <a:p>
            <a:pPr algn="ctr">
              <a:spcAft>
                <a:spcPts val="600"/>
              </a:spcAft>
            </a:pPr>
            <a:r>
              <a:rPr sz="1900" b="1">
                <a:solidFill>
                  <a:srgbClr val="5A3E2B"/>
                </a:solidFill>
                <a:latin typeface="Book Antiqua"/>
              </a:rPr>
              <a:t>Pull Request</a:t>
            </a:r>
          </a:p>
        </p:txBody>
      </p:sp>
      <p:sp>
        <p:nvSpPr>
          <p:cNvPr id="19" name="TextBox 18"/>
          <p:cNvSpPr txBox="1"/>
          <p:nvPr/>
        </p:nvSpPr>
        <p:spPr>
          <a:xfrm>
            <a:off x="7452360" y="2743200"/>
            <a:ext cx="1920240" cy="1097280"/>
          </a:xfrm>
          <a:prstGeom prst="rect">
            <a:avLst/>
          </a:prstGeom>
          <a:noFill/>
        </p:spPr>
        <p:txBody>
          <a:bodyPr wrap="square" anchor="t" lIns="45720" rIns="45720">
            <a:spAutoFit/>
          </a:bodyPr>
          <a:lstStyle/>
          <a:p>
            <a:pPr algn="ctr">
              <a:spcAft>
                <a:spcPts val="600"/>
              </a:spcAft>
            </a:pPr>
            <a:r>
              <a:rPr sz="1400" b="0">
                <a:solidFill>
                  <a:srgbClr val="2F302D"/>
                </a:solidFill>
                <a:latin typeface="Calibri"/>
              </a:rPr>
              <a:t>Ask to merge into main</a:t>
            </a:r>
          </a:p>
        </p:txBody>
      </p:sp>
      <p:sp>
        <p:nvSpPr>
          <p:cNvPr id="20" name="TextBox 19"/>
          <p:cNvSpPr txBox="1"/>
          <p:nvPr/>
        </p:nvSpPr>
        <p:spPr>
          <a:xfrm>
            <a:off x="9372600" y="2606040"/>
            <a:ext cx="365760" cy="548640"/>
          </a:xfrm>
          <a:prstGeom prst="rect">
            <a:avLst/>
          </a:prstGeom>
          <a:noFill/>
        </p:spPr>
        <p:txBody>
          <a:bodyPr wrap="square" anchor="t" lIns="45720" rIns="45720">
            <a:spAutoFit/>
          </a:bodyPr>
          <a:lstStyle/>
          <a:p>
            <a:pPr algn="ctr">
              <a:spcAft>
                <a:spcPts val="600"/>
              </a:spcAft>
            </a:pPr>
            <a:r>
              <a:rPr sz="2600" b="1">
                <a:solidFill>
                  <a:srgbClr val="C68B59"/>
                </a:solidFill>
                <a:latin typeface="Calibri"/>
              </a:rPr>
              <a:t>→</a:t>
            </a:r>
          </a:p>
        </p:txBody>
      </p:sp>
      <p:sp>
        <p:nvSpPr>
          <p:cNvPr id="21" name="Rounded Rectangle 20"/>
          <p:cNvSpPr/>
          <p:nvPr/>
        </p:nvSpPr>
        <p:spPr>
          <a:xfrm>
            <a:off x="9646920" y="1920240"/>
            <a:ext cx="2103120" cy="2011680"/>
          </a:xfrm>
          <a:prstGeom prst="roundRect">
            <a:avLst>
              <a:gd name="adj" fmla="val 6000"/>
            </a:avLst>
          </a:prstGeom>
          <a:solidFill>
            <a:srgbClr val="B0E0E6"/>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38360" y="2057400"/>
            <a:ext cx="1920240" cy="548640"/>
          </a:xfrm>
          <a:prstGeom prst="rect">
            <a:avLst/>
          </a:prstGeom>
          <a:noFill/>
        </p:spPr>
        <p:txBody>
          <a:bodyPr wrap="square" anchor="t" lIns="45720" rIns="45720">
            <a:spAutoFit/>
          </a:bodyPr>
          <a:lstStyle/>
          <a:p>
            <a:pPr algn="ctr">
              <a:spcAft>
                <a:spcPts val="600"/>
              </a:spcAft>
            </a:pPr>
            <a:r>
              <a:rPr sz="1900" b="1">
                <a:solidFill>
                  <a:srgbClr val="5A3E2B"/>
                </a:solidFill>
                <a:latin typeface="Book Antiqua"/>
              </a:rPr>
              <a:t>Review + merge</a:t>
            </a:r>
          </a:p>
        </p:txBody>
      </p:sp>
      <p:sp>
        <p:nvSpPr>
          <p:cNvPr id="23" name="TextBox 22"/>
          <p:cNvSpPr txBox="1"/>
          <p:nvPr/>
        </p:nvSpPr>
        <p:spPr>
          <a:xfrm>
            <a:off x="9738360" y="2743200"/>
            <a:ext cx="1920240" cy="1097280"/>
          </a:xfrm>
          <a:prstGeom prst="rect">
            <a:avLst/>
          </a:prstGeom>
          <a:noFill/>
        </p:spPr>
        <p:txBody>
          <a:bodyPr wrap="square" anchor="t" lIns="45720" rIns="45720">
            <a:spAutoFit/>
          </a:bodyPr>
          <a:lstStyle/>
          <a:p>
            <a:pPr algn="ctr">
              <a:spcAft>
                <a:spcPts val="600"/>
              </a:spcAft>
            </a:pPr>
            <a:r>
              <a:rPr sz="1400" b="0">
                <a:solidFill>
                  <a:srgbClr val="2F302D"/>
                </a:solidFill>
                <a:latin typeface="Calibri"/>
              </a:rPr>
              <a:t>Someone else checks it, then merges</a:t>
            </a:r>
          </a:p>
        </p:txBody>
      </p:sp>
      <p:sp>
        <p:nvSpPr>
          <p:cNvPr id="24" name="TextBox 23"/>
          <p:cNvSpPr txBox="1"/>
          <p:nvPr/>
        </p:nvSpPr>
        <p:spPr>
          <a:xfrm>
            <a:off x="640080" y="4297680"/>
            <a:ext cx="10972800" cy="4114800"/>
          </a:xfrm>
          <a:prstGeom prst="rect">
            <a:avLst/>
          </a:prstGeom>
          <a:noFill/>
        </p:spPr>
        <p:txBody>
          <a:bodyPr wrap="square">
            <a:spAutoFit/>
          </a:bodyPr>
          <a:lstStyle/>
          <a:p>
            <a:pPr>
              <a:spcAft>
                <a:spcPts val="800"/>
              </a:spcAft>
            </a:pPr>
            <a:r>
              <a:rPr sz="1700">
                <a:solidFill>
                  <a:srgbClr val="2F302D"/>
                </a:solidFill>
                <a:latin typeface="Calibri"/>
              </a:rPr>
              <a:t>•  Why: nobody works straight on main, so nobody can break the shared code by accident</a:t>
            </a:r>
          </a:p>
          <a:p>
            <a:pPr>
              <a:spcAft>
                <a:spcPts val="800"/>
              </a:spcAft>
            </a:pPr>
            <a:r>
              <a:rPr sz="1700">
                <a:solidFill>
                  <a:srgbClr val="2F302D"/>
                </a:solidFill>
                <a:latin typeface="Calibri"/>
              </a:rPr>
              <a:t>•  Reviews catch mistakes and keep everyone on the same page about what changed</a:t>
            </a:r>
          </a:p>
          <a:p>
            <a:pPr>
              <a:spcAft>
                <a:spcPts val="800"/>
              </a:spcAft>
            </a:pPr>
            <a:r>
              <a:rPr sz="1700">
                <a:solidFill>
                  <a:srgbClr val="2F302D"/>
                </a:solidFill>
                <a:latin typeface="Calibri"/>
              </a:rPr>
              <a:t>•  I wrote the step-by-step guide and recorded a video walkthrough for the group</a:t>
            </a:r>
          </a:p>
        </p:txBody>
      </p:sp>
      <p:sp>
        <p:nvSpPr>
          <p:cNvPr id="25" name="TextBox 24"/>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Mohamed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96"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childTnLst>
                                </p:cTn>
                              </p:par>
                              <p:par>
                                <p:cTn id="24" presetID="10" presetClass="entr" presetSubtype="0" fill="hold" nodeType="withEffect">
                                  <p:stCondLst>
                                    <p:cond delay="75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1000"/>
                                        <p:tgtEl>
                                          <p:spTgt spid="13"/>
                                        </p:tgtEl>
                                      </p:cBhvr>
                                    </p:animEffect>
                                  </p:childTnLst>
                                </p:cTn>
                              </p:par>
                              <p:par>
                                <p:cTn id="28" presetID="10" presetClass="entr" presetSubtype="0" fill="hold" nodeType="withEffect">
                                  <p:stCondLst>
                                    <p:cond delay="90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1000"/>
                                        <p:tgtEl>
                                          <p:spTgt spid="17"/>
                                        </p:tgtEl>
                                      </p:cBhvr>
                                    </p:animEffect>
                                  </p:childTnLst>
                                </p:cTn>
                              </p:par>
                              <p:par>
                                <p:cTn id="32" presetID="10" presetClass="entr" presetSubtype="0" fill="hold" nodeType="withEffect">
                                  <p:stCondLst>
                                    <p:cond delay="105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1000"/>
                                        <p:tgtEl>
                                          <p:spTgt spid="21"/>
                                        </p:tgtEl>
                                      </p:cBhvr>
                                    </p:animEffect>
                                  </p:childTnLst>
                                </p:cTn>
                              </p:par>
                              <p:par>
                                <p:cTn id="36" presetID="10" presetClass="entr" presetSubtype="0" fill="hold" nodeType="withEffect">
                                  <p:stCondLst>
                                    <p:cond delay="120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1000"/>
                                        <p:tgtEl>
                                          <p:spTgt spid="6"/>
                                        </p:tgtEl>
                                      </p:cBhvr>
                                    </p:animEffect>
                                  </p:childTnLst>
                                </p:cTn>
                              </p:par>
                              <p:par>
                                <p:cTn id="40" presetID="10" presetClass="entr" presetSubtype="0" fill="hold" nodeType="withEffect">
                                  <p:stCondLst>
                                    <p:cond delay="135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childTnLst>
                                </p:cTn>
                              </p:par>
                              <p:par>
                                <p:cTn id="44" presetID="10" presetClass="entr" presetSubtype="0" fill="hold" nodeType="withEffect">
                                  <p:stCondLst>
                                    <p:cond delay="150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1000"/>
                                        <p:tgtEl>
                                          <p:spTgt spid="14"/>
                                        </p:tgtEl>
                                      </p:cBhvr>
                                    </p:animEffect>
                                  </p:childTnLst>
                                </p:cTn>
                              </p:par>
                              <p:par>
                                <p:cTn id="48" presetID="10" presetClass="entr" presetSubtype="0" fill="hold" nodeType="withEffect">
                                  <p:stCondLst>
                                    <p:cond delay="165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1000"/>
                                        <p:tgtEl>
                                          <p:spTgt spid="18"/>
                                        </p:tgtEl>
                                      </p:cBhvr>
                                    </p:animEffect>
                                  </p:childTnLst>
                                </p:cTn>
                              </p:par>
                              <p:par>
                                <p:cTn id="52" presetID="10" presetClass="entr" presetSubtype="0" fill="hold" nodeType="withEffect">
                                  <p:stCondLst>
                                    <p:cond delay="180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1000"/>
                                        <p:tgtEl>
                                          <p:spTgt spid="22"/>
                                        </p:tgtEl>
                                      </p:cBhvr>
                                    </p:animEffect>
                                  </p:childTnLst>
                                </p:cTn>
                              </p:par>
                              <p:par>
                                <p:cTn id="56" presetID="10" presetClass="entr" presetSubtype="0" fill="hold" nodeType="withEffect">
                                  <p:stCondLst>
                                    <p:cond delay="1800"/>
                                  </p:stCondLst>
                                  <p:childTnLst>
                                    <p:set>
                                      <p:cBhvr>
                                        <p:cTn id="57" dur="1" fill="hold">
                                          <p:stCondLst>
                                            <p:cond delay="0"/>
                                          </p:stCondLst>
                                        </p:cTn>
                                        <p:tgtEl>
                                          <p:spTgt spid="8"/>
                                        </p:tgtEl>
                                        <p:attrNameLst>
                                          <p:attrName>style.visibility</p:attrName>
                                        </p:attrNameLst>
                                      </p:cBhvr>
                                      <p:to>
                                        <p:strVal val="visible"/>
                                      </p:to>
                                    </p:set>
                                    <p:animEffect transition="in" filter="fade">
                                      <p:cBhvr>
                                        <p:cTn id="58" dur="1000"/>
                                        <p:tgtEl>
                                          <p:spTgt spid="8"/>
                                        </p:tgtEl>
                                      </p:cBhvr>
                                    </p:animEffect>
                                  </p:childTnLst>
                                </p:cTn>
                              </p:par>
                              <p:par>
                                <p:cTn id="60" presetID="10" presetClass="entr" presetSubtype="0" fill="hold" nodeType="withEffect">
                                  <p:stCondLst>
                                    <p:cond delay="1800"/>
                                  </p:stCondLst>
                                  <p:childTnLst>
                                    <p:set>
                                      <p:cBhvr>
                                        <p:cTn id="61" dur="1" fill="hold">
                                          <p:stCondLst>
                                            <p:cond delay="0"/>
                                          </p:stCondLst>
                                        </p:cTn>
                                        <p:tgtEl>
                                          <p:spTgt spid="12"/>
                                        </p:tgtEl>
                                        <p:attrNameLst>
                                          <p:attrName>style.visibility</p:attrName>
                                        </p:attrNameLst>
                                      </p:cBhvr>
                                      <p:to>
                                        <p:strVal val="visible"/>
                                      </p:to>
                                    </p:set>
                                    <p:animEffect transition="in" filter="fade">
                                      <p:cBhvr>
                                        <p:cTn id="62" dur="1000"/>
                                        <p:tgtEl>
                                          <p:spTgt spid="12"/>
                                        </p:tgtEl>
                                      </p:cBhvr>
                                    </p:animEffect>
                                  </p:childTnLst>
                                </p:cTn>
                              </p:par>
                              <p:par>
                                <p:cTn id="64" presetID="10" presetClass="entr" presetSubtype="0" fill="hold" nodeType="withEffect">
                                  <p:stCondLst>
                                    <p:cond delay="1800"/>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1000"/>
                                        <p:tgtEl>
                                          <p:spTgt spid="16"/>
                                        </p:tgtEl>
                                      </p:cBhvr>
                                    </p:animEffect>
                                  </p:childTnLst>
                                </p:cTn>
                              </p:par>
                              <p:par>
                                <p:cTn id="68" presetID="10" presetClass="entr" presetSubtype="0" fill="hold" nodeType="withEffect">
                                  <p:stCondLst>
                                    <p:cond delay="180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1000"/>
                                        <p:tgtEl>
                                          <p:spTgt spid="20"/>
                                        </p:tgtEl>
                                      </p:cBhvr>
                                    </p:animEffect>
                                  </p:childTnLst>
                                </p:cTn>
                              </p:par>
                              <p:par>
                                <p:cTn id="72" presetID="10" presetClass="entr" presetSubtype="0" fill="hold" nodeType="withEffect">
                                  <p:stCondLst>
                                    <p:cond delay="1800"/>
                                  </p:stCondLst>
                                  <p:childTnLst>
                                    <p:set>
                                      <p:cBhvr>
                                        <p:cTn id="73" dur="1" fill="hold">
                                          <p:stCondLst>
                                            <p:cond delay="0"/>
                                          </p:stCondLst>
                                        </p:cTn>
                                        <p:tgtEl>
                                          <p:spTgt spid="7"/>
                                        </p:tgtEl>
                                        <p:attrNameLst>
                                          <p:attrName>style.visibility</p:attrName>
                                        </p:attrNameLst>
                                      </p:cBhvr>
                                      <p:to>
                                        <p:strVal val="visible"/>
                                      </p:to>
                                    </p:set>
                                    <p:animEffect transition="in" filter="fade">
                                      <p:cBhvr>
                                        <p:cTn id="74" dur="1000"/>
                                        <p:tgtEl>
                                          <p:spTgt spid="7"/>
                                        </p:tgtEl>
                                      </p:cBhvr>
                                    </p:animEffect>
                                  </p:childTnLst>
                                </p:cTn>
                              </p:par>
                              <p:par>
                                <p:cTn id="76" presetID="10" presetClass="entr" presetSubtype="0" fill="hold" nodeType="withEffect">
                                  <p:stCondLst>
                                    <p:cond delay="1800"/>
                                  </p:stCondLst>
                                  <p:childTnLst>
                                    <p:set>
                                      <p:cBhvr>
                                        <p:cTn id="77" dur="1" fill="hold">
                                          <p:stCondLst>
                                            <p:cond delay="0"/>
                                          </p:stCondLst>
                                        </p:cTn>
                                        <p:tgtEl>
                                          <p:spTgt spid="11"/>
                                        </p:tgtEl>
                                        <p:attrNameLst>
                                          <p:attrName>style.visibility</p:attrName>
                                        </p:attrNameLst>
                                      </p:cBhvr>
                                      <p:to>
                                        <p:strVal val="visible"/>
                                      </p:to>
                                    </p:set>
                                    <p:animEffect transition="in" filter="fade">
                                      <p:cBhvr>
                                        <p:cTn id="78" dur="1000"/>
                                        <p:tgtEl>
                                          <p:spTgt spid="11"/>
                                        </p:tgtEl>
                                      </p:cBhvr>
                                    </p:animEffect>
                                  </p:childTnLst>
                                </p:cTn>
                              </p:par>
                              <p:par>
                                <p:cTn id="80" presetID="10" presetClass="entr" presetSubtype="0" fill="hold" nodeType="withEffect">
                                  <p:stCondLst>
                                    <p:cond delay="1800"/>
                                  </p:stCondLst>
                                  <p:childTnLst>
                                    <p:set>
                                      <p:cBhvr>
                                        <p:cTn id="81" dur="1" fill="hold">
                                          <p:stCondLst>
                                            <p:cond delay="0"/>
                                          </p:stCondLst>
                                        </p:cTn>
                                        <p:tgtEl>
                                          <p:spTgt spid="15"/>
                                        </p:tgtEl>
                                        <p:attrNameLst>
                                          <p:attrName>style.visibility</p:attrName>
                                        </p:attrNameLst>
                                      </p:cBhvr>
                                      <p:to>
                                        <p:strVal val="visible"/>
                                      </p:to>
                                    </p:set>
                                    <p:animEffect transition="in" filter="fade">
                                      <p:cBhvr>
                                        <p:cTn id="82" dur="1000"/>
                                        <p:tgtEl>
                                          <p:spTgt spid="15"/>
                                        </p:tgtEl>
                                      </p:cBhvr>
                                    </p:animEffect>
                                  </p:childTnLst>
                                </p:cTn>
                              </p:par>
                              <p:par>
                                <p:cTn id="84" presetID="10" presetClass="entr" presetSubtype="0" fill="hold" nodeType="withEffect">
                                  <p:stCondLst>
                                    <p:cond delay="1800"/>
                                  </p:stCondLst>
                                  <p:childTnLst>
                                    <p:set>
                                      <p:cBhvr>
                                        <p:cTn id="85" dur="1" fill="hold">
                                          <p:stCondLst>
                                            <p:cond delay="0"/>
                                          </p:stCondLst>
                                        </p:cTn>
                                        <p:tgtEl>
                                          <p:spTgt spid="19"/>
                                        </p:tgtEl>
                                        <p:attrNameLst>
                                          <p:attrName>style.visibility</p:attrName>
                                        </p:attrNameLst>
                                      </p:cBhvr>
                                      <p:to>
                                        <p:strVal val="visible"/>
                                      </p:to>
                                    </p:set>
                                    <p:animEffect transition="in" filter="fade">
                                      <p:cBhvr>
                                        <p:cTn id="86" dur="1000"/>
                                        <p:tgtEl>
                                          <p:spTgt spid="19"/>
                                        </p:tgtEl>
                                      </p:cBhvr>
                                    </p:animEffect>
                                  </p:childTnLst>
                                </p:cTn>
                              </p:par>
                              <p:par>
                                <p:cTn id="88" presetID="10" presetClass="entr" presetSubtype="0" fill="hold" nodeType="withEffect">
                                  <p:stCondLst>
                                    <p:cond delay="1800"/>
                                  </p:stCondLst>
                                  <p:childTnLst>
                                    <p:set>
                                      <p:cBhvr>
                                        <p:cTn id="89" dur="1" fill="hold">
                                          <p:stCondLst>
                                            <p:cond delay="0"/>
                                          </p:stCondLst>
                                        </p:cTn>
                                        <p:tgtEl>
                                          <p:spTgt spid="23"/>
                                        </p:tgtEl>
                                        <p:attrNameLst>
                                          <p:attrName>style.visibility</p:attrName>
                                        </p:attrNameLst>
                                      </p:cBhvr>
                                      <p:to>
                                        <p:strVal val="visible"/>
                                      </p:to>
                                    </p:set>
                                    <p:animEffect transition="in" filter="fade">
                                      <p:cBhvr>
                                        <p:cTn id="90" dur="1000"/>
                                        <p:tgtEl>
                                          <p:spTgt spid="23"/>
                                        </p:tgtEl>
                                      </p:cBhvr>
                                    </p:animEffect>
                                  </p:childTnLst>
                                </p:cTn>
                              </p:par>
                              <p:par>
                                <p:cTn id="92" presetID="10" presetClass="entr" presetSubtype="0" fill="hold" nodeType="withEffect">
                                  <p:stCondLst>
                                    <p:cond delay="180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A real example: Pull Request #7</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Kelebogile's CSS became the first main.css in the website repo</a:t>
            </a:r>
          </a:p>
        </p:txBody>
      </p:sp>
      <p:sp>
        <p:nvSpPr>
          <p:cNvPr id="5" name="Rounded Rectangle 4"/>
          <p:cNvSpPr/>
          <p:nvPr/>
        </p:nvSpPr>
        <p:spPr>
          <a:xfrm>
            <a:off x="640080" y="1783080"/>
            <a:ext cx="6949440" cy="438912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965960"/>
            <a:ext cx="3017520" cy="457200"/>
          </a:xfrm>
          <a:prstGeom prst="rect">
            <a:avLst/>
          </a:prstGeom>
          <a:noFill/>
        </p:spPr>
        <p:txBody>
          <a:bodyPr wrap="square" anchor="t" lIns="45720" rIns="45720">
            <a:spAutoFit/>
          </a:bodyPr>
          <a:lstStyle/>
          <a:p>
            <a:pPr algn="l">
              <a:spcAft>
                <a:spcPts val="600"/>
              </a:spcAft>
            </a:pPr>
            <a:r>
              <a:rPr sz="1700" b="1">
                <a:solidFill>
                  <a:srgbClr val="5A3E2B"/>
                </a:solidFill>
                <a:latin typeface="Calibri"/>
              </a:rPr>
              <a:t>Branch</a:t>
            </a:r>
          </a:p>
        </p:txBody>
      </p:sp>
      <p:sp>
        <p:nvSpPr>
          <p:cNvPr id="7" name="TextBox 6"/>
          <p:cNvSpPr txBox="1"/>
          <p:nvPr/>
        </p:nvSpPr>
        <p:spPr>
          <a:xfrm>
            <a:off x="3931920" y="1965960"/>
            <a:ext cx="3474720" cy="45720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kele-css</a:t>
            </a:r>
          </a:p>
        </p:txBody>
      </p:sp>
      <p:sp>
        <p:nvSpPr>
          <p:cNvPr id="8" name="TextBox 7"/>
          <p:cNvSpPr txBox="1"/>
          <p:nvPr/>
        </p:nvSpPr>
        <p:spPr>
          <a:xfrm>
            <a:off x="868680" y="2624328"/>
            <a:ext cx="3017520" cy="457200"/>
          </a:xfrm>
          <a:prstGeom prst="rect">
            <a:avLst/>
          </a:prstGeom>
          <a:noFill/>
        </p:spPr>
        <p:txBody>
          <a:bodyPr wrap="square" anchor="t" lIns="45720" rIns="45720">
            <a:spAutoFit/>
          </a:bodyPr>
          <a:lstStyle/>
          <a:p>
            <a:pPr algn="l">
              <a:spcAft>
                <a:spcPts val="600"/>
              </a:spcAft>
            </a:pPr>
            <a:r>
              <a:rPr sz="1700" b="1">
                <a:solidFill>
                  <a:srgbClr val="5A3E2B"/>
                </a:solidFill>
                <a:latin typeface="Calibri"/>
              </a:rPr>
              <a:t>Commit</a:t>
            </a:r>
          </a:p>
        </p:txBody>
      </p:sp>
      <p:sp>
        <p:nvSpPr>
          <p:cNvPr id="9" name="TextBox 8"/>
          <p:cNvSpPr txBox="1"/>
          <p:nvPr/>
        </p:nvSpPr>
        <p:spPr>
          <a:xfrm>
            <a:off x="3931920" y="2624328"/>
            <a:ext cx="3474720" cy="45720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634eacd</a:t>
            </a:r>
          </a:p>
        </p:txBody>
      </p:sp>
      <p:sp>
        <p:nvSpPr>
          <p:cNvPr id="10" name="TextBox 9"/>
          <p:cNvSpPr txBox="1"/>
          <p:nvPr/>
        </p:nvSpPr>
        <p:spPr>
          <a:xfrm>
            <a:off x="868680" y="3282696"/>
            <a:ext cx="3017520" cy="457200"/>
          </a:xfrm>
          <a:prstGeom prst="rect">
            <a:avLst/>
          </a:prstGeom>
          <a:noFill/>
        </p:spPr>
        <p:txBody>
          <a:bodyPr wrap="square" anchor="t" lIns="45720" rIns="45720">
            <a:spAutoFit/>
          </a:bodyPr>
          <a:lstStyle/>
          <a:p>
            <a:pPr algn="l">
              <a:spcAft>
                <a:spcPts val="600"/>
              </a:spcAft>
            </a:pPr>
            <a:r>
              <a:rPr sz="1700" b="1">
                <a:solidFill>
                  <a:srgbClr val="5A3E2B"/>
                </a:solidFill>
                <a:latin typeface="Calibri"/>
              </a:rPr>
              <a:t>Merged as</a:t>
            </a:r>
          </a:p>
        </p:txBody>
      </p:sp>
      <p:sp>
        <p:nvSpPr>
          <p:cNvPr id="11" name="TextBox 10"/>
          <p:cNvSpPr txBox="1"/>
          <p:nvPr/>
        </p:nvSpPr>
        <p:spPr>
          <a:xfrm>
            <a:off x="3931920" y="3282696"/>
            <a:ext cx="3474720" cy="45720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2aea869</a:t>
            </a:r>
          </a:p>
        </p:txBody>
      </p:sp>
      <p:sp>
        <p:nvSpPr>
          <p:cNvPr id="12" name="TextBox 11"/>
          <p:cNvSpPr txBox="1"/>
          <p:nvPr/>
        </p:nvSpPr>
        <p:spPr>
          <a:xfrm>
            <a:off x="868680" y="3941064"/>
            <a:ext cx="3017520" cy="457200"/>
          </a:xfrm>
          <a:prstGeom prst="rect">
            <a:avLst/>
          </a:prstGeom>
          <a:noFill/>
        </p:spPr>
        <p:txBody>
          <a:bodyPr wrap="square" anchor="t" lIns="45720" rIns="45720">
            <a:spAutoFit/>
          </a:bodyPr>
          <a:lstStyle/>
          <a:p>
            <a:pPr algn="l">
              <a:spcAft>
                <a:spcPts val="600"/>
              </a:spcAft>
            </a:pPr>
            <a:r>
              <a:rPr sz="1700" b="1">
                <a:solidFill>
                  <a:srgbClr val="5A3E2B"/>
                </a:solidFill>
                <a:latin typeface="Calibri"/>
              </a:rPr>
              <a:t>Opened by</a:t>
            </a:r>
          </a:p>
        </p:txBody>
      </p:sp>
      <p:sp>
        <p:nvSpPr>
          <p:cNvPr id="13" name="TextBox 12"/>
          <p:cNvSpPr txBox="1"/>
          <p:nvPr/>
        </p:nvSpPr>
        <p:spPr>
          <a:xfrm>
            <a:off x="3931920" y="3941064"/>
            <a:ext cx="3474720" cy="45720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Kelebogile</a:t>
            </a:r>
          </a:p>
        </p:txBody>
      </p:sp>
      <p:sp>
        <p:nvSpPr>
          <p:cNvPr id="14" name="TextBox 13"/>
          <p:cNvSpPr txBox="1"/>
          <p:nvPr/>
        </p:nvSpPr>
        <p:spPr>
          <a:xfrm>
            <a:off x="868680" y="4599431"/>
            <a:ext cx="3017520" cy="457200"/>
          </a:xfrm>
          <a:prstGeom prst="rect">
            <a:avLst/>
          </a:prstGeom>
          <a:noFill/>
        </p:spPr>
        <p:txBody>
          <a:bodyPr wrap="square" anchor="t" lIns="45720" rIns="45720">
            <a:spAutoFit/>
          </a:bodyPr>
          <a:lstStyle/>
          <a:p>
            <a:pPr algn="l">
              <a:spcAft>
                <a:spcPts val="600"/>
              </a:spcAft>
            </a:pPr>
            <a:r>
              <a:rPr sz="1700" b="1">
                <a:solidFill>
                  <a:srgbClr val="5A3E2B"/>
                </a:solidFill>
                <a:latin typeface="Calibri"/>
              </a:rPr>
              <a:t>Reviewed and merged by</a:t>
            </a:r>
          </a:p>
        </p:txBody>
      </p:sp>
      <p:sp>
        <p:nvSpPr>
          <p:cNvPr id="15" name="TextBox 14"/>
          <p:cNvSpPr txBox="1"/>
          <p:nvPr/>
        </p:nvSpPr>
        <p:spPr>
          <a:xfrm>
            <a:off x="3931920" y="4599431"/>
            <a:ext cx="3474720" cy="45720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Mohamed</a:t>
            </a:r>
          </a:p>
        </p:txBody>
      </p:sp>
      <p:sp>
        <p:nvSpPr>
          <p:cNvPr id="16" name="TextBox 15"/>
          <p:cNvSpPr txBox="1"/>
          <p:nvPr/>
        </p:nvSpPr>
        <p:spPr>
          <a:xfrm>
            <a:off x="868680" y="5257800"/>
            <a:ext cx="3017520" cy="457200"/>
          </a:xfrm>
          <a:prstGeom prst="rect">
            <a:avLst/>
          </a:prstGeom>
          <a:noFill/>
        </p:spPr>
        <p:txBody>
          <a:bodyPr wrap="square" anchor="t" lIns="45720" rIns="45720">
            <a:spAutoFit/>
          </a:bodyPr>
          <a:lstStyle/>
          <a:p>
            <a:pPr algn="l">
              <a:spcAft>
                <a:spcPts val="600"/>
              </a:spcAft>
            </a:pPr>
            <a:r>
              <a:rPr sz="1700" b="1">
                <a:solidFill>
                  <a:srgbClr val="5A3E2B"/>
                </a:solidFill>
                <a:latin typeface="Calibri"/>
              </a:rPr>
              <a:t>Date</a:t>
            </a:r>
          </a:p>
        </p:txBody>
      </p:sp>
      <p:sp>
        <p:nvSpPr>
          <p:cNvPr id="17" name="TextBox 16"/>
          <p:cNvSpPr txBox="1"/>
          <p:nvPr/>
        </p:nvSpPr>
        <p:spPr>
          <a:xfrm>
            <a:off x="3931920" y="5257800"/>
            <a:ext cx="3474720" cy="457200"/>
          </a:xfrm>
          <a:prstGeom prst="rect">
            <a:avLst/>
          </a:prstGeom>
          <a:noFill/>
        </p:spPr>
        <p:txBody>
          <a:bodyPr wrap="square" anchor="t" lIns="45720" rIns="45720">
            <a:spAutoFit/>
          </a:bodyPr>
          <a:lstStyle/>
          <a:p>
            <a:pPr algn="l">
              <a:spcAft>
                <a:spcPts val="600"/>
              </a:spcAft>
            </a:pPr>
            <a:r>
              <a:rPr sz="1700" b="0">
                <a:solidFill>
                  <a:srgbClr val="2F302D"/>
                </a:solidFill>
                <a:latin typeface="Calibri"/>
              </a:rPr>
              <a:t>22 October 2026</a:t>
            </a:r>
          </a:p>
        </p:txBody>
      </p:sp>
      <p:sp>
        <p:nvSpPr>
          <p:cNvPr id="18" name="TextBox 17"/>
          <p:cNvSpPr txBox="1"/>
          <p:nvPr/>
        </p:nvSpPr>
        <p:spPr>
          <a:xfrm>
            <a:off x="7955279" y="1783080"/>
            <a:ext cx="3840480" cy="457200"/>
          </a:xfrm>
          <a:prstGeom prst="rect">
            <a:avLst/>
          </a:prstGeom>
          <a:noFill/>
        </p:spPr>
        <p:txBody>
          <a:bodyPr wrap="square" anchor="t" lIns="45720" rIns="45720">
            <a:spAutoFit/>
          </a:bodyPr>
          <a:lstStyle/>
          <a:p>
            <a:pPr algn="l">
              <a:spcAft>
                <a:spcPts val="600"/>
              </a:spcAft>
            </a:pPr>
            <a:r>
              <a:rPr sz="2200" b="1">
                <a:solidFill>
                  <a:srgbClr val="5A3E2B"/>
                </a:solidFill>
                <a:latin typeface="Book Antiqua"/>
              </a:rPr>
              <a:t>What happened</a:t>
            </a:r>
          </a:p>
        </p:txBody>
      </p:sp>
      <p:sp>
        <p:nvSpPr>
          <p:cNvPr id="19" name="TextBox 18"/>
          <p:cNvSpPr txBox="1"/>
          <p:nvPr/>
        </p:nvSpPr>
        <p:spPr>
          <a:xfrm>
            <a:off x="7955279" y="2331720"/>
            <a:ext cx="3840480" cy="4114800"/>
          </a:xfrm>
          <a:prstGeom prst="rect">
            <a:avLst/>
          </a:prstGeom>
          <a:noFill/>
        </p:spPr>
        <p:txBody>
          <a:bodyPr wrap="square">
            <a:spAutoFit/>
          </a:bodyPr>
          <a:lstStyle/>
          <a:p>
            <a:pPr>
              <a:spcAft>
                <a:spcPts val="800"/>
              </a:spcAft>
            </a:pPr>
            <a:r>
              <a:rPr sz="1500">
                <a:solidFill>
                  <a:srgbClr val="2F302D"/>
                </a:solidFill>
                <a:latin typeface="Calibri"/>
              </a:rPr>
              <a:t>•  I walked Kelebogile through it on a call: pull main, branch, commit, push</a:t>
            </a:r>
          </a:p>
          <a:p>
            <a:pPr>
              <a:spcAft>
                <a:spcPts val="800"/>
              </a:spcAft>
            </a:pPr>
            <a:r>
              <a:rPr sz="1500">
                <a:solidFill>
                  <a:srgbClr val="2F302D"/>
                </a:solidFill>
                <a:latin typeface="Calibri"/>
              </a:rPr>
              <a:t>•  She opened the Pull Request with her shared base CSS plus her summary and detail page styles</a:t>
            </a:r>
          </a:p>
          <a:p>
            <a:pPr>
              <a:spcAft>
                <a:spcPts val="800"/>
              </a:spcAft>
            </a:pPr>
            <a:r>
              <a:rPr sz="1500">
                <a:solidFill>
                  <a:srgbClr val="2F302D"/>
                </a:solidFill>
                <a:latin typeface="Calibri"/>
              </a:rPr>
              <a:t>•  I reviewed it and merged it into main</a:t>
            </a:r>
          </a:p>
          <a:p>
            <a:pPr>
              <a:spcAft>
                <a:spcPts val="800"/>
              </a:spcAft>
            </a:pPr>
            <a:r>
              <a:rPr sz="1500">
                <a:solidFill>
                  <a:srgbClr val="2F302D"/>
                </a:solidFill>
                <a:latin typeface="Calibri"/>
              </a:rPr>
              <a:t>•  Theolin and I then pushed ours the same way</a:t>
            </a:r>
          </a:p>
        </p:txBody>
      </p:sp>
      <p:sp>
        <p:nvSpPr>
          <p:cNvPr id="20" name="TextBox 19"/>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Mohamed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6"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1000"/>
                                        <p:tgtEl>
                                          <p:spTgt spid="18"/>
                                        </p:tgtEl>
                                      </p:cBhvr>
                                    </p:animEffect>
                                  </p:childTnLst>
                                </p:cTn>
                              </p:par>
                              <p:par>
                                <p:cTn id="24" presetID="10" presetClass="entr" presetSubtype="0" fill="hold" nodeType="withEffect">
                                  <p:stCondLst>
                                    <p:cond delay="75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childTnLst>
                                </p:cTn>
                              </p:par>
                              <p:par>
                                <p:cTn id="28" presetID="10" presetClass="entr" presetSubtype="0" fill="hold" nodeType="withEffect">
                                  <p:stCondLst>
                                    <p:cond delay="90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1000"/>
                                        <p:tgtEl>
                                          <p:spTgt spid="7"/>
                                        </p:tgtEl>
                                      </p:cBhvr>
                                    </p:animEffect>
                                  </p:childTnLst>
                                </p:cTn>
                              </p:par>
                              <p:par>
                                <p:cTn id="32" presetID="10" presetClass="entr" presetSubtype="0" fill="hold" nodeType="withEffect">
                                  <p:stCondLst>
                                    <p:cond delay="105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1000"/>
                                        <p:tgtEl>
                                          <p:spTgt spid="19"/>
                                        </p:tgtEl>
                                      </p:cBhvr>
                                    </p:animEffect>
                                  </p:childTnLst>
                                </p:cTn>
                              </p:par>
                              <p:par>
                                <p:cTn id="36" presetID="10" presetClass="entr" presetSubtype="0" fill="hold" nodeType="withEffect">
                                  <p:stCondLst>
                                    <p:cond delay="120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1000"/>
                                        <p:tgtEl>
                                          <p:spTgt spid="8"/>
                                        </p:tgtEl>
                                      </p:cBhvr>
                                    </p:animEffect>
                                  </p:childTnLst>
                                </p:cTn>
                              </p:par>
                              <p:par>
                                <p:cTn id="40" presetID="10" presetClass="entr" presetSubtype="0" fill="hold" nodeType="withEffect">
                                  <p:stCondLst>
                                    <p:cond delay="135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childTnLst>
                                </p:cTn>
                              </p:par>
                              <p:par>
                                <p:cTn id="44" presetID="10" presetClass="entr" presetSubtype="0" fill="hold" nodeType="withEffect">
                                  <p:stCondLst>
                                    <p:cond delay="150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1000"/>
                                        <p:tgtEl>
                                          <p:spTgt spid="10"/>
                                        </p:tgtEl>
                                      </p:cBhvr>
                                    </p:animEffect>
                                  </p:childTnLst>
                                </p:cTn>
                              </p:par>
                              <p:par>
                                <p:cTn id="48" presetID="10" presetClass="entr" presetSubtype="0" fill="hold" nodeType="withEffect">
                                  <p:stCondLst>
                                    <p:cond delay="165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1000"/>
                                        <p:tgtEl>
                                          <p:spTgt spid="11"/>
                                        </p:tgtEl>
                                      </p:cBhvr>
                                    </p:animEffect>
                                  </p:childTnLst>
                                </p:cTn>
                              </p:par>
                              <p:par>
                                <p:cTn id="52" presetID="10" presetClass="entr" presetSubtype="0" fill="hold" nodeType="withEffect">
                                  <p:stCondLst>
                                    <p:cond delay="180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1000"/>
                                        <p:tgtEl>
                                          <p:spTgt spid="12"/>
                                        </p:tgtEl>
                                      </p:cBhvr>
                                    </p:animEffect>
                                  </p:childTnLst>
                                </p:cTn>
                              </p:par>
                              <p:par>
                                <p:cTn id="56" presetID="10" presetClass="entr" presetSubtype="0" fill="hold" nodeType="withEffect">
                                  <p:stCondLst>
                                    <p:cond delay="18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1000"/>
                                        <p:tgtEl>
                                          <p:spTgt spid="13"/>
                                        </p:tgtEl>
                                      </p:cBhvr>
                                    </p:animEffect>
                                  </p:childTnLst>
                                </p:cTn>
                              </p:par>
                              <p:par>
                                <p:cTn id="60" presetID="10" presetClass="entr" presetSubtype="0" fill="hold" nodeType="withEffect">
                                  <p:stCondLst>
                                    <p:cond delay="180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1000"/>
                                        <p:tgtEl>
                                          <p:spTgt spid="14"/>
                                        </p:tgtEl>
                                      </p:cBhvr>
                                    </p:animEffect>
                                  </p:childTnLst>
                                </p:cTn>
                              </p:par>
                              <p:par>
                                <p:cTn id="64" presetID="10" presetClass="entr" presetSubtype="0" fill="hold" nodeType="withEffect">
                                  <p:stCondLst>
                                    <p:cond delay="1800"/>
                                  </p:stCondLst>
                                  <p:childTnLst>
                                    <p:set>
                                      <p:cBhvr>
                                        <p:cTn id="65" dur="1" fill="hold">
                                          <p:stCondLst>
                                            <p:cond delay="0"/>
                                          </p:stCondLst>
                                        </p:cTn>
                                        <p:tgtEl>
                                          <p:spTgt spid="15"/>
                                        </p:tgtEl>
                                        <p:attrNameLst>
                                          <p:attrName>style.visibility</p:attrName>
                                        </p:attrNameLst>
                                      </p:cBhvr>
                                      <p:to>
                                        <p:strVal val="visible"/>
                                      </p:to>
                                    </p:set>
                                    <p:animEffect transition="in" filter="fade">
                                      <p:cBhvr>
                                        <p:cTn id="66" dur="1000"/>
                                        <p:tgtEl>
                                          <p:spTgt spid="15"/>
                                        </p:tgtEl>
                                      </p:cBhvr>
                                    </p:animEffect>
                                  </p:childTnLst>
                                </p:cTn>
                              </p:par>
                              <p:par>
                                <p:cTn id="68" presetID="10" presetClass="entr" presetSubtype="0" fill="hold" nodeType="withEffect">
                                  <p:stCondLst>
                                    <p:cond delay="1800"/>
                                  </p:stCondLst>
                                  <p:childTnLst>
                                    <p:set>
                                      <p:cBhvr>
                                        <p:cTn id="69" dur="1" fill="hold">
                                          <p:stCondLst>
                                            <p:cond delay="0"/>
                                          </p:stCondLst>
                                        </p:cTn>
                                        <p:tgtEl>
                                          <p:spTgt spid="16"/>
                                        </p:tgtEl>
                                        <p:attrNameLst>
                                          <p:attrName>style.visibility</p:attrName>
                                        </p:attrNameLst>
                                      </p:cBhvr>
                                      <p:to>
                                        <p:strVal val="visible"/>
                                      </p:to>
                                    </p:set>
                                    <p:animEffect transition="in" filter="fade">
                                      <p:cBhvr>
                                        <p:cTn id="70" dur="1000"/>
                                        <p:tgtEl>
                                          <p:spTgt spid="16"/>
                                        </p:tgtEl>
                                      </p:cBhvr>
                                    </p:animEffect>
                                  </p:childTnLst>
                                </p:cTn>
                              </p:par>
                              <p:par>
                                <p:cTn id="72" presetID="10" presetClass="entr" presetSubtype="0" fill="hold" nodeType="withEffect">
                                  <p:stCondLst>
                                    <p:cond delay="1800"/>
                                  </p:stCondLst>
                                  <p:childTnLst>
                                    <p:set>
                                      <p:cBhvr>
                                        <p:cTn id="73" dur="1" fill="hold">
                                          <p:stCondLst>
                                            <p:cond delay="0"/>
                                          </p:stCondLst>
                                        </p:cTn>
                                        <p:tgtEl>
                                          <p:spTgt spid="17"/>
                                        </p:tgtEl>
                                        <p:attrNameLst>
                                          <p:attrName>style.visibility</p:attrName>
                                        </p:attrNameLst>
                                      </p:cBhvr>
                                      <p:to>
                                        <p:strVal val="visible"/>
                                      </p:to>
                                    </p:set>
                                    <p:animEffect transition="in" filter="fade">
                                      <p:cBhvr>
                                        <p:cTn id="74"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Live demo: Fees Calculator</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Pick 4 courses, then show 15% off and VAT</a:t>
            </a:r>
          </a:p>
        </p:txBody>
      </p:sp>
      <p:sp>
        <p:nvSpPr>
          <p:cNvPr id="5" name="Oval 4"/>
          <p:cNvSpPr/>
          <p:nvPr/>
        </p:nvSpPr>
        <p:spPr>
          <a:xfrm>
            <a:off x="731520" y="1783080"/>
            <a:ext cx="502920" cy="502920"/>
          </a:xfrm>
          <a:prstGeom prst="ellipse">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libri"/>
              </a:rPr>
              <a:t>1</a:t>
            </a:r>
          </a:p>
        </p:txBody>
      </p:sp>
      <p:sp>
        <p:nvSpPr>
          <p:cNvPr id="6" name="TextBox 5"/>
          <p:cNvSpPr txBox="1"/>
          <p:nvPr/>
        </p:nvSpPr>
        <p:spPr>
          <a:xfrm>
            <a:off x="1417320" y="1746504"/>
            <a:ext cx="5852160" cy="365760"/>
          </a:xfrm>
          <a:prstGeom prst="rect">
            <a:avLst/>
          </a:prstGeom>
          <a:noFill/>
        </p:spPr>
        <p:txBody>
          <a:bodyPr wrap="square" anchor="t" lIns="45720" rIns="45720">
            <a:spAutoFit/>
          </a:bodyPr>
          <a:lstStyle/>
          <a:p>
            <a:pPr algn="l">
              <a:spcAft>
                <a:spcPts val="600"/>
              </a:spcAft>
            </a:pPr>
            <a:r>
              <a:rPr sz="1900" b="1">
                <a:solidFill>
                  <a:srgbClr val="2F302D"/>
                </a:solidFill>
                <a:latin typeface="Calibri"/>
              </a:rPr>
              <a:t>Open the Fees Calculator</a:t>
            </a:r>
          </a:p>
        </p:txBody>
      </p:sp>
      <p:sp>
        <p:nvSpPr>
          <p:cNvPr id="7" name="TextBox 6"/>
          <p:cNvSpPr txBox="1"/>
          <p:nvPr/>
        </p:nvSpPr>
        <p:spPr>
          <a:xfrm>
            <a:off x="1417320" y="2084831"/>
            <a:ext cx="5852160" cy="365760"/>
          </a:xfrm>
          <a:prstGeom prst="rect">
            <a:avLst/>
          </a:prstGeom>
          <a:noFill/>
        </p:spPr>
        <p:txBody>
          <a:bodyPr wrap="square" anchor="t" lIns="45720" rIns="45720">
            <a:spAutoFit/>
          </a:bodyPr>
          <a:lstStyle/>
          <a:p>
            <a:pPr algn="l">
              <a:spcAft>
                <a:spcPts val="600"/>
              </a:spcAft>
            </a:pPr>
            <a:r>
              <a:rPr sz="1400" b="0">
                <a:solidFill>
                  <a:srgbClr val="5A3E2B"/>
                </a:solidFill>
                <a:latin typeface="Calibri"/>
              </a:rPr>
              <a:t>Website: Pricing / Fees page. Everything starts at R0.00</a:t>
            </a:r>
          </a:p>
        </p:txBody>
      </p:sp>
      <p:sp>
        <p:nvSpPr>
          <p:cNvPr id="8" name="Oval 7"/>
          <p:cNvSpPr/>
          <p:nvPr/>
        </p:nvSpPr>
        <p:spPr>
          <a:xfrm>
            <a:off x="731520" y="2514600"/>
            <a:ext cx="502920" cy="502920"/>
          </a:xfrm>
          <a:prstGeom prst="ellipse">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libri"/>
              </a:rPr>
              <a:t>2</a:t>
            </a:r>
          </a:p>
        </p:txBody>
      </p:sp>
      <p:sp>
        <p:nvSpPr>
          <p:cNvPr id="9" name="TextBox 8"/>
          <p:cNvSpPr txBox="1"/>
          <p:nvPr/>
        </p:nvSpPr>
        <p:spPr>
          <a:xfrm>
            <a:off x="1417320" y="2478024"/>
            <a:ext cx="5852160" cy="365760"/>
          </a:xfrm>
          <a:prstGeom prst="rect">
            <a:avLst/>
          </a:prstGeom>
          <a:noFill/>
        </p:spPr>
        <p:txBody>
          <a:bodyPr wrap="square" anchor="t" lIns="45720" rIns="45720">
            <a:spAutoFit/>
          </a:bodyPr>
          <a:lstStyle/>
          <a:p>
            <a:pPr algn="l">
              <a:spcAft>
                <a:spcPts val="600"/>
              </a:spcAft>
            </a:pPr>
            <a:r>
              <a:rPr sz="1900" b="1">
                <a:solidFill>
                  <a:srgbClr val="2F302D"/>
                </a:solidFill>
                <a:latin typeface="Calibri"/>
              </a:rPr>
              <a:t>Tick 4 courses</a:t>
            </a:r>
          </a:p>
        </p:txBody>
      </p:sp>
      <p:sp>
        <p:nvSpPr>
          <p:cNvPr id="10" name="TextBox 9"/>
          <p:cNvSpPr txBox="1"/>
          <p:nvPr/>
        </p:nvSpPr>
        <p:spPr>
          <a:xfrm>
            <a:off x="1417320" y="2816352"/>
            <a:ext cx="5852160" cy="365760"/>
          </a:xfrm>
          <a:prstGeom prst="rect">
            <a:avLst/>
          </a:prstGeom>
          <a:noFill/>
        </p:spPr>
        <p:txBody>
          <a:bodyPr wrap="square" anchor="t" lIns="45720" rIns="45720">
            <a:spAutoFit/>
          </a:bodyPr>
          <a:lstStyle/>
          <a:p>
            <a:pPr algn="l">
              <a:spcAft>
                <a:spcPts val="600"/>
              </a:spcAft>
            </a:pPr>
            <a:r>
              <a:rPr sz="1400" b="0">
                <a:solidFill>
                  <a:srgbClr val="5A3E2B"/>
                </a:solidFill>
                <a:latin typeface="Calibri"/>
              </a:rPr>
              <a:t>Canine Obedience, Pet Grooming, Puppy Care, Pet First Aid</a:t>
            </a:r>
          </a:p>
        </p:txBody>
      </p:sp>
      <p:sp>
        <p:nvSpPr>
          <p:cNvPr id="11" name="Oval 10"/>
          <p:cNvSpPr/>
          <p:nvPr/>
        </p:nvSpPr>
        <p:spPr>
          <a:xfrm>
            <a:off x="731520" y="3246120"/>
            <a:ext cx="502920" cy="502920"/>
          </a:xfrm>
          <a:prstGeom prst="ellipse">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libri"/>
              </a:rPr>
              <a:t>3</a:t>
            </a:r>
          </a:p>
        </p:txBody>
      </p:sp>
      <p:sp>
        <p:nvSpPr>
          <p:cNvPr id="12" name="TextBox 11"/>
          <p:cNvSpPr txBox="1"/>
          <p:nvPr/>
        </p:nvSpPr>
        <p:spPr>
          <a:xfrm>
            <a:off x="1417320" y="3209544"/>
            <a:ext cx="5852160" cy="365760"/>
          </a:xfrm>
          <a:prstGeom prst="rect">
            <a:avLst/>
          </a:prstGeom>
          <a:noFill/>
        </p:spPr>
        <p:txBody>
          <a:bodyPr wrap="square" anchor="t" lIns="45720" rIns="45720">
            <a:spAutoFit/>
          </a:bodyPr>
          <a:lstStyle/>
          <a:p>
            <a:pPr algn="l">
              <a:spcAft>
                <a:spcPts val="600"/>
              </a:spcAft>
            </a:pPr>
            <a:r>
              <a:rPr sz="1900" b="1">
                <a:solidFill>
                  <a:srgbClr val="2F302D"/>
                </a:solidFill>
                <a:latin typeface="Calibri"/>
              </a:rPr>
              <a:t>Point at the discount</a:t>
            </a:r>
          </a:p>
        </p:txBody>
      </p:sp>
      <p:sp>
        <p:nvSpPr>
          <p:cNvPr id="13" name="TextBox 12"/>
          <p:cNvSpPr txBox="1"/>
          <p:nvPr/>
        </p:nvSpPr>
        <p:spPr>
          <a:xfrm>
            <a:off x="1417320" y="3547872"/>
            <a:ext cx="5852160" cy="365760"/>
          </a:xfrm>
          <a:prstGeom prst="rect">
            <a:avLst/>
          </a:prstGeom>
          <a:noFill/>
        </p:spPr>
        <p:txBody>
          <a:bodyPr wrap="square" anchor="t" lIns="45720" rIns="45720">
            <a:spAutoFit/>
          </a:bodyPr>
          <a:lstStyle/>
          <a:p>
            <a:pPr algn="l">
              <a:spcAft>
                <a:spcPts val="600"/>
              </a:spcAft>
            </a:pPr>
            <a:r>
              <a:rPr sz="1400" b="0">
                <a:solidFill>
                  <a:srgbClr val="5A3E2B"/>
                </a:solidFill>
                <a:latin typeface="Calibri"/>
              </a:rPr>
              <a:t>Label changes to Discount 15%. Show -R675.00</a:t>
            </a:r>
          </a:p>
        </p:txBody>
      </p:sp>
      <p:sp>
        <p:nvSpPr>
          <p:cNvPr id="14" name="Oval 13"/>
          <p:cNvSpPr/>
          <p:nvPr/>
        </p:nvSpPr>
        <p:spPr>
          <a:xfrm>
            <a:off x="731520" y="3977640"/>
            <a:ext cx="502920" cy="502920"/>
          </a:xfrm>
          <a:prstGeom prst="ellipse">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libri"/>
              </a:rPr>
              <a:t>4</a:t>
            </a:r>
          </a:p>
        </p:txBody>
      </p:sp>
      <p:sp>
        <p:nvSpPr>
          <p:cNvPr id="15" name="TextBox 14"/>
          <p:cNvSpPr txBox="1"/>
          <p:nvPr/>
        </p:nvSpPr>
        <p:spPr>
          <a:xfrm>
            <a:off x="1417320" y="3941064"/>
            <a:ext cx="5852160" cy="365760"/>
          </a:xfrm>
          <a:prstGeom prst="rect">
            <a:avLst/>
          </a:prstGeom>
          <a:noFill/>
        </p:spPr>
        <p:txBody>
          <a:bodyPr wrap="square" anchor="t" lIns="45720" rIns="45720">
            <a:spAutoFit/>
          </a:bodyPr>
          <a:lstStyle/>
          <a:p>
            <a:pPr algn="l">
              <a:spcAft>
                <a:spcPts val="600"/>
              </a:spcAft>
            </a:pPr>
            <a:r>
              <a:rPr sz="1900" b="1">
                <a:solidFill>
                  <a:srgbClr val="2F302D"/>
                </a:solidFill>
                <a:latin typeface="Calibri"/>
              </a:rPr>
              <a:t>Point at VAT</a:t>
            </a:r>
          </a:p>
        </p:txBody>
      </p:sp>
      <p:sp>
        <p:nvSpPr>
          <p:cNvPr id="16" name="TextBox 15"/>
          <p:cNvSpPr txBox="1"/>
          <p:nvPr/>
        </p:nvSpPr>
        <p:spPr>
          <a:xfrm>
            <a:off x="1417320" y="4279392"/>
            <a:ext cx="5852160" cy="365760"/>
          </a:xfrm>
          <a:prstGeom prst="rect">
            <a:avLst/>
          </a:prstGeom>
          <a:noFill/>
        </p:spPr>
        <p:txBody>
          <a:bodyPr wrap="square" anchor="t" lIns="45720" rIns="45720">
            <a:spAutoFit/>
          </a:bodyPr>
          <a:lstStyle/>
          <a:p>
            <a:pPr algn="l">
              <a:spcAft>
                <a:spcPts val="600"/>
              </a:spcAft>
            </a:pPr>
            <a:r>
              <a:rPr sz="1400" b="0">
                <a:solidFill>
                  <a:srgbClr val="5A3E2B"/>
                </a:solidFill>
                <a:latin typeface="Calibri"/>
              </a:rPr>
              <a:t>R573.75, charged after the discount</a:t>
            </a:r>
          </a:p>
        </p:txBody>
      </p:sp>
      <p:sp>
        <p:nvSpPr>
          <p:cNvPr id="17" name="Oval 16"/>
          <p:cNvSpPr/>
          <p:nvPr/>
        </p:nvSpPr>
        <p:spPr>
          <a:xfrm>
            <a:off x="731520" y="4709160"/>
            <a:ext cx="502920" cy="502920"/>
          </a:xfrm>
          <a:prstGeom prst="ellipse">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libri"/>
              </a:rPr>
              <a:t>5</a:t>
            </a:r>
          </a:p>
        </p:txBody>
      </p:sp>
      <p:sp>
        <p:nvSpPr>
          <p:cNvPr id="18" name="TextBox 17"/>
          <p:cNvSpPr txBox="1"/>
          <p:nvPr/>
        </p:nvSpPr>
        <p:spPr>
          <a:xfrm>
            <a:off x="1417320" y="4672584"/>
            <a:ext cx="5852160" cy="365760"/>
          </a:xfrm>
          <a:prstGeom prst="rect">
            <a:avLst/>
          </a:prstGeom>
          <a:noFill/>
        </p:spPr>
        <p:txBody>
          <a:bodyPr wrap="square" anchor="t" lIns="45720" rIns="45720">
            <a:spAutoFit/>
          </a:bodyPr>
          <a:lstStyle/>
          <a:p>
            <a:pPr algn="l">
              <a:spcAft>
                <a:spcPts val="600"/>
              </a:spcAft>
            </a:pPr>
            <a:r>
              <a:rPr sz="1900" b="1">
                <a:solidFill>
                  <a:srgbClr val="2F302D"/>
                </a:solidFill>
                <a:latin typeface="Calibri"/>
              </a:rPr>
              <a:t>Read the total</a:t>
            </a:r>
          </a:p>
        </p:txBody>
      </p:sp>
      <p:sp>
        <p:nvSpPr>
          <p:cNvPr id="19" name="TextBox 18"/>
          <p:cNvSpPr txBox="1"/>
          <p:nvPr/>
        </p:nvSpPr>
        <p:spPr>
          <a:xfrm>
            <a:off x="1417320" y="5010912"/>
            <a:ext cx="5852160" cy="365760"/>
          </a:xfrm>
          <a:prstGeom prst="rect">
            <a:avLst/>
          </a:prstGeom>
          <a:noFill/>
        </p:spPr>
        <p:txBody>
          <a:bodyPr wrap="square" anchor="t" lIns="45720" rIns="45720">
            <a:spAutoFit/>
          </a:bodyPr>
          <a:lstStyle/>
          <a:p>
            <a:pPr algn="l">
              <a:spcAft>
                <a:spcPts val="600"/>
              </a:spcAft>
            </a:pPr>
            <a:r>
              <a:rPr sz="1400" b="0">
                <a:solidFill>
                  <a:srgbClr val="5A3E2B"/>
                </a:solidFill>
                <a:latin typeface="Calibri"/>
              </a:rPr>
              <a:t>R4,398.75</a:t>
            </a:r>
          </a:p>
        </p:txBody>
      </p:sp>
      <p:sp>
        <p:nvSpPr>
          <p:cNvPr id="20" name="Oval 19"/>
          <p:cNvSpPr/>
          <p:nvPr/>
        </p:nvSpPr>
        <p:spPr>
          <a:xfrm>
            <a:off x="731520" y="5440680"/>
            <a:ext cx="502920" cy="502920"/>
          </a:xfrm>
          <a:prstGeom prst="ellipse">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800" b="1">
                <a:solidFill>
                  <a:srgbClr val="FFFFFF"/>
                </a:solidFill>
                <a:latin typeface="Calibri"/>
              </a:rPr>
              <a:t>6</a:t>
            </a:r>
          </a:p>
        </p:txBody>
      </p:sp>
      <p:sp>
        <p:nvSpPr>
          <p:cNvPr id="21" name="TextBox 20"/>
          <p:cNvSpPr txBox="1"/>
          <p:nvPr/>
        </p:nvSpPr>
        <p:spPr>
          <a:xfrm>
            <a:off x="1417320" y="5404104"/>
            <a:ext cx="5852160" cy="365760"/>
          </a:xfrm>
          <a:prstGeom prst="rect">
            <a:avLst/>
          </a:prstGeom>
          <a:noFill/>
        </p:spPr>
        <p:txBody>
          <a:bodyPr wrap="square" anchor="t" lIns="45720" rIns="45720">
            <a:spAutoFit/>
          </a:bodyPr>
          <a:lstStyle/>
          <a:p>
            <a:pPr algn="l">
              <a:spcAft>
                <a:spcPts val="600"/>
              </a:spcAft>
            </a:pPr>
            <a:r>
              <a:rPr sz="1900" b="1">
                <a:solidFill>
                  <a:srgbClr val="2F302D"/>
                </a:solidFill>
                <a:latin typeface="Calibri"/>
              </a:rPr>
              <a:t>Untick one course</a:t>
            </a:r>
          </a:p>
        </p:txBody>
      </p:sp>
      <p:sp>
        <p:nvSpPr>
          <p:cNvPr id="22" name="TextBox 21"/>
          <p:cNvSpPr txBox="1"/>
          <p:nvPr/>
        </p:nvSpPr>
        <p:spPr>
          <a:xfrm>
            <a:off x="1417320" y="5742432"/>
            <a:ext cx="5852160" cy="365760"/>
          </a:xfrm>
          <a:prstGeom prst="rect">
            <a:avLst/>
          </a:prstGeom>
          <a:noFill/>
        </p:spPr>
        <p:txBody>
          <a:bodyPr wrap="square" anchor="t" lIns="45720" rIns="45720">
            <a:spAutoFit/>
          </a:bodyPr>
          <a:lstStyle/>
          <a:p>
            <a:pPr algn="l">
              <a:spcAft>
                <a:spcPts val="600"/>
              </a:spcAft>
            </a:pPr>
            <a:r>
              <a:rPr sz="1400" b="0">
                <a:solidFill>
                  <a:srgbClr val="5A3E2B"/>
                </a:solidFill>
                <a:latin typeface="Calibri"/>
              </a:rPr>
              <a:t>Discount drops to 10%. Shows the tiers live</a:t>
            </a:r>
          </a:p>
        </p:txBody>
      </p:sp>
      <p:sp>
        <p:nvSpPr>
          <p:cNvPr id="23" name="Rounded Rectangle 22"/>
          <p:cNvSpPr/>
          <p:nvPr/>
        </p:nvSpPr>
        <p:spPr>
          <a:xfrm>
            <a:off x="7772400" y="1783080"/>
            <a:ext cx="3840480" cy="4206240"/>
          </a:xfrm>
          <a:prstGeom prst="roundRect">
            <a:avLst>
              <a:gd name="adj" fmla="val 6000"/>
            </a:avLst>
          </a:prstGeom>
          <a:solidFill>
            <a:srgbClr val="B0E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01000" y="1920240"/>
            <a:ext cx="3383280" cy="457200"/>
          </a:xfrm>
          <a:prstGeom prst="rect">
            <a:avLst/>
          </a:prstGeom>
          <a:noFill/>
        </p:spPr>
        <p:txBody>
          <a:bodyPr wrap="square" anchor="t" lIns="45720" rIns="45720">
            <a:spAutoFit/>
          </a:bodyPr>
          <a:lstStyle/>
          <a:p>
            <a:pPr algn="l">
              <a:spcAft>
                <a:spcPts val="600"/>
              </a:spcAft>
            </a:pPr>
            <a:r>
              <a:rPr sz="2000" b="1">
                <a:solidFill>
                  <a:srgbClr val="5A3E2B"/>
                </a:solidFill>
                <a:latin typeface="Book Antiqua"/>
              </a:rPr>
              <a:t>Numbers to have ready</a:t>
            </a:r>
          </a:p>
        </p:txBody>
      </p:sp>
      <p:sp>
        <p:nvSpPr>
          <p:cNvPr id="25" name="TextBox 24"/>
          <p:cNvSpPr txBox="1"/>
          <p:nvPr/>
        </p:nvSpPr>
        <p:spPr>
          <a:xfrm>
            <a:off x="8001000" y="2560320"/>
            <a:ext cx="3383280" cy="329184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Subtotal  R4,500.00</a:t>
            </a:r>
          </a:p>
          <a:p>
            <a:pPr algn="l">
              <a:spcAft>
                <a:spcPts val="600"/>
              </a:spcAft>
            </a:pPr>
            <a:r>
              <a:rPr sz="1600" b="0">
                <a:solidFill>
                  <a:srgbClr val="2F302D"/>
                </a:solidFill>
                <a:latin typeface="Calibri"/>
              </a:rPr>
              <a:t>Discount 15%  -R675.00</a:t>
            </a:r>
          </a:p>
          <a:p>
            <a:pPr algn="l">
              <a:spcAft>
                <a:spcPts val="600"/>
              </a:spcAft>
            </a:pPr>
            <a:r>
              <a:rPr sz="1600" b="0">
                <a:solidFill>
                  <a:srgbClr val="2F302D"/>
                </a:solidFill>
                <a:latin typeface="Calibri"/>
              </a:rPr>
              <a:t>VAT  R573.75</a:t>
            </a:r>
          </a:p>
          <a:p>
            <a:pPr algn="l">
              <a:spcAft>
                <a:spcPts val="600"/>
              </a:spcAft>
            </a:pPr>
            <a:r>
              <a:rPr sz="1600" b="0">
                <a:solidFill>
                  <a:srgbClr val="2F302D"/>
                </a:solidFill>
                <a:latin typeface="Calibri"/>
              </a:rPr>
              <a:t>Total  R4,398.75</a:t>
            </a:r>
          </a:p>
          <a:p>
            <a:pPr algn="l">
              <a:spcAft>
                <a:spcPts val="600"/>
              </a:spcAft>
            </a:pPr>
            <a:r>
              <a:rPr sz="1600" b="0">
                <a:solidFill>
                  <a:srgbClr val="2F302D"/>
                </a:solidFill>
                <a:latin typeface="Calibri"/>
              </a:rPr>
              <a:t/>
            </a:r>
          </a:p>
          <a:p>
            <a:pPr algn="l">
              <a:spcAft>
                <a:spcPts val="600"/>
              </a:spcAft>
            </a:pPr>
            <a:r>
              <a:rPr sz="1600" b="0">
                <a:solidFill>
                  <a:srgbClr val="2F302D"/>
                </a:solidFill>
                <a:latin typeface="Calibri"/>
              </a:rPr>
              <a:t>3 courses (R3,750) would be 10%: total R3,881.25</a:t>
            </a:r>
          </a:p>
        </p:txBody>
      </p:sp>
      <p:sp>
        <p:nvSpPr>
          <p:cNvPr id="26" name="TextBox 25"/>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All</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0"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childTnLst>
                                </p:cTn>
                              </p:par>
                              <p:par>
                                <p:cTn id="24" presetID="10" presetClass="entr" presetSubtype="0" fill="hold" nodeType="withEffect">
                                  <p:stCondLst>
                                    <p:cond delay="75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1000"/>
                                        <p:tgtEl>
                                          <p:spTgt spid="23"/>
                                        </p:tgtEl>
                                      </p:cBhvr>
                                    </p:animEffect>
                                  </p:childTnLst>
                                </p:cTn>
                              </p:par>
                              <p:par>
                                <p:cTn id="28" presetID="10" presetClass="entr" presetSubtype="0" fill="hold" nodeType="withEffect">
                                  <p:stCondLst>
                                    <p:cond delay="900"/>
                                  </p:stCondLst>
                                  <p:childTnLst>
                                    <p:set>
                                      <p:cBhvr>
                                        <p:cTn id="29" dur="1" fill="hold">
                                          <p:stCondLst>
                                            <p:cond delay="0"/>
                                          </p:stCondLst>
                                        </p:cTn>
                                        <p:tgtEl>
                                          <p:spTgt spid="24"/>
                                        </p:tgtEl>
                                        <p:attrNameLst>
                                          <p:attrName>style.visibility</p:attrName>
                                        </p:attrNameLst>
                                      </p:cBhvr>
                                      <p:to>
                                        <p:strVal val="visible"/>
                                      </p:to>
                                    </p:set>
                                    <p:animEffect transition="in" filter="fade">
                                      <p:cBhvr>
                                        <p:cTn id="30" dur="1000"/>
                                        <p:tgtEl>
                                          <p:spTgt spid="24"/>
                                        </p:tgtEl>
                                      </p:cBhvr>
                                    </p:animEffect>
                                  </p:childTnLst>
                                </p:cTn>
                              </p:par>
                              <p:par>
                                <p:cTn id="32" presetID="10" presetClass="entr" presetSubtype="0" fill="hold" nodeType="withEffect">
                                  <p:stCondLst>
                                    <p:cond delay="105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1000"/>
                                        <p:tgtEl>
                                          <p:spTgt spid="7"/>
                                        </p:tgtEl>
                                      </p:cBhvr>
                                    </p:animEffect>
                                  </p:childTnLst>
                                </p:cTn>
                              </p:par>
                              <p:par>
                                <p:cTn id="36" presetID="10" presetClass="entr" presetSubtype="0" fill="hold" nodeType="withEffect">
                                  <p:stCondLst>
                                    <p:cond delay="12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1000"/>
                                        <p:tgtEl>
                                          <p:spTgt spid="9"/>
                                        </p:tgtEl>
                                      </p:cBhvr>
                                    </p:animEffect>
                                  </p:childTnLst>
                                </p:cTn>
                              </p:par>
                              <p:par>
                                <p:cTn id="40" presetID="10" presetClass="entr" presetSubtype="0" fill="hold" nodeType="withEffect">
                                  <p:stCondLst>
                                    <p:cond delay="135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1000"/>
                                        <p:tgtEl>
                                          <p:spTgt spid="8"/>
                                        </p:tgtEl>
                                      </p:cBhvr>
                                    </p:animEffect>
                                  </p:childTnLst>
                                </p:cTn>
                              </p:par>
                              <p:par>
                                <p:cTn id="44" presetID="10" presetClass="entr" presetSubtype="0" fill="hold" nodeType="withEffect">
                                  <p:stCondLst>
                                    <p:cond delay="150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1000"/>
                                        <p:tgtEl>
                                          <p:spTgt spid="25"/>
                                        </p:tgtEl>
                                      </p:cBhvr>
                                    </p:animEffect>
                                  </p:childTnLst>
                                </p:cTn>
                              </p:par>
                              <p:par>
                                <p:cTn id="48" presetID="10" presetClass="entr" presetSubtype="0" fill="hold" nodeType="withEffect">
                                  <p:stCondLst>
                                    <p:cond delay="165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1000"/>
                                        <p:tgtEl>
                                          <p:spTgt spid="10"/>
                                        </p:tgtEl>
                                      </p:cBhvr>
                                    </p:animEffect>
                                  </p:childTnLst>
                                </p:cTn>
                              </p:par>
                              <p:par>
                                <p:cTn id="52" presetID="10" presetClass="entr" presetSubtype="0" fill="hold" nodeType="withEffect">
                                  <p:stCondLst>
                                    <p:cond delay="180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1000"/>
                                        <p:tgtEl>
                                          <p:spTgt spid="11"/>
                                        </p:tgtEl>
                                      </p:cBhvr>
                                    </p:animEffect>
                                  </p:childTnLst>
                                </p:cTn>
                              </p:par>
                              <p:par>
                                <p:cTn id="56" presetID="10" presetClass="entr" presetSubtype="0" fill="hold" nodeType="withEffect">
                                  <p:stCondLst>
                                    <p:cond delay="180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1000"/>
                                        <p:tgtEl>
                                          <p:spTgt spid="12"/>
                                        </p:tgtEl>
                                      </p:cBhvr>
                                    </p:animEffect>
                                  </p:childTnLst>
                                </p:cTn>
                              </p:par>
                              <p:par>
                                <p:cTn id="60" presetID="10" presetClass="entr" presetSubtype="0" fill="hold" nodeType="withEffect">
                                  <p:stCondLst>
                                    <p:cond delay="180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1000"/>
                                        <p:tgtEl>
                                          <p:spTgt spid="13"/>
                                        </p:tgtEl>
                                      </p:cBhvr>
                                    </p:animEffect>
                                  </p:childTnLst>
                                </p:cTn>
                              </p:par>
                              <p:par>
                                <p:cTn id="64" presetID="10" presetClass="entr" presetSubtype="0" fill="hold" nodeType="withEffect">
                                  <p:stCondLst>
                                    <p:cond delay="1800"/>
                                  </p:stCondLst>
                                  <p:childTnLst>
                                    <p:set>
                                      <p:cBhvr>
                                        <p:cTn id="65" dur="1" fill="hold">
                                          <p:stCondLst>
                                            <p:cond delay="0"/>
                                          </p:stCondLst>
                                        </p:cTn>
                                        <p:tgtEl>
                                          <p:spTgt spid="14"/>
                                        </p:tgtEl>
                                        <p:attrNameLst>
                                          <p:attrName>style.visibility</p:attrName>
                                        </p:attrNameLst>
                                      </p:cBhvr>
                                      <p:to>
                                        <p:strVal val="visible"/>
                                      </p:to>
                                    </p:set>
                                    <p:animEffect transition="in" filter="fade">
                                      <p:cBhvr>
                                        <p:cTn id="66" dur="1000"/>
                                        <p:tgtEl>
                                          <p:spTgt spid="14"/>
                                        </p:tgtEl>
                                      </p:cBhvr>
                                    </p:animEffect>
                                  </p:childTnLst>
                                </p:cTn>
                              </p:par>
                              <p:par>
                                <p:cTn id="68" presetID="10" presetClass="entr" presetSubtype="0" fill="hold" nodeType="withEffect">
                                  <p:stCondLst>
                                    <p:cond delay="1800"/>
                                  </p:stCondLst>
                                  <p:childTnLst>
                                    <p:set>
                                      <p:cBhvr>
                                        <p:cTn id="69" dur="1" fill="hold">
                                          <p:stCondLst>
                                            <p:cond delay="0"/>
                                          </p:stCondLst>
                                        </p:cTn>
                                        <p:tgtEl>
                                          <p:spTgt spid="15"/>
                                        </p:tgtEl>
                                        <p:attrNameLst>
                                          <p:attrName>style.visibility</p:attrName>
                                        </p:attrNameLst>
                                      </p:cBhvr>
                                      <p:to>
                                        <p:strVal val="visible"/>
                                      </p:to>
                                    </p:set>
                                    <p:animEffect transition="in" filter="fade">
                                      <p:cBhvr>
                                        <p:cTn id="70" dur="1000"/>
                                        <p:tgtEl>
                                          <p:spTgt spid="15"/>
                                        </p:tgtEl>
                                      </p:cBhvr>
                                    </p:animEffect>
                                  </p:childTnLst>
                                </p:cTn>
                              </p:par>
                              <p:par>
                                <p:cTn id="72" presetID="10" presetClass="entr" presetSubtype="0" fill="hold" nodeType="withEffect">
                                  <p:stCondLst>
                                    <p:cond delay="1800"/>
                                  </p:stCondLst>
                                  <p:childTnLst>
                                    <p:set>
                                      <p:cBhvr>
                                        <p:cTn id="73" dur="1" fill="hold">
                                          <p:stCondLst>
                                            <p:cond delay="0"/>
                                          </p:stCondLst>
                                        </p:cTn>
                                        <p:tgtEl>
                                          <p:spTgt spid="16"/>
                                        </p:tgtEl>
                                        <p:attrNameLst>
                                          <p:attrName>style.visibility</p:attrName>
                                        </p:attrNameLst>
                                      </p:cBhvr>
                                      <p:to>
                                        <p:strVal val="visible"/>
                                      </p:to>
                                    </p:set>
                                    <p:animEffect transition="in" filter="fade">
                                      <p:cBhvr>
                                        <p:cTn id="74" dur="1000"/>
                                        <p:tgtEl>
                                          <p:spTgt spid="16"/>
                                        </p:tgtEl>
                                      </p:cBhvr>
                                    </p:animEffect>
                                  </p:childTnLst>
                                </p:cTn>
                              </p:par>
                              <p:par>
                                <p:cTn id="76" presetID="10" presetClass="entr" presetSubtype="0" fill="hold" nodeType="withEffect">
                                  <p:stCondLst>
                                    <p:cond delay="180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1000"/>
                                        <p:tgtEl>
                                          <p:spTgt spid="18"/>
                                        </p:tgtEl>
                                      </p:cBhvr>
                                    </p:animEffect>
                                  </p:childTnLst>
                                </p:cTn>
                              </p:par>
                              <p:par>
                                <p:cTn id="80" presetID="10" presetClass="entr" presetSubtype="0" fill="hold" nodeType="withEffect">
                                  <p:stCondLst>
                                    <p:cond delay="180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1000"/>
                                        <p:tgtEl>
                                          <p:spTgt spid="17"/>
                                        </p:tgtEl>
                                      </p:cBhvr>
                                    </p:animEffect>
                                  </p:childTnLst>
                                </p:cTn>
                              </p:par>
                              <p:par>
                                <p:cTn id="84" presetID="10" presetClass="entr" presetSubtype="0" fill="hold" nodeType="withEffect">
                                  <p:stCondLst>
                                    <p:cond delay="1800"/>
                                  </p:stCondLst>
                                  <p:childTnLst>
                                    <p:set>
                                      <p:cBhvr>
                                        <p:cTn id="85" dur="1" fill="hold">
                                          <p:stCondLst>
                                            <p:cond delay="0"/>
                                          </p:stCondLst>
                                        </p:cTn>
                                        <p:tgtEl>
                                          <p:spTgt spid="19"/>
                                        </p:tgtEl>
                                        <p:attrNameLst>
                                          <p:attrName>style.visibility</p:attrName>
                                        </p:attrNameLst>
                                      </p:cBhvr>
                                      <p:to>
                                        <p:strVal val="visible"/>
                                      </p:to>
                                    </p:set>
                                    <p:animEffect transition="in" filter="fade">
                                      <p:cBhvr>
                                        <p:cTn id="86" dur="1000"/>
                                        <p:tgtEl>
                                          <p:spTgt spid="19"/>
                                        </p:tgtEl>
                                      </p:cBhvr>
                                    </p:animEffect>
                                  </p:childTnLst>
                                </p:cTn>
                              </p:par>
                              <p:par>
                                <p:cTn id="88" presetID="10" presetClass="entr" presetSubtype="0" fill="hold" nodeType="withEffect">
                                  <p:stCondLst>
                                    <p:cond delay="1800"/>
                                  </p:stCondLst>
                                  <p:childTnLst>
                                    <p:set>
                                      <p:cBhvr>
                                        <p:cTn id="89" dur="1" fill="hold">
                                          <p:stCondLst>
                                            <p:cond delay="0"/>
                                          </p:stCondLst>
                                        </p:cTn>
                                        <p:tgtEl>
                                          <p:spTgt spid="21"/>
                                        </p:tgtEl>
                                        <p:attrNameLst>
                                          <p:attrName>style.visibility</p:attrName>
                                        </p:attrNameLst>
                                      </p:cBhvr>
                                      <p:to>
                                        <p:strVal val="visible"/>
                                      </p:to>
                                    </p:set>
                                    <p:animEffect transition="in" filter="fade">
                                      <p:cBhvr>
                                        <p:cTn id="90" dur="1000"/>
                                        <p:tgtEl>
                                          <p:spTgt spid="21"/>
                                        </p:tgtEl>
                                      </p:cBhvr>
                                    </p:animEffect>
                                  </p:childTnLst>
                                </p:cTn>
                              </p:par>
                              <p:par>
                                <p:cTn id="92" presetID="10" presetClass="entr" presetSubtype="0" fill="hold" nodeType="withEffect">
                                  <p:stCondLst>
                                    <p:cond delay="1800"/>
                                  </p:stCondLst>
                                  <p:childTnLst>
                                    <p:set>
                                      <p:cBhvr>
                                        <p:cTn id="93" dur="1" fill="hold">
                                          <p:stCondLst>
                                            <p:cond delay="0"/>
                                          </p:stCondLst>
                                        </p:cTn>
                                        <p:tgtEl>
                                          <p:spTgt spid="20"/>
                                        </p:tgtEl>
                                        <p:attrNameLst>
                                          <p:attrName>style.visibility</p:attrName>
                                        </p:attrNameLst>
                                      </p:cBhvr>
                                      <p:to>
                                        <p:strVal val="visible"/>
                                      </p:to>
                                    </p:set>
                                    <p:animEffect transition="in" filter="fade">
                                      <p:cBhvr>
                                        <p:cTn id="94" dur="1000"/>
                                        <p:tgtEl>
                                          <p:spTgt spid="20"/>
                                        </p:tgtEl>
                                      </p:cBhvr>
                                    </p:animEffect>
                                  </p:childTnLst>
                                </p:cTn>
                              </p:par>
                              <p:par>
                                <p:cTn id="96" presetID="10" presetClass="entr" presetSubtype="0" fill="hold" nodeType="withEffect">
                                  <p:stCondLst>
                                    <p:cond delay="1800"/>
                                  </p:stCondLst>
                                  <p:childTnLst>
                                    <p:set>
                                      <p:cBhvr>
                                        <p:cTn id="97" dur="1" fill="hold">
                                          <p:stCondLst>
                                            <p:cond delay="0"/>
                                          </p:stCondLst>
                                        </p:cTn>
                                        <p:tgtEl>
                                          <p:spTgt spid="22"/>
                                        </p:tgtEl>
                                        <p:attrNameLst>
                                          <p:attrName>style.visibility</p:attrName>
                                        </p:attrNameLst>
                                      </p:cBhvr>
                                      <p:to>
                                        <p:strVal val="visible"/>
                                      </p:to>
                                    </p:set>
                                    <p:animEffect transition="in" filter="fade">
                                      <p:cBhvr>
                                        <p:cTn id="98"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45720" rIns="45720">
            <a:spAutoFit/>
          </a:bodyPr>
          <a:lstStyle/>
          <a:p>
            <a:pPr algn="l">
              <a:spcAft>
                <a:spcPts val="600"/>
              </a:spcAft>
            </a:pPr>
            <a:r>
              <a:rPr sz="3400" b="1">
                <a:solidFill>
                  <a:srgbClr val="5A3E2B"/>
                </a:solidFill>
                <a:latin typeface="Book Antiqua"/>
              </a:rPr>
              <a:t>Challenges and lessons</a:t>
            </a:r>
          </a:p>
        </p:txBody>
      </p:sp>
      <p:sp>
        <p:nvSpPr>
          <p:cNvPr id="3" name="Rectangle 2"/>
          <p:cNvSpPr/>
          <p:nvPr/>
        </p:nvSpPr>
        <p:spPr>
          <a:xfrm>
            <a:off x="594360" y="1024128"/>
            <a:ext cx="100584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43000"/>
            <a:ext cx="10972800" cy="457200"/>
          </a:xfrm>
          <a:prstGeom prst="rect">
            <a:avLst/>
          </a:prstGeom>
          <a:noFill/>
        </p:spPr>
        <p:txBody>
          <a:bodyPr wrap="square" anchor="t" lIns="45720" rIns="45720">
            <a:spAutoFit/>
          </a:bodyPr>
          <a:lstStyle/>
          <a:p>
            <a:pPr algn="l">
              <a:spcAft>
                <a:spcPts val="600"/>
              </a:spcAft>
            </a:pPr>
            <a:r>
              <a:rPr sz="1600" b="0">
                <a:solidFill>
                  <a:srgbClr val="2F302D"/>
                </a:solidFill>
                <a:latin typeface="Calibri"/>
              </a:rPr>
              <a:t>Problems we hit and what we learned</a:t>
            </a:r>
          </a:p>
        </p:txBody>
      </p:sp>
      <p:sp>
        <p:nvSpPr>
          <p:cNvPr id="5" name="Rounded Rectangle 4"/>
          <p:cNvSpPr/>
          <p:nvPr/>
        </p:nvSpPr>
        <p:spPr>
          <a:xfrm>
            <a:off x="640080" y="1783080"/>
            <a:ext cx="5394960" cy="201168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892807"/>
            <a:ext cx="5029200" cy="457200"/>
          </a:xfrm>
          <a:prstGeom prst="rect">
            <a:avLst/>
          </a:prstGeom>
          <a:noFill/>
        </p:spPr>
        <p:txBody>
          <a:bodyPr wrap="square" anchor="t" lIns="45720" rIns="45720">
            <a:spAutoFit/>
          </a:bodyPr>
          <a:lstStyle/>
          <a:p>
            <a:pPr algn="l">
              <a:spcAft>
                <a:spcPts val="600"/>
              </a:spcAft>
            </a:pPr>
            <a:r>
              <a:rPr sz="2000" b="1">
                <a:solidFill>
                  <a:srgbClr val="5A3E2B"/>
                </a:solidFill>
                <a:latin typeface="Book Antiqua"/>
              </a:rPr>
              <a:t>Merge conflicts</a:t>
            </a:r>
          </a:p>
        </p:txBody>
      </p:sp>
      <p:sp>
        <p:nvSpPr>
          <p:cNvPr id="7" name="TextBox 6"/>
          <p:cNvSpPr txBox="1"/>
          <p:nvPr/>
        </p:nvSpPr>
        <p:spPr>
          <a:xfrm>
            <a:off x="822959" y="2423160"/>
            <a:ext cx="5029200" cy="1280160"/>
          </a:xfrm>
          <a:prstGeom prst="rect">
            <a:avLst/>
          </a:prstGeom>
          <a:noFill/>
        </p:spPr>
        <p:txBody>
          <a:bodyPr wrap="square" anchor="t" lIns="45720" rIns="45720">
            <a:spAutoFit/>
          </a:bodyPr>
          <a:lstStyle/>
          <a:p>
            <a:pPr algn="l">
              <a:spcAft>
                <a:spcPts val="600"/>
              </a:spcAft>
            </a:pPr>
            <a:r>
              <a:rPr sz="1500" b="0">
                <a:solidFill>
                  <a:srgbClr val="2F302D"/>
                </a:solidFill>
                <a:latin typeface="Calibri"/>
              </a:rPr>
              <a:t>Several branches changed the same files. We learned to pull first and to review before merging.</a:t>
            </a:r>
          </a:p>
        </p:txBody>
      </p:sp>
      <p:sp>
        <p:nvSpPr>
          <p:cNvPr id="8" name="Rounded Rectangle 7"/>
          <p:cNvSpPr/>
          <p:nvPr/>
        </p:nvSpPr>
        <p:spPr>
          <a:xfrm>
            <a:off x="6217920" y="1783080"/>
            <a:ext cx="5394960" cy="2011680"/>
          </a:xfrm>
          <a:prstGeom prst="roundRect">
            <a:avLst>
              <a:gd name="adj" fmla="val 6000"/>
            </a:avLst>
          </a:prstGeom>
          <a:solidFill>
            <a:srgbClr val="B0E0E6"/>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92807"/>
            <a:ext cx="5029200" cy="457200"/>
          </a:xfrm>
          <a:prstGeom prst="rect">
            <a:avLst/>
          </a:prstGeom>
          <a:noFill/>
        </p:spPr>
        <p:txBody>
          <a:bodyPr wrap="square" anchor="t" lIns="45720" rIns="45720">
            <a:spAutoFit/>
          </a:bodyPr>
          <a:lstStyle/>
          <a:p>
            <a:pPr algn="l">
              <a:spcAft>
                <a:spcPts val="600"/>
              </a:spcAft>
            </a:pPr>
            <a:r>
              <a:rPr sz="2000" b="1">
                <a:solidFill>
                  <a:srgbClr val="5A3E2B"/>
                </a:solidFill>
                <a:latin typeface="Book Antiqua"/>
              </a:rPr>
              <a:t>Missing courses</a:t>
            </a:r>
          </a:p>
        </p:txBody>
      </p:sp>
      <p:sp>
        <p:nvSpPr>
          <p:cNvPr id="10" name="TextBox 9"/>
          <p:cNvSpPr txBox="1"/>
          <p:nvPr/>
        </p:nvSpPr>
        <p:spPr>
          <a:xfrm>
            <a:off x="6400800" y="2423160"/>
            <a:ext cx="5029200" cy="1280160"/>
          </a:xfrm>
          <a:prstGeom prst="rect">
            <a:avLst/>
          </a:prstGeom>
          <a:noFill/>
        </p:spPr>
        <p:txBody>
          <a:bodyPr wrap="square" anchor="t" lIns="45720" rIns="45720">
            <a:spAutoFit/>
          </a:bodyPr>
          <a:lstStyle/>
          <a:p>
            <a:pPr algn="l">
              <a:spcAft>
                <a:spcPts val="600"/>
              </a:spcAft>
            </a:pPr>
            <a:r>
              <a:rPr sz="1500" b="0">
                <a:solidFill>
                  <a:srgbClr val="2F302D"/>
                </a:solidFill>
                <a:latin typeface="Calibri"/>
              </a:rPr>
              <a:t>The first build had only 3 of 7 courses, so the 15% tier could not trigger. We added all seven.</a:t>
            </a:r>
          </a:p>
        </p:txBody>
      </p:sp>
      <p:sp>
        <p:nvSpPr>
          <p:cNvPr id="11" name="Rounded Rectangle 10"/>
          <p:cNvSpPr/>
          <p:nvPr/>
        </p:nvSpPr>
        <p:spPr>
          <a:xfrm>
            <a:off x="640080" y="3977639"/>
            <a:ext cx="5394960" cy="2011680"/>
          </a:xfrm>
          <a:prstGeom prst="roundRect">
            <a:avLst>
              <a:gd name="adj" fmla="val 6000"/>
            </a:avLst>
          </a:prstGeom>
          <a:solidFill>
            <a:srgbClr val="B0E0E6"/>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4087368"/>
            <a:ext cx="5029200" cy="457200"/>
          </a:xfrm>
          <a:prstGeom prst="rect">
            <a:avLst/>
          </a:prstGeom>
          <a:noFill/>
        </p:spPr>
        <p:txBody>
          <a:bodyPr wrap="square" anchor="t" lIns="45720" rIns="45720">
            <a:spAutoFit/>
          </a:bodyPr>
          <a:lstStyle/>
          <a:p>
            <a:pPr algn="l">
              <a:spcAft>
                <a:spcPts val="600"/>
              </a:spcAft>
            </a:pPr>
            <a:r>
              <a:rPr sz="2000" b="1">
                <a:solidFill>
                  <a:srgbClr val="5A3E2B"/>
                </a:solidFill>
                <a:latin typeface="Book Antiqua"/>
              </a:rPr>
              <a:t>Build errors</a:t>
            </a:r>
          </a:p>
        </p:txBody>
      </p:sp>
      <p:sp>
        <p:nvSpPr>
          <p:cNvPr id="13" name="TextBox 12"/>
          <p:cNvSpPr txBox="1"/>
          <p:nvPr/>
        </p:nvSpPr>
        <p:spPr>
          <a:xfrm>
            <a:off x="822959" y="4617720"/>
            <a:ext cx="5029200" cy="1280160"/>
          </a:xfrm>
          <a:prstGeom prst="rect">
            <a:avLst/>
          </a:prstGeom>
          <a:noFill/>
        </p:spPr>
        <p:txBody>
          <a:bodyPr wrap="square" anchor="t" lIns="45720" rIns="45720">
            <a:spAutoFit/>
          </a:bodyPr>
          <a:lstStyle/>
          <a:p>
            <a:pPr algn="l">
              <a:spcAft>
                <a:spcPts val="600"/>
              </a:spcAft>
            </a:pPr>
            <a:r>
              <a:rPr sz="1500" b="0">
                <a:solidFill>
                  <a:srgbClr val="2F302D"/>
                </a:solidFill>
                <a:latin typeface="Calibri"/>
              </a:rPr>
              <a:t>A manifest merger error in Android Studio, fixed while splitting the code into separate pages.</a:t>
            </a:r>
          </a:p>
        </p:txBody>
      </p:sp>
      <p:sp>
        <p:nvSpPr>
          <p:cNvPr id="14" name="Rounded Rectangle 13"/>
          <p:cNvSpPr/>
          <p:nvPr/>
        </p:nvSpPr>
        <p:spPr>
          <a:xfrm>
            <a:off x="6217920" y="3977639"/>
            <a:ext cx="5394960" cy="2011680"/>
          </a:xfrm>
          <a:prstGeom prst="roundRect">
            <a:avLst>
              <a:gd name="adj" fmla="val 6000"/>
            </a:avLst>
          </a:prstGeom>
          <a:solidFill>
            <a:srgbClr val="FFFFFF"/>
          </a:solidFill>
          <a:ln w="19050">
            <a:solidFill>
              <a:srgbClr val="B0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087368"/>
            <a:ext cx="5029200" cy="457200"/>
          </a:xfrm>
          <a:prstGeom prst="rect">
            <a:avLst/>
          </a:prstGeom>
          <a:noFill/>
        </p:spPr>
        <p:txBody>
          <a:bodyPr wrap="square" anchor="t" lIns="45720" rIns="45720">
            <a:spAutoFit/>
          </a:bodyPr>
          <a:lstStyle/>
          <a:p>
            <a:pPr algn="l">
              <a:spcAft>
                <a:spcPts val="600"/>
              </a:spcAft>
            </a:pPr>
            <a:r>
              <a:rPr sz="2000" b="1">
                <a:solidFill>
                  <a:srgbClr val="5A3E2B"/>
                </a:solidFill>
                <a:latin typeface="Book Antiqua"/>
              </a:rPr>
              <a:t>Images</a:t>
            </a:r>
          </a:p>
        </p:txBody>
      </p:sp>
      <p:sp>
        <p:nvSpPr>
          <p:cNvPr id="16" name="TextBox 15"/>
          <p:cNvSpPr txBox="1"/>
          <p:nvPr/>
        </p:nvSpPr>
        <p:spPr>
          <a:xfrm>
            <a:off x="6400800" y="4617720"/>
            <a:ext cx="5029200" cy="1280160"/>
          </a:xfrm>
          <a:prstGeom prst="rect">
            <a:avLst/>
          </a:prstGeom>
          <a:noFill/>
        </p:spPr>
        <p:txBody>
          <a:bodyPr wrap="square" anchor="t" lIns="45720" rIns="45720">
            <a:spAutoFit/>
          </a:bodyPr>
          <a:lstStyle/>
          <a:p>
            <a:pPr algn="l">
              <a:spcAft>
                <a:spcPts val="600"/>
              </a:spcAft>
            </a:pPr>
            <a:r>
              <a:rPr sz="1500" b="0">
                <a:solidFill>
                  <a:srgbClr val="2F302D"/>
                </a:solidFill>
                <a:latin typeface="Calibri"/>
              </a:rPr>
              <a:t>Paid stock images had to be replaced with royalty-free icons.</a:t>
            </a:r>
          </a:p>
        </p:txBody>
      </p:sp>
      <p:sp>
        <p:nvSpPr>
          <p:cNvPr id="17" name="TextBox 16"/>
          <p:cNvSpPr txBox="1"/>
          <p:nvPr/>
        </p:nvSpPr>
        <p:spPr>
          <a:xfrm>
            <a:off x="9418320" y="109728"/>
            <a:ext cx="2560320" cy="320040"/>
          </a:xfrm>
          <a:prstGeom prst="rect">
            <a:avLst/>
          </a:prstGeom>
          <a:noFill/>
        </p:spPr>
        <p:txBody>
          <a:bodyPr wrap="square" anchor="t" lIns="45720" rIns="45720">
            <a:spAutoFit/>
          </a:bodyPr>
          <a:lstStyle/>
          <a:p>
            <a:pPr algn="r">
              <a:spcAft>
                <a:spcPts val="600"/>
              </a:spcAft>
            </a:pPr>
            <a:r>
              <a:rPr sz="1100" b="0">
                <a:solidFill>
                  <a:srgbClr val="5A3E2B"/>
                </a:solidFill>
                <a:latin typeface="Calibri"/>
              </a:rPr>
              <a:t>Presenter: Theolin (suggested)</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4"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2" presetID="10" presetClass="entr" presetSubtype="0" fill="hold" nodeType="withEffect">
                                  <p:stCondLst>
                                    <p:cond delay="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par>
                                <p:cTn id="16" presetID="10" presetClass="entr" presetSubtype="0" fill="hold" nodeType="withEffect">
                                  <p:stCondLst>
                                    <p:cond delay="45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par>
                                <p:cTn id="20" presetID="10" presetClass="entr" presetSubtype="0" fill="hold" nodeType="withEffect">
                                  <p:stCondLst>
                                    <p:cond delay="60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childTnLst>
                                </p:cTn>
                              </p:par>
                              <p:par>
                                <p:cTn id="24" presetID="10" presetClass="entr" presetSubtype="0" fill="hold" nodeType="withEffect">
                                  <p:stCondLst>
                                    <p:cond delay="75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childTnLst>
                                </p:cTn>
                              </p:par>
                              <p:par>
                                <p:cTn id="28" presetID="10" presetClass="entr" presetSubtype="0" fill="hold" nodeType="withEffect">
                                  <p:stCondLst>
                                    <p:cond delay="90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1000"/>
                                        <p:tgtEl>
                                          <p:spTgt spid="9"/>
                                        </p:tgtEl>
                                      </p:cBhvr>
                                    </p:animEffect>
                                  </p:childTnLst>
                                </p:cTn>
                              </p:par>
                              <p:par>
                                <p:cTn id="32" presetID="10" presetClass="entr" presetSubtype="0" fill="hold" nodeType="withEffect">
                                  <p:stCondLst>
                                    <p:cond delay="105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1000"/>
                                        <p:tgtEl>
                                          <p:spTgt spid="7"/>
                                        </p:tgtEl>
                                      </p:cBhvr>
                                    </p:animEffect>
                                  </p:childTnLst>
                                </p:cTn>
                              </p:par>
                              <p:par>
                                <p:cTn id="36" presetID="10" presetClass="entr" presetSubtype="0" fill="hold" nodeType="withEffect">
                                  <p:stCondLst>
                                    <p:cond delay="120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1000"/>
                                        <p:tgtEl>
                                          <p:spTgt spid="10"/>
                                        </p:tgtEl>
                                      </p:cBhvr>
                                    </p:animEffect>
                                  </p:childTnLst>
                                </p:cTn>
                              </p:par>
                              <p:par>
                                <p:cTn id="40" presetID="10" presetClass="entr" presetSubtype="0" fill="hold" nodeType="withEffect">
                                  <p:stCondLst>
                                    <p:cond delay="135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childTnLst>
                                </p:cTn>
                              </p:par>
                              <p:par>
                                <p:cTn id="44" presetID="10" presetClass="entr" presetSubtype="0" fill="hold" nodeType="withEffect">
                                  <p:stCondLst>
                                    <p:cond delay="150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1000"/>
                                        <p:tgtEl>
                                          <p:spTgt spid="14"/>
                                        </p:tgtEl>
                                      </p:cBhvr>
                                    </p:animEffect>
                                  </p:childTnLst>
                                </p:cTn>
                              </p:par>
                              <p:par>
                                <p:cTn id="48" presetID="10" presetClass="entr" presetSubtype="0" fill="hold" nodeType="withEffect">
                                  <p:stCondLst>
                                    <p:cond delay="165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1000"/>
                                        <p:tgtEl>
                                          <p:spTgt spid="12"/>
                                        </p:tgtEl>
                                      </p:cBhvr>
                                    </p:animEffect>
                                  </p:childTnLst>
                                </p:cTn>
                              </p:par>
                              <p:par>
                                <p:cTn id="52" presetID="10" presetClass="entr" presetSubtype="0" fill="hold" nodeType="withEffect">
                                  <p:stCondLst>
                                    <p:cond delay="180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1000"/>
                                        <p:tgtEl>
                                          <p:spTgt spid="15"/>
                                        </p:tgtEl>
                                      </p:cBhvr>
                                    </p:animEffect>
                                  </p:childTnLst>
                                </p:cTn>
                              </p:par>
                              <p:par>
                                <p:cTn id="56" presetID="10" presetClass="entr" presetSubtype="0" fill="hold" nodeType="withEffect">
                                  <p:stCondLst>
                                    <p:cond delay="18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1000"/>
                                        <p:tgtEl>
                                          <p:spTgt spid="13"/>
                                        </p:tgtEl>
                                      </p:cBhvr>
                                    </p:animEffect>
                                  </p:childTnLst>
                                </p:cTn>
                              </p:par>
                              <p:par>
                                <p:cTn id="60" presetID="10" presetClass="entr" presetSubtype="0" fill="hold" nodeType="withEffect">
                                  <p:stCondLst>
                                    <p:cond delay="180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DD0"/>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5A3E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inal_site.jpg"/>
          <p:cNvPicPr>
            <a:picLocks noChangeAspect="1"/>
          </p:cNvPicPr>
          <p:nvPr/>
        </p:nvPicPr>
        <p:blipFill>
          <a:blip r:embed="rId2"/>
          <a:stretch>
            <a:fillRect/>
          </a:stretch>
        </p:blipFill>
        <p:spPr>
          <a:xfrm>
            <a:off x="3813048" y="548640"/>
            <a:ext cx="4572000" cy="2421731"/>
          </a:xfrm>
          <a:prstGeom prst="rect">
            <a:avLst/>
          </a:prstGeom>
        </p:spPr>
      </p:pic>
      <p:sp>
        <p:nvSpPr>
          <p:cNvPr id="4" name="TextBox 3"/>
          <p:cNvSpPr txBox="1"/>
          <p:nvPr/>
        </p:nvSpPr>
        <p:spPr>
          <a:xfrm>
            <a:off x="0" y="3840480"/>
            <a:ext cx="12191695" cy="914400"/>
          </a:xfrm>
          <a:prstGeom prst="rect">
            <a:avLst/>
          </a:prstGeom>
          <a:noFill/>
        </p:spPr>
        <p:txBody>
          <a:bodyPr wrap="square" anchor="t" lIns="45720" rIns="45720">
            <a:spAutoFit/>
          </a:bodyPr>
          <a:lstStyle/>
          <a:p>
            <a:pPr algn="ctr">
              <a:spcAft>
                <a:spcPts val="600"/>
              </a:spcAft>
            </a:pPr>
            <a:r>
              <a:rPr sz="4400" b="1">
                <a:solidFill>
                  <a:srgbClr val="FFFDD0"/>
                </a:solidFill>
                <a:latin typeface="Book Antiqua"/>
              </a:rPr>
              <a:t>Thank you</a:t>
            </a:r>
          </a:p>
        </p:txBody>
      </p:sp>
      <p:sp>
        <p:nvSpPr>
          <p:cNvPr id="5" name="TextBox 4"/>
          <p:cNvSpPr txBox="1"/>
          <p:nvPr/>
        </p:nvSpPr>
        <p:spPr>
          <a:xfrm>
            <a:off x="0" y="4846320"/>
            <a:ext cx="12191695" cy="731520"/>
          </a:xfrm>
          <a:prstGeom prst="rect">
            <a:avLst/>
          </a:prstGeom>
          <a:noFill/>
        </p:spPr>
        <p:txBody>
          <a:bodyPr wrap="square" anchor="t" lIns="45720" rIns="45720">
            <a:spAutoFit/>
          </a:bodyPr>
          <a:lstStyle/>
          <a:p>
            <a:pPr algn="ctr">
              <a:spcAft>
                <a:spcPts val="600"/>
              </a:spcAft>
            </a:pPr>
            <a:r>
              <a:rPr sz="2400" b="0">
                <a:solidFill>
                  <a:srgbClr val="B0E0E6"/>
                </a:solidFill>
                <a:latin typeface="Calibri"/>
              </a:rPr>
              <a:t>Questions?</a:t>
            </a:r>
          </a:p>
        </p:txBody>
      </p:sp>
      <p:sp>
        <p:nvSpPr>
          <p:cNvPr id="6" name="TextBox 5"/>
          <p:cNvSpPr txBox="1"/>
          <p:nvPr/>
        </p:nvSpPr>
        <p:spPr>
          <a:xfrm>
            <a:off x="0" y="5852160"/>
            <a:ext cx="12191695" cy="548640"/>
          </a:xfrm>
          <a:prstGeom prst="rect">
            <a:avLst/>
          </a:prstGeom>
          <a:noFill/>
        </p:spPr>
        <p:txBody>
          <a:bodyPr wrap="square" anchor="t" lIns="45720" rIns="45720">
            <a:spAutoFit/>
          </a:bodyPr>
          <a:lstStyle/>
          <a:p>
            <a:pPr algn="ctr">
              <a:spcAft>
                <a:spcPts val="600"/>
              </a:spcAft>
            </a:pPr>
            <a:r>
              <a:rPr sz="1500" b="0">
                <a:solidFill>
                  <a:srgbClr val="FFFDD0"/>
                </a:solidFill>
                <a:latin typeface="Calibri"/>
              </a:rPr>
              <a:t>Meridian Tech Group  |  Pawsitive Pet Academy</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20"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1000"/>
                                        <p:tgtEl>
                                          <p:spTgt spid="3"/>
                                        </p:tgtEl>
                                      </p:cBhvr>
                                    </p:animEffect>
                                  </p:childTnLst>
                                </p:cTn>
                              </p:par>
                              <p:par>
                                <p:cTn id="8" presetID="10" presetClass="entr" presetSubtype="0" fill="hold" nodeType="withEffect">
                                  <p:stCondLst>
                                    <p:cond delay="1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par>
                                <p:cTn id="12" presetID="10" presetClass="entr" presetSubtype="0" fill="hold" nodeType="withEffect">
                                  <p:stCondLst>
                                    <p:cond delay="30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childTnLst>
                                </p:cTn>
                              </p:par>
                              <p:par>
                                <p:cTn id="16" presetID="10" presetClass="entr" presetSubtype="0" fill="hold" nodeType="withEffect">
                                  <p:stCondLst>
                                    <p:cond delay="45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589520" y="822960"/>
            <a:ext cx="4389120" cy="2926080"/>
          </a:xfrm>
          <a:prstGeom prst="rect">
            <a:avLst/>
          </a:prstGeom>
          <a:noFill/>
        </p:spPr>
        <p:txBody>
          <a:bodyPr wrap="square" anchor="t" lIns="45720" rIns="45720">
            <a:spAutoFit/>
          </a:bodyPr>
          <a:lstStyle/>
          <a:p>
            <a:pPr algn="r">
              <a:spcAft>
                <a:spcPts val="600"/>
              </a:spcAft>
            </a:pPr>
            <a:r>
              <a:rPr sz="19000" b="1">
                <a:solidFill>
                  <a:srgbClr val="1E1E1E"/>
                </a:solidFill>
                <a:latin typeface="Book Antiqua"/>
              </a:rPr>
              <a:t>01</a:t>
            </a:r>
          </a:p>
        </p:txBody>
      </p:sp>
      <p:sp>
        <p:nvSpPr>
          <p:cNvPr id="3" name="TextBox 2"/>
          <p:cNvSpPr txBox="1"/>
          <p:nvPr/>
        </p:nvSpPr>
        <p:spPr>
          <a:xfrm>
            <a:off x="822960" y="1234440"/>
            <a:ext cx="7315200" cy="457200"/>
          </a:xfrm>
          <a:prstGeom prst="rect">
            <a:avLst/>
          </a:prstGeom>
          <a:noFill/>
        </p:spPr>
        <p:txBody>
          <a:bodyPr wrap="square" anchor="t" lIns="45720" rIns="45720">
            <a:spAutoFit/>
          </a:bodyPr>
          <a:lstStyle/>
          <a:p>
            <a:pPr algn="l">
              <a:spcAft>
                <a:spcPts val="600"/>
              </a:spcAft>
            </a:pPr>
            <a:r>
              <a:rPr sz="1400" b="1">
                <a:solidFill>
                  <a:srgbClr val="C68B59"/>
                </a:solidFill>
                <a:latin typeface="Calibri"/>
              </a:rPr>
              <a:t>PART 01 OF 03</a:t>
            </a:r>
          </a:p>
        </p:txBody>
      </p:sp>
      <p:sp>
        <p:nvSpPr>
          <p:cNvPr id="4" name="TextBox 3"/>
          <p:cNvSpPr txBox="1"/>
          <p:nvPr/>
        </p:nvSpPr>
        <p:spPr>
          <a:xfrm>
            <a:off x="822960" y="1920240"/>
            <a:ext cx="8686800" cy="1463040"/>
          </a:xfrm>
          <a:prstGeom prst="rect">
            <a:avLst/>
          </a:prstGeom>
          <a:noFill/>
        </p:spPr>
        <p:txBody>
          <a:bodyPr wrap="square" anchor="t" lIns="45720" rIns="45720">
            <a:spAutoFit/>
          </a:bodyPr>
          <a:lstStyle/>
          <a:p>
            <a:pPr algn="l">
              <a:spcAft>
                <a:spcPts val="600"/>
              </a:spcAft>
            </a:pPr>
            <a:r>
              <a:rPr sz="8800" b="1">
                <a:solidFill>
                  <a:srgbClr val="FFFFFF"/>
                </a:solidFill>
                <a:latin typeface="Book Antiqua"/>
              </a:rPr>
              <a:t>Kele</a:t>
            </a:r>
          </a:p>
        </p:txBody>
      </p:sp>
      <p:sp>
        <p:nvSpPr>
          <p:cNvPr id="5" name="Rectangle 4"/>
          <p:cNvSpPr/>
          <p:nvPr/>
        </p:nvSpPr>
        <p:spPr>
          <a:xfrm>
            <a:off x="896112" y="3520440"/>
            <a:ext cx="292608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749039"/>
            <a:ext cx="9144000" cy="640080"/>
          </a:xfrm>
          <a:prstGeom prst="rect">
            <a:avLst/>
          </a:prstGeom>
          <a:noFill/>
        </p:spPr>
        <p:txBody>
          <a:bodyPr wrap="square" anchor="t" lIns="45720" rIns="45720">
            <a:spAutoFit/>
          </a:bodyPr>
          <a:lstStyle/>
          <a:p>
            <a:pPr algn="l">
              <a:spcAft>
                <a:spcPts val="600"/>
              </a:spcAft>
            </a:pPr>
            <a:r>
              <a:rPr sz="2600" b="0">
                <a:solidFill>
                  <a:srgbClr val="FFFDD0"/>
                </a:solidFill>
                <a:latin typeface="Calibri"/>
              </a:rPr>
              <a:t>Website</a:t>
            </a:r>
          </a:p>
        </p:txBody>
      </p:sp>
      <p:sp>
        <p:nvSpPr>
          <p:cNvPr id="7" name="Rounded Rectangle 6"/>
          <p:cNvSpPr/>
          <p:nvPr/>
        </p:nvSpPr>
        <p:spPr>
          <a:xfrm>
            <a:off x="868680" y="4754880"/>
            <a:ext cx="2359152" cy="457200"/>
          </a:xfrm>
          <a:prstGeom prst="roundRect">
            <a:avLst>
              <a:gd name="adj" fmla="val 50000"/>
            </a:avLst>
          </a:prstGeom>
          <a:solidFill>
            <a:srgbClr val="000000"/>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a:solidFill>
                  <a:srgbClr val="FFFDD0"/>
                </a:solidFill>
                <a:latin typeface="Calibri"/>
              </a:rPr>
              <a:t>Sitemap and journeys</a:t>
            </a:r>
          </a:p>
        </p:txBody>
      </p:sp>
      <p:sp>
        <p:nvSpPr>
          <p:cNvPr id="8" name="Rounded Rectangle 7"/>
          <p:cNvSpPr/>
          <p:nvPr/>
        </p:nvSpPr>
        <p:spPr>
          <a:xfrm>
            <a:off x="3410712" y="4754880"/>
            <a:ext cx="781812" cy="457200"/>
          </a:xfrm>
          <a:prstGeom prst="roundRect">
            <a:avLst>
              <a:gd name="adj" fmla="val 50000"/>
            </a:avLst>
          </a:prstGeom>
          <a:solidFill>
            <a:srgbClr val="000000"/>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a:solidFill>
                  <a:srgbClr val="FFFDD0"/>
                </a:solidFill>
                <a:latin typeface="Calibri"/>
              </a:rPr>
              <a:t>Tools</a:t>
            </a:r>
          </a:p>
        </p:txBody>
      </p:sp>
      <p:sp>
        <p:nvSpPr>
          <p:cNvPr id="9" name="Rounded Rectangle 8"/>
          <p:cNvSpPr/>
          <p:nvPr/>
        </p:nvSpPr>
        <p:spPr>
          <a:xfrm>
            <a:off x="4375404" y="4754880"/>
            <a:ext cx="1517904" cy="457200"/>
          </a:xfrm>
          <a:prstGeom prst="roundRect">
            <a:avLst>
              <a:gd name="adj" fmla="val 50000"/>
            </a:avLst>
          </a:prstGeom>
          <a:solidFill>
            <a:srgbClr val="000000"/>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a:solidFill>
                  <a:srgbClr val="FFFDD0"/>
                </a:solidFill>
                <a:latin typeface="Calibri"/>
              </a:rPr>
              <a:t>Website tour</a:t>
            </a:r>
          </a:p>
        </p:txBody>
      </p:sp>
      <p:sp>
        <p:nvSpPr>
          <p:cNvPr id="10" name="Rounded Rectangle 9"/>
          <p:cNvSpPr/>
          <p:nvPr/>
        </p:nvSpPr>
        <p:spPr>
          <a:xfrm>
            <a:off x="6076188" y="4754880"/>
            <a:ext cx="2779776" cy="457200"/>
          </a:xfrm>
          <a:prstGeom prst="roundRect">
            <a:avLst>
              <a:gd name="adj" fmla="val 50000"/>
            </a:avLst>
          </a:prstGeom>
          <a:solidFill>
            <a:srgbClr val="000000"/>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a:solidFill>
                  <a:srgbClr val="FFFDD0"/>
                </a:solidFill>
                <a:latin typeface="Calibri"/>
              </a:rPr>
              <a:t>Course pages and contact</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0"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2000"/>
                                        <p:tgtEl>
                                          <p:spTgt spid="2"/>
                                        </p:tgtEl>
                                      </p:cBhvr>
                                    </p:animEffect>
                                  </p:childTnLst>
                                </p:cTn>
                              </p:par>
                              <p:par>
                                <p:cTn id="8" presetID="10" presetClass="entr" presetSubtype="0" fill="hold" nodeType="withEffect">
                                  <p:stCondLst>
                                    <p:cond delay="4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200"/>
                                        <p:tgtEl>
                                          <p:spTgt spid="3"/>
                                        </p:tgtEl>
                                      </p:cBhvr>
                                    </p:animEffect>
                                  </p:childTnLst>
                                </p:cTn>
                              </p:par>
                              <p:par>
                                <p:cTn id="12" presetID="10" presetClass="entr" presetSubtype="0" fill="hold" nodeType="withEffect">
                                  <p:stCondLst>
                                    <p:cond delay="7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800"/>
                                        <p:tgtEl>
                                          <p:spTgt spid="4"/>
                                        </p:tgtEl>
                                      </p:cBhvr>
                                    </p:animEffect>
                                  </p:childTnLst>
                                </p:cTn>
                              </p:par>
                              <p:par>
                                <p:cTn id="16" presetID="22" presetClass="entr" presetSubtype="8" fill="hold" nodeType="withEffect">
                                  <p:stCondLst>
                                    <p:cond delay="180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1000"/>
                                        <p:tgtEl>
                                          <p:spTgt spid="5"/>
                                        </p:tgtEl>
                                      </p:cBhvr>
                                    </p:animEffect>
                                  </p:childTnLst>
                                </p:cTn>
                              </p:par>
                              <p:par>
                                <p:cTn id="20" presetID="10" presetClass="entr" presetSubtype="0" fill="hold" nodeType="withEffect">
                                  <p:stCondLst>
                                    <p:cond delay="23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200"/>
                                        <p:tgtEl>
                                          <p:spTgt spid="6"/>
                                        </p:tgtEl>
                                      </p:cBhvr>
                                    </p:animEffect>
                                  </p:childTnLst>
                                </p:cTn>
                              </p:par>
                              <p:par>
                                <p:cTn id="24" presetID="10" presetClass="entr" presetSubtype="0" fill="hold" nodeType="withEffect">
                                  <p:stCondLst>
                                    <p:cond delay="300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900"/>
                                        <p:tgtEl>
                                          <p:spTgt spid="7"/>
                                        </p:tgtEl>
                                      </p:cBhvr>
                                    </p:animEffect>
                                  </p:childTnLst>
                                </p:cTn>
                              </p:par>
                              <p:par>
                                <p:cTn id="28" presetID="10" presetClass="entr" presetSubtype="0" fill="hold" nodeType="withEffect">
                                  <p:stCondLst>
                                    <p:cond delay="320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900"/>
                                        <p:tgtEl>
                                          <p:spTgt spid="8"/>
                                        </p:tgtEl>
                                      </p:cBhvr>
                                    </p:animEffect>
                                  </p:childTnLst>
                                </p:cTn>
                              </p:par>
                              <p:par>
                                <p:cTn id="32" presetID="10" presetClass="entr" presetSubtype="0" fill="hold" nodeType="withEffect">
                                  <p:stCondLst>
                                    <p:cond delay="340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900"/>
                                        <p:tgtEl>
                                          <p:spTgt spid="9"/>
                                        </p:tgtEl>
                                      </p:cBhvr>
                                    </p:animEffect>
                                  </p:childTnLst>
                                </p:cTn>
                              </p:par>
                              <p:par>
                                <p:cTn id="36" presetID="10" presetClass="entr" presetSubtype="0" fill="hold" nodeType="withEffect">
                                  <p:stCondLst>
                                    <p:cond delay="360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9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589520" y="822960"/>
            <a:ext cx="4389120" cy="2926080"/>
          </a:xfrm>
          <a:prstGeom prst="rect">
            <a:avLst/>
          </a:prstGeom>
          <a:noFill/>
        </p:spPr>
        <p:txBody>
          <a:bodyPr wrap="square" anchor="t" lIns="45720" rIns="45720">
            <a:spAutoFit/>
          </a:bodyPr>
          <a:lstStyle/>
          <a:p>
            <a:pPr algn="r">
              <a:spcAft>
                <a:spcPts val="600"/>
              </a:spcAft>
            </a:pPr>
            <a:r>
              <a:rPr sz="19000" b="1">
                <a:solidFill>
                  <a:srgbClr val="1E1E1E"/>
                </a:solidFill>
                <a:latin typeface="Book Antiqua"/>
              </a:rPr>
              <a:t>03</a:t>
            </a:r>
          </a:p>
        </p:txBody>
      </p:sp>
      <p:sp>
        <p:nvSpPr>
          <p:cNvPr id="3" name="TextBox 2"/>
          <p:cNvSpPr txBox="1"/>
          <p:nvPr/>
        </p:nvSpPr>
        <p:spPr>
          <a:xfrm>
            <a:off x="822960" y="1234440"/>
            <a:ext cx="7315200" cy="457200"/>
          </a:xfrm>
          <a:prstGeom prst="rect">
            <a:avLst/>
          </a:prstGeom>
          <a:noFill/>
        </p:spPr>
        <p:txBody>
          <a:bodyPr wrap="square" anchor="t" lIns="45720" rIns="45720">
            <a:spAutoFit/>
          </a:bodyPr>
          <a:lstStyle/>
          <a:p>
            <a:pPr algn="l">
              <a:spcAft>
                <a:spcPts val="600"/>
              </a:spcAft>
            </a:pPr>
            <a:r>
              <a:rPr sz="1400" b="1">
                <a:solidFill>
                  <a:srgbClr val="C68B59"/>
                </a:solidFill>
                <a:latin typeface="Calibri"/>
              </a:rPr>
              <a:t>PART 03 OF 03</a:t>
            </a:r>
          </a:p>
        </p:txBody>
      </p:sp>
      <p:sp>
        <p:nvSpPr>
          <p:cNvPr id="4" name="TextBox 3"/>
          <p:cNvSpPr txBox="1"/>
          <p:nvPr/>
        </p:nvSpPr>
        <p:spPr>
          <a:xfrm>
            <a:off x="822960" y="1920240"/>
            <a:ext cx="8686800" cy="1463040"/>
          </a:xfrm>
          <a:prstGeom prst="rect">
            <a:avLst/>
          </a:prstGeom>
          <a:noFill/>
        </p:spPr>
        <p:txBody>
          <a:bodyPr wrap="square" anchor="t" lIns="45720" rIns="45720">
            <a:spAutoFit/>
          </a:bodyPr>
          <a:lstStyle/>
          <a:p>
            <a:pPr algn="l">
              <a:spcAft>
                <a:spcPts val="600"/>
              </a:spcAft>
            </a:pPr>
            <a:r>
              <a:rPr sz="8800" b="1">
                <a:solidFill>
                  <a:srgbClr val="FFFFFF"/>
                </a:solidFill>
                <a:latin typeface="Book Antiqua"/>
              </a:rPr>
              <a:t>Mohamed</a:t>
            </a:r>
          </a:p>
        </p:txBody>
      </p:sp>
      <p:sp>
        <p:nvSpPr>
          <p:cNvPr id="5" name="Rectangle 4"/>
          <p:cNvSpPr/>
          <p:nvPr/>
        </p:nvSpPr>
        <p:spPr>
          <a:xfrm>
            <a:off x="896112" y="3520440"/>
            <a:ext cx="292608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749039"/>
            <a:ext cx="9144000" cy="640080"/>
          </a:xfrm>
          <a:prstGeom prst="rect">
            <a:avLst/>
          </a:prstGeom>
          <a:noFill/>
        </p:spPr>
        <p:txBody>
          <a:bodyPr wrap="square" anchor="t" lIns="45720" rIns="45720">
            <a:spAutoFit/>
          </a:bodyPr>
          <a:lstStyle/>
          <a:p>
            <a:pPr algn="l">
              <a:spcAft>
                <a:spcPts val="600"/>
              </a:spcAft>
            </a:pPr>
            <a:r>
              <a:rPr sz="2600" b="0">
                <a:solidFill>
                  <a:srgbClr val="FFFDD0"/>
                </a:solidFill>
                <a:latin typeface="Calibri"/>
              </a:rPr>
              <a:t>Design, my pages and Git</a:t>
            </a:r>
          </a:p>
        </p:txBody>
      </p:sp>
      <p:sp>
        <p:nvSpPr>
          <p:cNvPr id="7" name="Rounded Rectangle 6"/>
          <p:cNvSpPr/>
          <p:nvPr/>
        </p:nvSpPr>
        <p:spPr>
          <a:xfrm>
            <a:off x="868680" y="4754880"/>
            <a:ext cx="676656" cy="457200"/>
          </a:xfrm>
          <a:prstGeom prst="roundRect">
            <a:avLst>
              <a:gd name="adj" fmla="val 50000"/>
            </a:avLst>
          </a:prstGeom>
          <a:solidFill>
            <a:srgbClr val="000000"/>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a:solidFill>
                  <a:srgbClr val="FFFDD0"/>
                </a:solidFill>
                <a:latin typeface="Calibri"/>
              </a:rPr>
              <a:t>Logo</a:t>
            </a:r>
          </a:p>
        </p:txBody>
      </p:sp>
      <p:sp>
        <p:nvSpPr>
          <p:cNvPr id="8" name="Rounded Rectangle 7"/>
          <p:cNvSpPr/>
          <p:nvPr/>
        </p:nvSpPr>
        <p:spPr>
          <a:xfrm>
            <a:off x="1728216" y="4754880"/>
            <a:ext cx="1307592" cy="457200"/>
          </a:xfrm>
          <a:prstGeom prst="roundRect">
            <a:avLst>
              <a:gd name="adj" fmla="val 50000"/>
            </a:avLst>
          </a:prstGeom>
          <a:solidFill>
            <a:srgbClr val="000000"/>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a:solidFill>
                  <a:srgbClr val="FFFDD0"/>
                </a:solidFill>
                <a:latin typeface="Calibri"/>
              </a:rPr>
              <a:t>Wireframes</a:t>
            </a:r>
          </a:p>
        </p:txBody>
      </p:sp>
      <p:sp>
        <p:nvSpPr>
          <p:cNvPr id="9" name="Rounded Rectangle 8"/>
          <p:cNvSpPr/>
          <p:nvPr/>
        </p:nvSpPr>
        <p:spPr>
          <a:xfrm>
            <a:off x="3218688" y="4754880"/>
            <a:ext cx="1728216" cy="457200"/>
          </a:xfrm>
          <a:prstGeom prst="roundRect">
            <a:avLst>
              <a:gd name="adj" fmla="val 50000"/>
            </a:avLst>
          </a:prstGeom>
          <a:solidFill>
            <a:srgbClr val="000000"/>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a:solidFill>
                  <a:srgbClr val="FFFDD0"/>
                </a:solidFill>
                <a:latin typeface="Calibri"/>
              </a:rPr>
              <a:t>Design choices</a:t>
            </a:r>
          </a:p>
        </p:txBody>
      </p:sp>
      <p:sp>
        <p:nvSpPr>
          <p:cNvPr id="10" name="Rounded Rectangle 9"/>
          <p:cNvSpPr/>
          <p:nvPr/>
        </p:nvSpPr>
        <p:spPr>
          <a:xfrm>
            <a:off x="5129784" y="4754880"/>
            <a:ext cx="1833372" cy="457200"/>
          </a:xfrm>
          <a:prstGeom prst="roundRect">
            <a:avLst>
              <a:gd name="adj" fmla="val 50000"/>
            </a:avLst>
          </a:prstGeom>
          <a:solidFill>
            <a:srgbClr val="000000"/>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a:solidFill>
                  <a:srgbClr val="FFFDD0"/>
                </a:solidFill>
                <a:latin typeface="Calibri"/>
              </a:rPr>
              <a:t>Fees Calculator</a:t>
            </a:r>
          </a:p>
        </p:txBody>
      </p:sp>
      <p:sp>
        <p:nvSpPr>
          <p:cNvPr id="11" name="Rounded Rectangle 10"/>
          <p:cNvSpPr/>
          <p:nvPr/>
        </p:nvSpPr>
        <p:spPr>
          <a:xfrm>
            <a:off x="7146036" y="4754880"/>
            <a:ext cx="1307592" cy="457200"/>
          </a:xfrm>
          <a:prstGeom prst="roundRect">
            <a:avLst>
              <a:gd name="adj" fmla="val 50000"/>
            </a:avLst>
          </a:prstGeom>
          <a:solidFill>
            <a:srgbClr val="000000"/>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a:solidFill>
                  <a:srgbClr val="FFFDD0"/>
                </a:solidFill>
                <a:latin typeface="Calibri"/>
              </a:rPr>
              <a:t>Contact Us</a:t>
            </a:r>
          </a:p>
        </p:txBody>
      </p:sp>
      <p:sp>
        <p:nvSpPr>
          <p:cNvPr id="12" name="Rounded Rectangle 11"/>
          <p:cNvSpPr/>
          <p:nvPr/>
        </p:nvSpPr>
        <p:spPr>
          <a:xfrm>
            <a:off x="8636508" y="4754880"/>
            <a:ext cx="571500" cy="457200"/>
          </a:xfrm>
          <a:prstGeom prst="roundRect">
            <a:avLst>
              <a:gd name="adj" fmla="val 50000"/>
            </a:avLst>
          </a:prstGeom>
          <a:solidFill>
            <a:srgbClr val="000000"/>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a:solidFill>
                  <a:srgbClr val="FFFDD0"/>
                </a:solidFill>
                <a:latin typeface="Calibri"/>
              </a:rPr>
              <a:t>Git</a:t>
            </a:r>
          </a:p>
        </p:txBody>
      </p:sp>
      <p:sp>
        <p:nvSpPr>
          <p:cNvPr id="13" name="Rounded Rectangle 12"/>
          <p:cNvSpPr/>
          <p:nvPr/>
        </p:nvSpPr>
        <p:spPr>
          <a:xfrm>
            <a:off x="9390888" y="4754880"/>
            <a:ext cx="1202436" cy="457200"/>
          </a:xfrm>
          <a:prstGeom prst="roundRect">
            <a:avLst>
              <a:gd name="adj" fmla="val 50000"/>
            </a:avLst>
          </a:prstGeom>
          <a:solidFill>
            <a:srgbClr val="000000"/>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a:solidFill>
                  <a:srgbClr val="FFFDD0"/>
                </a:solidFill>
                <a:latin typeface="Calibri"/>
              </a:rPr>
              <a:t>Live demo</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52"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2000"/>
                                        <p:tgtEl>
                                          <p:spTgt spid="2"/>
                                        </p:tgtEl>
                                      </p:cBhvr>
                                    </p:animEffect>
                                  </p:childTnLst>
                                </p:cTn>
                              </p:par>
                              <p:par>
                                <p:cTn id="8" presetID="10" presetClass="entr" presetSubtype="0" fill="hold" nodeType="withEffect">
                                  <p:stCondLst>
                                    <p:cond delay="4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200"/>
                                        <p:tgtEl>
                                          <p:spTgt spid="3"/>
                                        </p:tgtEl>
                                      </p:cBhvr>
                                    </p:animEffect>
                                  </p:childTnLst>
                                </p:cTn>
                              </p:par>
                              <p:par>
                                <p:cTn id="12" presetID="10" presetClass="entr" presetSubtype="0" fill="hold" nodeType="withEffect">
                                  <p:stCondLst>
                                    <p:cond delay="7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800"/>
                                        <p:tgtEl>
                                          <p:spTgt spid="4"/>
                                        </p:tgtEl>
                                      </p:cBhvr>
                                    </p:animEffect>
                                  </p:childTnLst>
                                </p:cTn>
                              </p:par>
                              <p:par>
                                <p:cTn id="16" presetID="22" presetClass="entr" presetSubtype="8" fill="hold" nodeType="withEffect">
                                  <p:stCondLst>
                                    <p:cond delay="180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1000"/>
                                        <p:tgtEl>
                                          <p:spTgt spid="5"/>
                                        </p:tgtEl>
                                      </p:cBhvr>
                                    </p:animEffect>
                                  </p:childTnLst>
                                </p:cTn>
                              </p:par>
                              <p:par>
                                <p:cTn id="20" presetID="10" presetClass="entr" presetSubtype="0" fill="hold" nodeType="withEffect">
                                  <p:stCondLst>
                                    <p:cond delay="23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200"/>
                                        <p:tgtEl>
                                          <p:spTgt spid="6"/>
                                        </p:tgtEl>
                                      </p:cBhvr>
                                    </p:animEffect>
                                  </p:childTnLst>
                                </p:cTn>
                              </p:par>
                              <p:par>
                                <p:cTn id="24" presetID="10" presetClass="entr" presetSubtype="0" fill="hold" nodeType="withEffect">
                                  <p:stCondLst>
                                    <p:cond delay="300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900"/>
                                        <p:tgtEl>
                                          <p:spTgt spid="7"/>
                                        </p:tgtEl>
                                      </p:cBhvr>
                                    </p:animEffect>
                                  </p:childTnLst>
                                </p:cTn>
                              </p:par>
                              <p:par>
                                <p:cTn id="28" presetID="10" presetClass="entr" presetSubtype="0" fill="hold" nodeType="withEffect">
                                  <p:stCondLst>
                                    <p:cond delay="320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900"/>
                                        <p:tgtEl>
                                          <p:spTgt spid="8"/>
                                        </p:tgtEl>
                                      </p:cBhvr>
                                    </p:animEffect>
                                  </p:childTnLst>
                                </p:cTn>
                              </p:par>
                              <p:par>
                                <p:cTn id="32" presetID="10" presetClass="entr" presetSubtype="0" fill="hold" nodeType="withEffect">
                                  <p:stCondLst>
                                    <p:cond delay="340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900"/>
                                        <p:tgtEl>
                                          <p:spTgt spid="9"/>
                                        </p:tgtEl>
                                      </p:cBhvr>
                                    </p:animEffect>
                                  </p:childTnLst>
                                </p:cTn>
                              </p:par>
                              <p:par>
                                <p:cTn id="36" presetID="10" presetClass="entr" presetSubtype="0" fill="hold" nodeType="withEffect">
                                  <p:stCondLst>
                                    <p:cond delay="360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900"/>
                                        <p:tgtEl>
                                          <p:spTgt spid="10"/>
                                        </p:tgtEl>
                                      </p:cBhvr>
                                    </p:animEffect>
                                  </p:childTnLst>
                                </p:cTn>
                              </p:par>
                              <p:par>
                                <p:cTn id="40" presetID="10" presetClass="entr" presetSubtype="0" fill="hold" nodeType="withEffect">
                                  <p:stCondLst>
                                    <p:cond delay="380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900"/>
                                        <p:tgtEl>
                                          <p:spTgt spid="11"/>
                                        </p:tgtEl>
                                      </p:cBhvr>
                                    </p:animEffect>
                                  </p:childTnLst>
                                </p:cTn>
                              </p:par>
                              <p:par>
                                <p:cTn id="44" presetID="10" presetClass="entr" presetSubtype="0" fill="hold" nodeType="withEffect">
                                  <p:stCondLst>
                                    <p:cond delay="400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900"/>
                                        <p:tgtEl>
                                          <p:spTgt spid="12"/>
                                        </p:tgtEl>
                                      </p:cBhvr>
                                    </p:animEffect>
                                  </p:childTnLst>
                                </p:cTn>
                              </p:par>
                              <p:par>
                                <p:cTn id="48" presetID="10" presetClass="entr" presetSubtype="0" fill="hold" nodeType="withEffect">
                                  <p:stCondLst>
                                    <p:cond delay="420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9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7589520" y="822960"/>
            <a:ext cx="4389120" cy="2926080"/>
          </a:xfrm>
          <a:prstGeom prst="rect">
            <a:avLst/>
          </a:prstGeom>
          <a:noFill/>
        </p:spPr>
        <p:txBody>
          <a:bodyPr wrap="square" anchor="t" lIns="45720" rIns="45720">
            <a:spAutoFit/>
          </a:bodyPr>
          <a:lstStyle/>
          <a:p>
            <a:pPr algn="r">
              <a:spcAft>
                <a:spcPts val="600"/>
              </a:spcAft>
            </a:pPr>
            <a:r>
              <a:rPr sz="19000" b="1">
                <a:solidFill>
                  <a:srgbClr val="1E1E1E"/>
                </a:solidFill>
                <a:latin typeface="Book Antiqua"/>
              </a:rPr>
              <a:t>02</a:t>
            </a:r>
          </a:p>
        </p:txBody>
      </p:sp>
      <p:sp>
        <p:nvSpPr>
          <p:cNvPr id="3" name="TextBox 2"/>
          <p:cNvSpPr txBox="1"/>
          <p:nvPr/>
        </p:nvSpPr>
        <p:spPr>
          <a:xfrm>
            <a:off x="822960" y="1234440"/>
            <a:ext cx="7315200" cy="457200"/>
          </a:xfrm>
          <a:prstGeom prst="rect">
            <a:avLst/>
          </a:prstGeom>
          <a:noFill/>
        </p:spPr>
        <p:txBody>
          <a:bodyPr wrap="square" anchor="t" lIns="45720" rIns="45720">
            <a:spAutoFit/>
          </a:bodyPr>
          <a:lstStyle/>
          <a:p>
            <a:pPr algn="l">
              <a:spcAft>
                <a:spcPts val="600"/>
              </a:spcAft>
            </a:pPr>
            <a:r>
              <a:rPr sz="1400" b="1">
                <a:solidFill>
                  <a:srgbClr val="C68B59"/>
                </a:solidFill>
                <a:latin typeface="Calibri"/>
              </a:rPr>
              <a:t>PART 02 OF 03</a:t>
            </a:r>
          </a:p>
        </p:txBody>
      </p:sp>
      <p:sp>
        <p:nvSpPr>
          <p:cNvPr id="4" name="TextBox 3"/>
          <p:cNvSpPr txBox="1"/>
          <p:nvPr/>
        </p:nvSpPr>
        <p:spPr>
          <a:xfrm>
            <a:off x="822960" y="1920240"/>
            <a:ext cx="8686800" cy="1463040"/>
          </a:xfrm>
          <a:prstGeom prst="rect">
            <a:avLst/>
          </a:prstGeom>
          <a:noFill/>
        </p:spPr>
        <p:txBody>
          <a:bodyPr wrap="square" anchor="t" lIns="45720" rIns="45720">
            <a:spAutoFit/>
          </a:bodyPr>
          <a:lstStyle/>
          <a:p>
            <a:pPr algn="l">
              <a:spcAft>
                <a:spcPts val="600"/>
              </a:spcAft>
            </a:pPr>
            <a:r>
              <a:rPr sz="8800" b="1">
                <a:solidFill>
                  <a:srgbClr val="FFFFFF"/>
                </a:solidFill>
                <a:latin typeface="Book Antiqua"/>
              </a:rPr>
              <a:t>Theolin</a:t>
            </a:r>
          </a:p>
        </p:txBody>
      </p:sp>
      <p:sp>
        <p:nvSpPr>
          <p:cNvPr id="5" name="Rectangle 4"/>
          <p:cNvSpPr/>
          <p:nvPr/>
        </p:nvSpPr>
        <p:spPr>
          <a:xfrm>
            <a:off x="896112" y="3520440"/>
            <a:ext cx="292608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749039"/>
            <a:ext cx="9144000" cy="640080"/>
          </a:xfrm>
          <a:prstGeom prst="rect">
            <a:avLst/>
          </a:prstGeom>
          <a:noFill/>
        </p:spPr>
        <p:txBody>
          <a:bodyPr wrap="square" anchor="t" lIns="45720" rIns="45720">
            <a:spAutoFit/>
          </a:bodyPr>
          <a:lstStyle/>
          <a:p>
            <a:pPr algn="l">
              <a:spcAft>
                <a:spcPts val="600"/>
              </a:spcAft>
            </a:pPr>
            <a:r>
              <a:rPr sz="2600" b="0">
                <a:solidFill>
                  <a:srgbClr val="FFFDD0"/>
                </a:solidFill>
                <a:latin typeface="Calibri"/>
              </a:rPr>
              <a:t>The mobile app</a:t>
            </a:r>
          </a:p>
        </p:txBody>
      </p:sp>
      <p:sp>
        <p:nvSpPr>
          <p:cNvPr id="7" name="Rounded Rectangle 6"/>
          <p:cNvSpPr/>
          <p:nvPr/>
        </p:nvSpPr>
        <p:spPr>
          <a:xfrm>
            <a:off x="868680" y="4754880"/>
            <a:ext cx="1412748" cy="457200"/>
          </a:xfrm>
          <a:prstGeom prst="roundRect">
            <a:avLst>
              <a:gd name="adj" fmla="val 50000"/>
            </a:avLst>
          </a:prstGeom>
          <a:solidFill>
            <a:srgbClr val="000000"/>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a:solidFill>
                  <a:srgbClr val="FFFDD0"/>
                </a:solidFill>
                <a:latin typeface="Calibri"/>
              </a:rPr>
              <a:t>Android app</a:t>
            </a:r>
          </a:p>
        </p:txBody>
      </p:sp>
      <p:sp>
        <p:nvSpPr>
          <p:cNvPr id="8" name="Rounded Rectangle 7"/>
          <p:cNvSpPr/>
          <p:nvPr/>
        </p:nvSpPr>
        <p:spPr>
          <a:xfrm>
            <a:off x="2464308" y="4754880"/>
            <a:ext cx="2569464" cy="457200"/>
          </a:xfrm>
          <a:prstGeom prst="roundRect">
            <a:avLst>
              <a:gd name="adj" fmla="val 50000"/>
            </a:avLst>
          </a:prstGeom>
          <a:solidFill>
            <a:srgbClr val="000000"/>
          </a:solidFill>
          <a:ln w="19050">
            <a:solidFill>
              <a:srgbClr val="C68B59"/>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a:solidFill>
                  <a:srgbClr val="FFFDD0"/>
                </a:solidFill>
                <a:latin typeface="Calibri"/>
              </a:rPr>
              <a:t>Challenges and lessons</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2" fill="hold">
                            <p:stCondLst>
                              <p:cond delay="0"/>
                            </p:stCondLst>
                            <p:childTnLst>
                              <p:par>
                                <p:cTn id="4" presetID="10" presetClass="entr" presetSubtype="0" fill="hold" nodeType="with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2000"/>
                                        <p:tgtEl>
                                          <p:spTgt spid="2"/>
                                        </p:tgtEl>
                                      </p:cBhvr>
                                    </p:animEffect>
                                  </p:childTnLst>
                                </p:cTn>
                              </p:par>
                              <p:par>
                                <p:cTn id="8" presetID="10" presetClass="entr" presetSubtype="0" fill="hold" nodeType="withEffect">
                                  <p:stCondLst>
                                    <p:cond delay="4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200"/>
                                        <p:tgtEl>
                                          <p:spTgt spid="3"/>
                                        </p:tgtEl>
                                      </p:cBhvr>
                                    </p:animEffect>
                                  </p:childTnLst>
                                </p:cTn>
                              </p:par>
                              <p:par>
                                <p:cTn id="12" presetID="10" presetClass="entr" presetSubtype="0" fill="hold" nodeType="withEffect">
                                  <p:stCondLst>
                                    <p:cond delay="7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800"/>
                                        <p:tgtEl>
                                          <p:spTgt spid="4"/>
                                        </p:tgtEl>
                                      </p:cBhvr>
                                    </p:animEffect>
                                  </p:childTnLst>
                                </p:cTn>
                              </p:par>
                              <p:par>
                                <p:cTn id="16" presetID="22" presetClass="entr" presetSubtype="8" fill="hold" nodeType="withEffect">
                                  <p:stCondLst>
                                    <p:cond delay="180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1000"/>
                                        <p:tgtEl>
                                          <p:spTgt spid="5"/>
                                        </p:tgtEl>
                                      </p:cBhvr>
                                    </p:animEffect>
                                  </p:childTnLst>
                                </p:cTn>
                              </p:par>
                              <p:par>
                                <p:cTn id="20" presetID="10" presetClass="entr" presetSubtype="0" fill="hold" nodeType="withEffect">
                                  <p:stCondLst>
                                    <p:cond delay="23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200"/>
                                        <p:tgtEl>
                                          <p:spTgt spid="6"/>
                                        </p:tgtEl>
                                      </p:cBhvr>
                                    </p:animEffect>
                                  </p:childTnLst>
                                </p:cTn>
                              </p:par>
                              <p:par>
                                <p:cTn id="24" presetID="10" presetClass="entr" presetSubtype="0" fill="hold" nodeType="withEffect">
                                  <p:stCondLst>
                                    <p:cond delay="300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900"/>
                                        <p:tgtEl>
                                          <p:spTgt spid="7"/>
                                        </p:tgtEl>
                                      </p:cBhvr>
                                    </p:animEffect>
                                  </p:childTnLst>
                                </p:cTn>
                              </p:par>
                              <p:par>
                                <p:cTn id="28" presetID="10" presetClass="entr" presetSubtype="0" fill="hold" nodeType="withEffect">
                                  <p:stCondLst>
                                    <p:cond delay="320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9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822960" y="914400"/>
            <a:ext cx="5669280" cy="457200"/>
          </a:xfrm>
          <a:prstGeom prst="rect">
            <a:avLst/>
          </a:prstGeom>
          <a:noFill/>
        </p:spPr>
        <p:txBody>
          <a:bodyPr wrap="square" anchor="t" lIns="45720" rIns="45720">
            <a:spAutoFit/>
          </a:bodyPr>
          <a:lstStyle/>
          <a:p>
            <a:pPr algn="l">
              <a:spcAft>
                <a:spcPts val="600"/>
              </a:spcAft>
            </a:pPr>
            <a:r>
              <a:rPr sz="1400" b="1">
                <a:solidFill>
                  <a:srgbClr val="C68B59"/>
                </a:solidFill>
                <a:latin typeface="Calibri"/>
              </a:rPr>
              <a:t>WATCH THE FULL DEMO</a:t>
            </a:r>
          </a:p>
        </p:txBody>
      </p:sp>
      <p:sp>
        <p:nvSpPr>
          <p:cNvPr id="3" name="TextBox 2"/>
          <p:cNvSpPr txBox="1"/>
          <p:nvPr/>
        </p:nvSpPr>
        <p:spPr>
          <a:xfrm>
            <a:off x="822960" y="1463040"/>
            <a:ext cx="5852160" cy="2194560"/>
          </a:xfrm>
          <a:prstGeom prst="rect">
            <a:avLst/>
          </a:prstGeom>
          <a:noFill/>
        </p:spPr>
        <p:txBody>
          <a:bodyPr wrap="square" anchor="t" lIns="45720" rIns="45720">
            <a:spAutoFit/>
          </a:bodyPr>
          <a:lstStyle/>
          <a:p>
            <a:pPr algn="l">
              <a:spcAft>
                <a:spcPts val="600"/>
              </a:spcAft>
            </a:pPr>
            <a:r>
              <a:rPr sz="4800" b="1">
                <a:solidFill>
                  <a:srgbClr val="FFFFFF"/>
                </a:solidFill>
                <a:latin typeface="Book Antiqua"/>
              </a:rPr>
              <a:t>Scan to watch our video</a:t>
            </a:r>
          </a:p>
        </p:txBody>
      </p:sp>
      <p:sp>
        <p:nvSpPr>
          <p:cNvPr id="4" name="Rectangle 3"/>
          <p:cNvSpPr/>
          <p:nvPr/>
        </p:nvSpPr>
        <p:spPr>
          <a:xfrm>
            <a:off x="896112" y="3703320"/>
            <a:ext cx="2743200" cy="64008"/>
          </a:xfrm>
          <a:prstGeom prst="rect">
            <a:avLst/>
          </a:prstGeom>
          <a:solidFill>
            <a:srgbClr val="C68B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977639"/>
            <a:ext cx="5669280" cy="1097280"/>
          </a:xfrm>
          <a:prstGeom prst="rect">
            <a:avLst/>
          </a:prstGeom>
          <a:noFill/>
        </p:spPr>
        <p:txBody>
          <a:bodyPr wrap="square" anchor="t" lIns="45720" rIns="45720">
            <a:spAutoFit/>
          </a:bodyPr>
          <a:lstStyle/>
          <a:p>
            <a:pPr algn="l">
              <a:spcAft>
                <a:spcPts val="600"/>
              </a:spcAft>
            </a:pPr>
            <a:r>
              <a:rPr sz="1800" b="0">
                <a:solidFill>
                  <a:srgbClr val="FFFDD0"/>
                </a:solidFill>
                <a:latin typeface="Calibri"/>
              </a:rPr>
              <a:t>XHAW5112 Phase 2 | Group 4</a:t>
            </a:r>
          </a:p>
          <a:p>
            <a:pPr algn="l">
              <a:spcAft>
                <a:spcPts val="600"/>
              </a:spcAft>
            </a:pPr>
            <a:r>
              <a:rPr sz="1800" b="0">
                <a:solidFill>
                  <a:srgbClr val="FFFDD0"/>
                </a:solidFill>
                <a:latin typeface="Calibri"/>
              </a:rPr>
              <a:t>Pawsitive Pet Academy Website &amp; App Demo</a:t>
            </a:r>
          </a:p>
        </p:txBody>
      </p:sp>
      <p:sp>
        <p:nvSpPr>
          <p:cNvPr id="6" name="TextBox 5"/>
          <p:cNvSpPr txBox="1"/>
          <p:nvPr/>
        </p:nvSpPr>
        <p:spPr>
          <a:xfrm>
            <a:off x="822960" y="5212080"/>
            <a:ext cx="5669280" cy="457200"/>
          </a:xfrm>
          <a:prstGeom prst="rect">
            <a:avLst/>
          </a:prstGeom>
          <a:noFill/>
        </p:spPr>
        <p:txBody>
          <a:bodyPr wrap="square" anchor="t" lIns="45720" rIns="45720">
            <a:spAutoFit/>
          </a:bodyPr>
          <a:lstStyle/>
          <a:p>
            <a:pPr algn="l">
              <a:spcAft>
                <a:spcPts val="600"/>
              </a:spcAft>
            </a:pPr>
            <a:r>
              <a:rPr sz="2000" b="1">
                <a:solidFill>
                  <a:srgbClr val="B0E0E6"/>
                </a:solidFill>
                <a:latin typeface="Calibri"/>
              </a:rPr>
              <a:t>youtu.be/iXkaTIPUEzo</a:t>
            </a:r>
          </a:p>
        </p:txBody>
      </p:sp>
      <p:sp>
        <p:nvSpPr>
          <p:cNvPr id="7" name="Rounded Rectangle 6"/>
          <p:cNvSpPr/>
          <p:nvPr/>
        </p:nvSpPr>
        <p:spPr>
          <a:xfrm>
            <a:off x="7315200" y="1097280"/>
            <a:ext cx="4206240" cy="44805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qr_demo.png"/>
          <p:cNvPicPr>
            <a:picLocks noChangeAspect="1"/>
          </p:cNvPicPr>
          <p:nvPr/>
        </p:nvPicPr>
        <p:blipFill>
          <a:blip r:embed="rId2"/>
          <a:stretch>
            <a:fillRect/>
          </a:stretch>
        </p:blipFill>
        <p:spPr>
          <a:xfrm>
            <a:off x="7589520" y="1371600"/>
            <a:ext cx="3657600" cy="3657600"/>
          </a:xfrm>
          <a:prstGeom prst="rect">
            <a:avLst/>
          </a:prstGeom>
        </p:spPr>
      </p:pic>
      <p:sp>
        <p:nvSpPr>
          <p:cNvPr id="9" name="TextBox 8"/>
          <p:cNvSpPr txBox="1"/>
          <p:nvPr/>
        </p:nvSpPr>
        <p:spPr>
          <a:xfrm>
            <a:off x="7315200" y="5074920"/>
            <a:ext cx="4206240" cy="457200"/>
          </a:xfrm>
          <a:prstGeom prst="rect">
            <a:avLst/>
          </a:prstGeom>
          <a:noFill/>
        </p:spPr>
        <p:txBody>
          <a:bodyPr wrap="square" anchor="t" lIns="45720" rIns="45720">
            <a:spAutoFit/>
          </a:bodyPr>
          <a:lstStyle/>
          <a:p>
            <a:pPr algn="ctr">
              <a:spcAft>
                <a:spcPts val="600"/>
              </a:spcAft>
            </a:pPr>
            <a:r>
              <a:rPr sz="1400" b="0">
                <a:solidFill>
                  <a:srgbClr val="5A3E2B"/>
                </a:solidFill>
                <a:latin typeface="Calibri"/>
              </a:rPr>
              <a:t>Point your phone camera here</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2" fill="hold">
                            <p:stCondLst>
                              <p:cond delay="0"/>
                            </p:stCondLst>
                            <p:childTnLst>
                              <p:par>
                                <p:cTn id="4" presetID="10" presetClass="entr" presetSubtype="0" fill="hold" nodeType="withEffect">
                                  <p:stCondLst>
                                    <p:cond delay="30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1000"/>
                                        <p:tgtEl>
                                          <p:spTgt spid="2"/>
                                        </p:tgtEl>
                                      </p:cBhvr>
                                    </p:animEffect>
                                  </p:childTnLst>
                                </p:cTn>
                              </p:par>
                              <p:par>
                                <p:cTn id="8" presetID="10" presetClass="entr" presetSubtype="0" fill="hold" nodeType="withEffect">
                                  <p:stCondLst>
                                    <p:cond delay="7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500"/>
                                        <p:tgtEl>
                                          <p:spTgt spid="3"/>
                                        </p:tgtEl>
                                      </p:cBhvr>
                                    </p:animEffect>
                                  </p:childTnLst>
                                </p:cTn>
                              </p:par>
                              <p:par>
                                <p:cTn id="12" presetID="22" presetClass="entr" presetSubtype="8" fill="hold" nodeType="withEffect">
                                  <p:stCondLst>
                                    <p:cond delay="1600"/>
                                  </p:stCondLst>
                                  <p:childTnLst>
                                    <p:set>
                                      <p:cBhvr>
                                        <p:cTn id="13" dur="1" fill="hold">
                                          <p:stCondLst>
                                            <p:cond delay="0"/>
                                          </p:stCondLst>
                                        </p:cTn>
                                        <p:tgtEl>
                                          <p:spTgt spid="4"/>
                                        </p:tgtEl>
                                        <p:attrNameLst>
                                          <p:attrName>style.visibility</p:attrName>
                                        </p:attrNameLst>
                                      </p:cBhvr>
                                      <p:to>
                                        <p:strVal val="visible"/>
                                      </p:to>
                                    </p:set>
                                    <p:animEffect transition="in" filter="wipe(left)">
                                      <p:cBhvr>
                                        <p:cTn id="14" dur="900"/>
                                        <p:tgtEl>
                                          <p:spTgt spid="4"/>
                                        </p:tgtEl>
                                      </p:cBhvr>
                                    </p:animEffect>
                                  </p:childTnLst>
                                </p:cTn>
                              </p:par>
                              <p:par>
                                <p:cTn id="16" presetID="10" presetClass="entr" presetSubtype="0" fill="hold" nodeType="withEffect">
                                  <p:stCondLst>
                                    <p:cond delay="20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200"/>
                                        <p:tgtEl>
                                          <p:spTgt spid="5"/>
                                        </p:tgtEl>
                                      </p:cBhvr>
                                    </p:animEffect>
                                  </p:childTnLst>
                                </p:cTn>
                              </p:par>
                              <p:par>
                                <p:cTn id="20" presetID="10" presetClass="entr" presetSubtype="0" fill="hold" nodeType="withEffect">
                                  <p:stCondLst>
                                    <p:cond delay="25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200"/>
                                        <p:tgtEl>
                                          <p:spTgt spid="6"/>
                                        </p:tgtEl>
                                      </p:cBhvr>
                                    </p:animEffect>
                                  </p:childTnLst>
                                </p:cTn>
                              </p:par>
                              <p:par>
                                <p:cTn id="24" presetID="10" presetClass="entr" presetSubtype="0" fill="hold" nodeType="withEffect">
                                  <p:stCondLst>
                                    <p:cond delay="120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500"/>
                                        <p:tgtEl>
                                          <p:spTgt spid="7"/>
                                        </p:tgtEl>
                                      </p:cBhvr>
                                    </p:animEffect>
                                  </p:childTnLst>
                                </p:cTn>
                              </p:par>
                              <p:par>
                                <p:cTn id="28" presetID="10" presetClass="entr" presetSubtype="0" fill="hold" nodeType="withEffect">
                                  <p:stCondLst>
                                    <p:cond delay="150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1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