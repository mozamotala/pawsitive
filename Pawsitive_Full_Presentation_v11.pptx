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83" r:id="rId35"/>
    <p:sldId id="259" r:id="rId11"/>
    <p:sldId id="260" r:id="rId12"/>
    <p:sldId id="262" r:id="rId14"/>
    <p:sldId id="271" r:id="rId23"/>
    <p:sldId id="266" r:id="rId18"/>
    <p:sldId id="267" r:id="rId19"/>
    <p:sldId id="268" r:id="rId20"/>
    <p:sldId id="269" r:id="rId21"/>
    <p:sldId id="285" r:id="rId37"/>
    <p:sldId id="270" r:id="rId22"/>
    <p:sldId id="263" r:id="rId15"/>
    <p:sldId id="264" r:id="rId16"/>
    <p:sldId id="265" r:id="rId17"/>
    <p:sldId id="272" r:id="rId24"/>
    <p:sldId id="281" r:id="rId33"/>
    <p:sldId id="284" r:id="rId36"/>
    <p:sldId id="261" r:id="rId13"/>
    <p:sldId id="273" r:id="rId25"/>
    <p:sldId id="274" r:id="rId26"/>
    <p:sldId id="275" r:id="rId27"/>
    <p:sldId id="278" r:id="rId30"/>
    <p:sldId id="280" r:id="rId32"/>
    <p:sldId id="282" r:id="rId34"/>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21.xml"/><Relationship Id="rId14" Type="http://schemas.openxmlformats.org/officeDocument/2006/relationships/slide" Target="slides/slide6.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3.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30"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19.xml"/><Relationship Id="rId34" Type="http://schemas.openxmlformats.org/officeDocument/2006/relationships/slide" Target="slides/slide27.xml"/><Relationship Id="rId35" Type="http://schemas.openxmlformats.org/officeDocument/2006/relationships/slide" Target="slides/slide7.xml"/><Relationship Id="rId36" Type="http://schemas.openxmlformats.org/officeDocument/2006/relationships/slide" Target="slides/slide20.xml"/><Relationship Id="rId37" Type="http://schemas.openxmlformats.org/officeDocument/2006/relationships/slide" Target="slides/slide12.xml"/><Relationship Id="rId38"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We are Meridian Tech Group. We built a website and a native Android app for Pawsitive Pet Academy. Today we explain why we chose this design, how it looks, how it works, and then we show it running.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us had a lead role, but we all worked across the project. Kelebogile leads the website, Mohamed leads UI/UX design, Theolin leads the mobile app.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client is Sarah Smith, who runs Pawsitive Pet Academy in Durban. She offers seven courses. Her goals: let people browse, get a quote, and be rewarded with a discount for taking more than one course.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scored the three proposals. The Pawsitive Pet Academy proposal scored 27, ahead of 24 and 20. It also had the most detail, so it was easier to turn into a real website and app. That is the motivation for our design selection.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Logo: Mohamed's dog logo scored 27 against 21. Palette: Kelebogile's cream, powder blue and tan was chosen because it felt softer and more welcoming. The final design combines both.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is my original Phase 1 logo: sage green background and charcoal outline with a brown dog. Right is the final logo. The dog, the layout, the heart and the vines are all kept. Only the colours changed, to cream, powder blue and tan, so the logo matches the website and the app. When we voted between a full redesign and a simple recolour it was a 50-50 tie, so we spun a wheel and it landed on recolour. Everyone was happy with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symbol in one sentence. Dog: most courses are about dogs, and the smile makes the brand friendly. Heart: care for animals. Vines: nature, growth and wellbeing. Then say why we recoloured: it kept a design that already worked and made it match the palette.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Low-fi was built in Figma in August: 6 web and 6 mobile screens, boxes and layout only, to agree on structure before colour. High-fi came in September: 6 desktop and 7 mobile screens (the mobile set adds the splash screen) with the real palette, fonts, photos and copy. Next slides show two before-and-after examples.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grey placeholder boxes, just a rates table, the discount structure and a summary line. After: the same structure with the real palette, a powder blue summary box for the total, and tan for the action. The structure survived because it worked.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Low-fi was a cart and a grey summary. High-fi added colour and a clean summary card. The Figma screens were a guide, not an exact copy: the finished Android app lists all seven courses, adds 15% VAT after the discount and uses a bottom navigation bar.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planned the structure before designing. Home, About Us, a summary of courses, a detail page per course, the Fees Calculator and Contact Us. The two journeys we designed for are browsing courses and getting a quote.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Website: HTML, CSS and JavaScript. App: native Android in Kotlin with XML layouts. We started the app in React Native but moved to Kotlin. For teamwork: Figma, GitHub, Teams, WhatsApp and shared drives.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screenshots of the finished website. Home gives a quick welcome, key facts and a clear way to view courses or work out fees. Courses lists all seven courses with price and length. About Us introduces Sarah and the team.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 seven courses has a detail page with description and fee. Contact Us shows phone, email, address, office hours and a map, plus a message form.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is a native Android app. It follows the same structure and brand as the website. The bottom bar gives one-tap access to Home, Courses, Fees and Contact. The screens here are the Figma designs the app was built from; the finished app lists all seven courses and adds VAT to the fees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Palette: cream for backgrounds, powder blue for grouping information, tan only for actions. That keeps the site and the app consistent and easy to scan. Fonts: Book Antiqua for headings, Arial Narrow for subheadings, Calibri for body text. In Figma the brand fonts were not available so we used close substitutes in the high-fi screens.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from Nielsen Norman Group says tab bars are one of the most reliable mobile patterns because key destinations stay visible, and hiding navigation behind a hamburger reduces use. On the web we use a persistent top bar; on mobile we switched to bottom tabs. The final app has Home, Courses, Fees and Contact in the bar, with About Us and Pricing in a top menu.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logic on both platforms. Web is HTML, CSS and JavaScript; the app is Kotlin on Android. A user ticks courses and the maths updates immediately. 6-month courses are R1,500 and 6-week courses are R750.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Us gives phone, email, the Morningside address, office hours Monday to Friday 08:00 to 17:00, social media, a map with a Get directions link, and a short message form that confirms when it is sent. The app has the same details with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one course gets no discount, two courses 5%, three courses 10%, four or more 15%. The discount comes off the subtotal first, then VAT of 15% is added to the discounted amount. Why that order? VAT is charged on the price the customer actually pays, so the invoice shows VAT on the discounted amount (R573.75), not on the R4,500 list price (which would be R675).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works on their own branch (I made MoZa-Website and MoZa-mobile on 21 September). You pull main first, make a branch, commit, push, then open a Pull Request. Someone else reviews it and merges it. I explained this to the group, wrote a guide, and recorded a screen video for a teammate who found the written steps hard. Honest lesson: early on I merged one of my own pull requests before it was reviewed, and that is why we agreed to always have someone else review and merge.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Rehearse this twice before presenting. Tick Canine Obedience, Pet Grooming, Puppy Care and Pet First Aid. Subtotal R4,500, discount 15% = R675, VAT R573.75, total R4,398.75. Then untick one course and show the discount fall to 10%. If the live site fails, use the app version or the slide with the worked numbers as a backup. Tip: on the website a course page link such as calculator page with #puppy in the address pre-ticks that course.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real problems. Merge conflicts taught us to pull before pushing and review before merging. The app first had only three courses, which meant the 15 percent discount could never show, so we added all seven. We fixed a manifest merger error and replaced paid stock images with royalty-free icons.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Kele covers the design choices and the website.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Mohamed covers the logo, his Fees Calculator and Contact Us pages, Git and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Theolin covers the mobile app, the wireframes and what we learned.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 the QR code to watch the full recorded demo of our website and app on YouTube (unlisted): https://youtu.be/iXkaTIPUEzo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image" Target="../media/image27.jpg"/><Relationship Id="rId8"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image" Target="../media/image8.jpg"/><Relationship Id="rId8" Type="http://schemas.openxmlformats.org/officeDocument/2006/relationships/image" Target="../media/image9.jpg"/><Relationship Id="rId9" Type="http://schemas.openxmlformats.org/officeDocument/2006/relationships/image" Target="../media/image10.jpg"/><Relationship Id="rId10" Type="http://schemas.openxmlformats.org/officeDocument/2006/relationships/image" Target="../media/image11.jpg"/><Relationship Id="rId11" Type="http://schemas.openxmlformats.org/officeDocument/2006/relationships/image" Target="../media/image12.jpg"/><Relationship Id="rId12" Type="http://schemas.openxmlformats.org/officeDocument/2006/relationships/image" Target="../media/image13.jpg"/><Relationship Id="rId13" Type="http://schemas.openxmlformats.org/officeDocument/2006/relationships/image" Target="../media/image14.jpg"/><Relationship Id="rId14" Type="http://schemas.openxmlformats.org/officeDocument/2006/relationships/image" Target="../media/image15.jpg"/><Relationship Id="rId15" Type="http://schemas.openxmlformats.org/officeDocument/2006/relationships/image" Target="../media/image16.jpg"/><Relationship Id="rId16" Type="http://schemas.openxmlformats.org/officeDocument/2006/relationships/image" Target="../media/image17.jpg"/><Relationship Id="rId17" Type="http://schemas.openxmlformats.org/officeDocument/2006/relationships/image" Target="../media/image18.jpg"/><Relationship Id="rId18" Type="http://schemas.openxmlformats.org/officeDocument/2006/relationships/image" Target="../media/image19.jpg"/><Relationship Id="rId19" Type="http://schemas.openxmlformats.org/officeDocument/2006/relationships/image" Target="../media/image20.jpg"/><Relationship Id="rId20" Type="http://schemas.openxmlformats.org/officeDocument/2006/relationships/image" Target="../media/image21.jpg"/><Relationship Id="rId21" Type="http://schemas.openxmlformats.org/officeDocument/2006/relationships/image" Target="../media/image22.jpg"/><Relationship Id="rId22" Type="http://schemas.openxmlformats.org/officeDocument/2006/relationships/image" Target="../media/image23.jpg"/><Relationship Id="rId23" Type="http://schemas.openxmlformats.org/officeDocument/2006/relationships/image" Target="../media/image24.jpg"/><Relationship Id="rId24" Type="http://schemas.openxmlformats.org/officeDocument/2006/relationships/image" Target="../media/image25.jpg"/><Relationship Id="rId25" Type="http://schemas.openxmlformats.org/officeDocument/2006/relationships/image" Target="../media/image26.jpg"/><Relationship Id="rId26" Type="http://schemas.openxmlformats.org/officeDocument/2006/relationships/image" Target="../media/image27.jpg"/><Relationship Id="rId27"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9.jpg"/><Relationship Id="rId4"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26.jpg"/><Relationship Id="rId4"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jpg"/><Relationship Id="rId4"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6.jpg"/><Relationship Id="rId4"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7.jpg"/><Relationship Id="rId4"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Rectangle 1"/>
          <p:cNvSpPr/>
          <p:nvPr/>
        </p:nvSpPr>
        <p:spPr>
          <a:xfrm>
            <a:off x="0" y="5394960"/>
            <a:ext cx="12191695" cy="1463040"/>
          </a:xfrm>
          <a:prstGeom prst="rect">
            <a:avLst/>
          </a:prstGeom>
          <a:solidFill>
            <a:srgbClr val="5A3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inal_site.jpg"/>
          <p:cNvPicPr>
            <a:picLocks noChangeAspect="1"/>
          </p:cNvPicPr>
          <p:nvPr/>
        </p:nvPicPr>
        <p:blipFill>
          <a:blip r:embed="rId2"/>
          <a:stretch>
            <a:fillRect/>
          </a:stretch>
        </p:blipFill>
        <p:spPr>
          <a:xfrm>
            <a:off x="6949440" y="822960"/>
            <a:ext cx="4572000" cy="2421731"/>
          </a:xfrm>
          <a:prstGeom prst="rect">
            <a:avLst/>
          </a:prstGeom>
        </p:spPr>
      </p:pic>
      <p:sp>
        <p:nvSpPr>
          <p:cNvPr id="4" name="TextBox 3"/>
          <p:cNvSpPr txBox="1"/>
          <p:nvPr/>
        </p:nvSpPr>
        <p:spPr>
          <a:xfrm>
            <a:off x="731520" y="1371600"/>
            <a:ext cx="6217920" cy="1645920"/>
          </a:xfrm>
          <a:prstGeom prst="rect">
            <a:avLst/>
          </a:prstGeom>
          <a:noFill/>
        </p:spPr>
        <p:txBody>
          <a:bodyPr wrap="square" anchor="t" lIns="45720" rIns="45720">
            <a:spAutoFit/>
          </a:bodyPr>
          <a:lstStyle/>
          <a:p>
            <a:pPr algn="l">
              <a:spcAft>
                <a:spcPts val="600"/>
              </a:spcAft>
            </a:pPr>
            <a:r>
              <a:rPr sz="4400" b="1">
                <a:solidFill>
                  <a:srgbClr val="5A3E2B"/>
                </a:solidFill>
                <a:latin typeface="Book Antiqua"/>
              </a:rPr>
              <a:t>Pawsitive Pet Academy</a:t>
            </a:r>
          </a:p>
        </p:txBody>
      </p:sp>
      <p:sp>
        <p:nvSpPr>
          <p:cNvPr id="5" name="TextBox 4"/>
          <p:cNvSpPr txBox="1"/>
          <p:nvPr/>
        </p:nvSpPr>
        <p:spPr>
          <a:xfrm>
            <a:off x="731520" y="3200400"/>
            <a:ext cx="6035040" cy="914400"/>
          </a:xfrm>
          <a:prstGeom prst="rect">
            <a:avLst/>
          </a:prstGeom>
          <a:noFill/>
        </p:spPr>
        <p:txBody>
          <a:bodyPr wrap="square" anchor="t" lIns="45720" rIns="45720">
            <a:spAutoFit/>
          </a:bodyPr>
          <a:lstStyle/>
          <a:p>
            <a:pPr algn="l">
              <a:spcAft>
                <a:spcPts val="600"/>
              </a:spcAft>
            </a:pPr>
            <a:r>
              <a:rPr sz="2200" b="0">
                <a:solidFill>
                  <a:srgbClr val="2F302D"/>
                </a:solidFill>
                <a:latin typeface="Calibri"/>
              </a:rPr>
              <a:t>Our website and mobile app: design, build and demo</a:t>
            </a:r>
          </a:p>
        </p:txBody>
      </p:sp>
      <p:sp>
        <p:nvSpPr>
          <p:cNvPr id="6" name="TextBox 5"/>
          <p:cNvSpPr txBox="1"/>
          <p:nvPr/>
        </p:nvSpPr>
        <p:spPr>
          <a:xfrm>
            <a:off x="731520" y="4297680"/>
            <a:ext cx="6217920" cy="9144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Meridian Tech Group</a:t>
            </a:r>
          </a:p>
          <a:p>
            <a:pPr algn="l">
              <a:spcAft>
                <a:spcPts val="600"/>
              </a:spcAft>
            </a:pPr>
            <a:r>
              <a:rPr sz="1700" b="0">
                <a:solidFill>
                  <a:srgbClr val="2F302D"/>
                </a:solidFill>
                <a:latin typeface="Calibri"/>
              </a:rPr>
              <a:t>Mohamed Motala  |  Kelebogile Tema  |  Theolin Chetty</a:t>
            </a:r>
          </a:p>
        </p:txBody>
      </p:sp>
      <p:sp>
        <p:nvSpPr>
          <p:cNvPr id="7" name="TextBox 6"/>
          <p:cNvSpPr txBox="1"/>
          <p:nvPr/>
        </p:nvSpPr>
        <p:spPr>
          <a:xfrm>
            <a:off x="731520" y="5760720"/>
            <a:ext cx="10972800" cy="548640"/>
          </a:xfrm>
          <a:prstGeom prst="rect">
            <a:avLst/>
          </a:prstGeom>
          <a:noFill/>
        </p:spPr>
        <p:txBody>
          <a:bodyPr wrap="square" anchor="t" lIns="45720" rIns="45720">
            <a:spAutoFit/>
          </a:bodyPr>
          <a:lstStyle/>
          <a:p>
            <a:pPr algn="l">
              <a:spcAft>
                <a:spcPts val="600"/>
              </a:spcAft>
            </a:pPr>
            <a:r>
              <a:rPr sz="1600" b="0">
                <a:solidFill>
                  <a:srgbClr val="FFFDD0"/>
                </a:solidFill>
                <a:latin typeface="Calibri"/>
              </a:rPr>
              <a:t>XHAW5112 Work Integrated Learning  |  Group presentation</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1000"/>
                                        <p:tgtEl>
                                          <p:spTgt spid="3"/>
                                        </p:tgtEl>
                                      </p:cBhvr>
                                    </p:animEffect>
                                  </p:childTnLst>
                                </p:cTn>
                              </p:par>
                              <p:par>
                                <p:cTn id="8" presetID="10" presetClass="entr" presetSubtype="0" fill="hold"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2" presetID="10"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childTnLst>
                                </p:cTn>
                              </p:par>
                              <p:par>
                                <p:cTn id="16" presetID="10" presetClass="entr" presetSubtype="0" fill="hold" nodeType="withEffect">
                                  <p:stCondLst>
                                    <p:cond delay="4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childTnLst>
                                </p:cTn>
                              </p:par>
                              <p:par>
                                <p:cTn id="20" presetID="10" presetClass="entr" presetSubtype="0" fill="hold" nodeType="withEffect">
                                  <p:stCondLst>
                                    <p:cond delay="60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Meet the team</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Three members, three lead roles, one shared project</a:t>
            </a:r>
          </a:p>
        </p:txBody>
      </p:sp>
      <p:sp>
        <p:nvSpPr>
          <p:cNvPr id="5" name="Rounded Rectangle 4"/>
          <p:cNvSpPr/>
          <p:nvPr/>
        </p:nvSpPr>
        <p:spPr>
          <a:xfrm>
            <a:off x="640080" y="1828800"/>
            <a:ext cx="3566160" cy="35661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01168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Kelebogile Tema</a:t>
            </a:r>
          </a:p>
        </p:txBody>
      </p:sp>
      <p:sp>
        <p:nvSpPr>
          <p:cNvPr id="7" name="TextBox 6"/>
          <p:cNvSpPr txBox="1"/>
          <p:nvPr/>
        </p:nvSpPr>
        <p:spPr>
          <a:xfrm>
            <a:off x="822959" y="2697480"/>
            <a:ext cx="3200400" cy="457200"/>
          </a:xfrm>
          <a:prstGeom prst="rect">
            <a:avLst/>
          </a:prstGeom>
          <a:noFill/>
        </p:spPr>
        <p:txBody>
          <a:bodyPr wrap="square" anchor="t" lIns="45720" rIns="45720">
            <a:spAutoFit/>
          </a:bodyPr>
          <a:lstStyle/>
          <a:p>
            <a:pPr algn="l">
              <a:spcAft>
                <a:spcPts val="600"/>
              </a:spcAft>
            </a:pPr>
            <a:r>
              <a:rPr sz="1600" b="1">
                <a:solidFill>
                  <a:srgbClr val="C68B59"/>
                </a:solidFill>
                <a:latin typeface="Calibri"/>
              </a:rPr>
              <a:t>Website Development Lead</a:t>
            </a:r>
          </a:p>
        </p:txBody>
      </p:sp>
      <p:sp>
        <p:nvSpPr>
          <p:cNvPr id="8" name="TextBox 7"/>
          <p:cNvSpPr txBox="1"/>
          <p:nvPr/>
        </p:nvSpPr>
        <p:spPr>
          <a:xfrm>
            <a:off x="822959" y="3291840"/>
            <a:ext cx="3200400" cy="201168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Leads the website build and the colour palette we chose.</a:t>
            </a:r>
          </a:p>
        </p:txBody>
      </p:sp>
      <p:sp>
        <p:nvSpPr>
          <p:cNvPr id="9" name="Rounded Rectangle 8"/>
          <p:cNvSpPr/>
          <p:nvPr/>
        </p:nvSpPr>
        <p:spPr>
          <a:xfrm>
            <a:off x="4434840" y="1828800"/>
            <a:ext cx="3566160" cy="356616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01168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Mohamed Motala</a:t>
            </a:r>
          </a:p>
        </p:txBody>
      </p:sp>
      <p:sp>
        <p:nvSpPr>
          <p:cNvPr id="11" name="TextBox 10"/>
          <p:cNvSpPr txBox="1"/>
          <p:nvPr/>
        </p:nvSpPr>
        <p:spPr>
          <a:xfrm>
            <a:off x="4617720" y="2697480"/>
            <a:ext cx="3200400" cy="457200"/>
          </a:xfrm>
          <a:prstGeom prst="rect">
            <a:avLst/>
          </a:prstGeom>
          <a:noFill/>
        </p:spPr>
        <p:txBody>
          <a:bodyPr wrap="square" anchor="t" lIns="45720" rIns="45720">
            <a:spAutoFit/>
          </a:bodyPr>
          <a:lstStyle/>
          <a:p>
            <a:pPr algn="l">
              <a:spcAft>
                <a:spcPts val="600"/>
              </a:spcAft>
            </a:pPr>
            <a:r>
              <a:rPr sz="1600" b="1">
                <a:solidFill>
                  <a:srgbClr val="C68B59"/>
                </a:solidFill>
                <a:latin typeface="Calibri"/>
              </a:rPr>
              <a:t>UI/UX Design Lead</a:t>
            </a:r>
          </a:p>
        </p:txBody>
      </p:sp>
      <p:sp>
        <p:nvSpPr>
          <p:cNvPr id="12" name="TextBox 11"/>
          <p:cNvSpPr txBox="1"/>
          <p:nvPr/>
        </p:nvSpPr>
        <p:spPr>
          <a:xfrm>
            <a:off x="4617720" y="3291840"/>
            <a:ext cx="3200400" cy="201168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Logo and branding, wireframes, Git workflow, Fees Calculator and Contact Us pages.</a:t>
            </a:r>
          </a:p>
        </p:txBody>
      </p:sp>
      <p:sp>
        <p:nvSpPr>
          <p:cNvPr id="13" name="Rounded Rectangle 12"/>
          <p:cNvSpPr/>
          <p:nvPr/>
        </p:nvSpPr>
        <p:spPr>
          <a:xfrm>
            <a:off x="8229600" y="1828800"/>
            <a:ext cx="3566160" cy="35661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1168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Theolin Chetty</a:t>
            </a:r>
          </a:p>
        </p:txBody>
      </p:sp>
      <p:sp>
        <p:nvSpPr>
          <p:cNvPr id="15" name="TextBox 14"/>
          <p:cNvSpPr txBox="1"/>
          <p:nvPr/>
        </p:nvSpPr>
        <p:spPr>
          <a:xfrm>
            <a:off x="8412480" y="2697480"/>
            <a:ext cx="3200400" cy="457200"/>
          </a:xfrm>
          <a:prstGeom prst="rect">
            <a:avLst/>
          </a:prstGeom>
          <a:noFill/>
        </p:spPr>
        <p:txBody>
          <a:bodyPr wrap="square" anchor="t" lIns="45720" rIns="45720">
            <a:spAutoFit/>
          </a:bodyPr>
          <a:lstStyle/>
          <a:p>
            <a:pPr algn="l">
              <a:spcAft>
                <a:spcPts val="600"/>
              </a:spcAft>
            </a:pPr>
            <a:r>
              <a:rPr sz="1600" b="1">
                <a:solidFill>
                  <a:srgbClr val="C68B59"/>
                </a:solidFill>
                <a:latin typeface="Calibri"/>
              </a:rPr>
              <a:t>Mobile App Lead</a:t>
            </a:r>
          </a:p>
        </p:txBody>
      </p:sp>
      <p:sp>
        <p:nvSpPr>
          <p:cNvPr id="16" name="TextBox 15"/>
          <p:cNvSpPr txBox="1"/>
          <p:nvPr/>
        </p:nvSpPr>
        <p:spPr>
          <a:xfrm>
            <a:off x="8412480" y="3291840"/>
            <a:ext cx="3200400" cy="201168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Leads the native Android app built in Kotlin.</a:t>
            </a:r>
          </a:p>
        </p:txBody>
      </p:sp>
      <p:sp>
        <p:nvSpPr>
          <p:cNvPr id="17" name="TextBox 16"/>
          <p:cNvSpPr txBox="1"/>
          <p:nvPr/>
        </p:nvSpPr>
        <p:spPr>
          <a:xfrm>
            <a:off x="640080" y="5669280"/>
            <a:ext cx="10972800" cy="640080"/>
          </a:xfrm>
          <a:prstGeom prst="rect">
            <a:avLst/>
          </a:prstGeom>
          <a:noFill/>
        </p:spPr>
        <p:txBody>
          <a:bodyPr wrap="square" anchor="t" lIns="45720" rIns="45720">
            <a:spAutoFit/>
          </a:bodyPr>
          <a:lstStyle/>
          <a:p>
            <a:pPr algn="l">
              <a:spcAft>
                <a:spcPts val="600"/>
              </a:spcAft>
            </a:pPr>
            <a:r>
              <a:rPr sz="1600" b="0">
                <a:solidFill>
                  <a:srgbClr val="5A3E2B"/>
                </a:solidFill>
                <a:latin typeface="Calibri"/>
              </a:rPr>
              <a:t>All three of us built the presentation, recorded the video and wrote the final report together.</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par>
                                <p:cTn id="24" presetID="10" presetClass="entr" presetSubtype="0" fill="hold" nodeType="withEffect">
                                  <p:stCondLst>
                                    <p:cond delay="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childTnLst>
                                </p:cTn>
                              </p:par>
                              <p:par>
                                <p:cTn id="28" presetID="10" presetClass="entr" presetSubtype="0" fill="hold" nodeType="withEffect">
                                  <p:stCondLst>
                                    <p:cond delay="9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par>
                                <p:cTn id="32" presetID="10" presetClass="entr" presetSubtype="0" fill="hold" nodeType="withEffect">
                                  <p:stCondLst>
                                    <p:cond delay="105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childTnLst>
                                </p:cTn>
                              </p:par>
                              <p:par>
                                <p:cTn id="36" presetID="10" presetClass="entr" presetSubtype="0" fill="hold" nodeType="withEffect">
                                  <p:stCondLst>
                                    <p:cond delay="12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childTnLst>
                                </p:cTn>
                              </p:par>
                              <p:par>
                                <p:cTn id="48" presetID="10" presetClass="entr" presetSubtype="0" fill="hold" nodeType="withEffect">
                                  <p:stCondLst>
                                    <p:cond delay="165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1000"/>
                                        <p:tgtEl>
                                          <p:spTgt spid="15"/>
                                        </p:tgtEl>
                                      </p:cBhvr>
                                    </p:animEffect>
                                  </p:childTnLst>
                                </p:cTn>
                              </p:par>
                              <p:par>
                                <p:cTn id="52" presetID="10" presetClass="entr" presetSubtype="0" fill="hold" nodeType="withEffect">
                                  <p:stCondLst>
                                    <p:cond delay="180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1000"/>
                                        <p:tgtEl>
                                          <p:spTgt spid="8"/>
                                        </p:tgtEl>
                                      </p:cBhvr>
                                    </p:animEffect>
                                  </p:childTnLst>
                                </p:cTn>
                              </p:par>
                              <p:par>
                                <p:cTn id="56" presetID="10" presetClass="entr" presetSubtype="0" fill="hold" nodeType="withEffect">
                                  <p:stCondLst>
                                    <p:cond delay="180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1000"/>
                                        <p:tgtEl>
                                          <p:spTgt spid="12"/>
                                        </p:tgtEl>
                                      </p:cBhvr>
                                    </p:animEffect>
                                  </p:childTnLst>
                                </p:cTn>
                              </p:par>
                              <p:par>
                                <p:cTn id="60" presetID="10" presetClass="entr" presetSubtype="0" fill="hold" nodeType="withEffect">
                                  <p:stCondLst>
                                    <p:cond delay="18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childTnLst>
                                </p:cTn>
                              </p:par>
                              <p:par>
                                <p:cTn id="64" presetID="10" presetClass="entr" presetSubtype="0" fill="hold" nodeType="withEffect">
                                  <p:stCondLst>
                                    <p:cond delay="180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The client and the brief</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Pawsitive Pet Academy, run by Sarah Smith in Morningside, Durban</a:t>
            </a:r>
          </a:p>
        </p:txBody>
      </p:sp>
      <p:sp>
        <p:nvSpPr>
          <p:cNvPr id="5" name="TextBox 4"/>
          <p:cNvSpPr txBox="1"/>
          <p:nvPr/>
        </p:nvSpPr>
        <p:spPr>
          <a:xfrm>
            <a:off x="640080" y="1828800"/>
            <a:ext cx="6217920" cy="4114800"/>
          </a:xfrm>
          <a:prstGeom prst="rect">
            <a:avLst/>
          </a:prstGeom>
          <a:noFill/>
        </p:spPr>
        <p:txBody>
          <a:bodyPr wrap="square">
            <a:spAutoFit/>
          </a:bodyPr>
          <a:lstStyle/>
          <a:p>
            <a:pPr>
              <a:spcAft>
                <a:spcPts val="1000"/>
              </a:spcAft>
            </a:pPr>
            <a:r>
              <a:rPr sz="1800">
                <a:solidFill>
                  <a:srgbClr val="2F302D"/>
                </a:solidFill>
                <a:latin typeface="Calibri"/>
              </a:rPr>
              <a:t>•  A pet care and training academy with 7 courses</a:t>
            </a:r>
          </a:p>
          <a:p>
            <a:pPr>
              <a:spcAft>
                <a:spcPts val="1000"/>
              </a:spcAft>
            </a:pPr>
            <a:r>
              <a:rPr sz="1800">
                <a:solidFill>
                  <a:srgbClr val="2F302D"/>
                </a:solidFill>
                <a:latin typeface="Calibri"/>
              </a:rPr>
              <a:t>•  Four 6-month courses: Canine Obedience, Pet Grooming, Animal Behaviour, Pet Business Management (R1,500 each)</a:t>
            </a:r>
          </a:p>
          <a:p>
            <a:pPr>
              <a:spcAft>
                <a:spcPts val="1000"/>
              </a:spcAft>
            </a:pPr>
            <a:r>
              <a:rPr sz="1800">
                <a:solidFill>
                  <a:srgbClr val="2F302D"/>
                </a:solidFill>
                <a:latin typeface="Calibri"/>
              </a:rPr>
              <a:t>•  Three 6-week courses: Puppy Care, Pet First Aid, Basic Dog Walking (R750 each)</a:t>
            </a:r>
          </a:p>
          <a:p>
            <a:pPr>
              <a:spcAft>
                <a:spcPts val="1000"/>
              </a:spcAft>
            </a:pPr>
            <a:r>
              <a:rPr sz="1800">
                <a:solidFill>
                  <a:srgbClr val="2F302D"/>
                </a:solidFill>
                <a:latin typeface="Calibri"/>
              </a:rPr>
              <a:t>•  Customers: individuals, families, schools and corporate clients</a:t>
            </a:r>
          </a:p>
          <a:p>
            <a:pPr>
              <a:spcAft>
                <a:spcPts val="1000"/>
              </a:spcAft>
            </a:pPr>
            <a:r>
              <a:rPr sz="1800">
                <a:solidFill>
                  <a:srgbClr val="2F302D"/>
                </a:solidFill>
                <a:latin typeface="Calibri"/>
              </a:rPr>
              <a:t>•  Sarah wants people to browse courses and get an accurate quote, with a discount for booking more than one course</a:t>
            </a:r>
          </a:p>
        </p:txBody>
      </p:sp>
      <p:sp>
        <p:nvSpPr>
          <p:cNvPr id="6" name="Rounded Rectangle 5"/>
          <p:cNvSpPr/>
          <p:nvPr/>
        </p:nvSpPr>
        <p:spPr>
          <a:xfrm>
            <a:off x="7315200" y="1828800"/>
            <a:ext cx="4297680" cy="402336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43800" y="1965960"/>
            <a:ext cx="384048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What we delivered</a:t>
            </a:r>
          </a:p>
        </p:txBody>
      </p:sp>
      <p:sp>
        <p:nvSpPr>
          <p:cNvPr id="8" name="TextBox 7"/>
          <p:cNvSpPr txBox="1"/>
          <p:nvPr/>
        </p:nvSpPr>
        <p:spPr>
          <a:xfrm>
            <a:off x="7543800" y="2560320"/>
            <a:ext cx="3931920" cy="4114800"/>
          </a:xfrm>
          <a:prstGeom prst="rect">
            <a:avLst/>
          </a:prstGeom>
          <a:noFill/>
        </p:spPr>
        <p:txBody>
          <a:bodyPr wrap="square">
            <a:spAutoFit/>
          </a:bodyPr>
          <a:lstStyle/>
          <a:p>
            <a:pPr>
              <a:spcAft>
                <a:spcPts val="800"/>
              </a:spcAft>
            </a:pPr>
            <a:r>
              <a:rPr sz="1800">
                <a:solidFill>
                  <a:srgbClr val="2F302D"/>
                </a:solidFill>
                <a:latin typeface="Calibri"/>
              </a:rPr>
              <a:t>•  A website with 6 page types</a:t>
            </a:r>
          </a:p>
          <a:p>
            <a:pPr>
              <a:spcAft>
                <a:spcPts val="800"/>
              </a:spcAft>
            </a:pPr>
            <a:r>
              <a:rPr sz="1800">
                <a:solidFill>
                  <a:srgbClr val="2F302D"/>
                </a:solidFill>
                <a:latin typeface="Calibri"/>
              </a:rPr>
              <a:t>•  A native Android app</a:t>
            </a:r>
          </a:p>
          <a:p>
            <a:pPr>
              <a:spcAft>
                <a:spcPts val="800"/>
              </a:spcAft>
            </a:pPr>
            <a:r>
              <a:rPr sz="1800">
                <a:solidFill>
                  <a:srgbClr val="2F302D"/>
                </a:solidFill>
                <a:latin typeface="Calibri"/>
              </a:rPr>
              <a:t>•  A fees calculator on both</a:t>
            </a:r>
          </a:p>
          <a:p>
            <a:pPr>
              <a:spcAft>
                <a:spcPts val="800"/>
              </a:spcAft>
            </a:pPr>
            <a:r>
              <a:rPr sz="1800">
                <a:solidFill>
                  <a:srgbClr val="2F302D"/>
                </a:solidFill>
                <a:latin typeface="Calibri"/>
              </a:rPr>
              <a:t>•  One shared brand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par>
                                <p:cTn id="28" presetID="10" presetClass="entr" presetSubtype="0" fill="hold" nodeType="withEffect">
                                  <p:stCondLst>
                                    <p:cond delay="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Why this design was selected</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We scored each member's Phase 1 proposal against the same criteria</a:t>
            </a:r>
          </a:p>
        </p:txBody>
      </p:sp>
      <p:sp>
        <p:nvSpPr>
          <p:cNvPr id="5" name="Rectangle 4"/>
          <p:cNvSpPr/>
          <p:nvPr/>
        </p:nvSpPr>
        <p:spPr>
          <a:xfrm>
            <a:off x="640080" y="1783080"/>
            <a:ext cx="7132320" cy="438912"/>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01368"/>
            <a:ext cx="2926080" cy="411480"/>
          </a:xfrm>
          <a:prstGeom prst="rect">
            <a:avLst/>
          </a:prstGeom>
          <a:noFill/>
        </p:spPr>
        <p:txBody>
          <a:bodyPr wrap="square" anchor="ctr" lIns="45720" rIns="45720">
            <a:spAutoFit/>
          </a:bodyPr>
          <a:lstStyle/>
          <a:p>
            <a:pPr algn="l">
              <a:spcAft>
                <a:spcPts val="600"/>
              </a:spcAft>
            </a:pPr>
            <a:r>
              <a:rPr sz="1500" b="1">
                <a:solidFill>
                  <a:srgbClr val="FFFFFF"/>
                </a:solidFill>
                <a:latin typeface="Calibri"/>
              </a:rPr>
              <a:t>Criteria</a:t>
            </a:r>
          </a:p>
        </p:txBody>
      </p:sp>
      <p:sp>
        <p:nvSpPr>
          <p:cNvPr id="7" name="TextBox 6"/>
          <p:cNvSpPr txBox="1"/>
          <p:nvPr/>
        </p:nvSpPr>
        <p:spPr>
          <a:xfrm>
            <a:off x="3657600" y="1801368"/>
            <a:ext cx="1280160" cy="411480"/>
          </a:xfrm>
          <a:prstGeom prst="rect">
            <a:avLst/>
          </a:prstGeom>
          <a:noFill/>
        </p:spPr>
        <p:txBody>
          <a:bodyPr wrap="square" anchor="ctr" lIns="45720" rIns="45720">
            <a:spAutoFit/>
          </a:bodyPr>
          <a:lstStyle/>
          <a:p>
            <a:pPr algn="ctr">
              <a:spcAft>
                <a:spcPts val="600"/>
              </a:spcAft>
            </a:pPr>
            <a:r>
              <a:rPr sz="1500" b="1">
                <a:solidFill>
                  <a:srgbClr val="FFFFFF"/>
                </a:solidFill>
                <a:latin typeface="Calibri"/>
              </a:rPr>
              <a:t>Kelebogile</a:t>
            </a:r>
          </a:p>
        </p:txBody>
      </p:sp>
      <p:sp>
        <p:nvSpPr>
          <p:cNvPr id="8" name="TextBox 7"/>
          <p:cNvSpPr txBox="1"/>
          <p:nvPr/>
        </p:nvSpPr>
        <p:spPr>
          <a:xfrm>
            <a:off x="5074920" y="1801368"/>
            <a:ext cx="1280160" cy="411480"/>
          </a:xfrm>
          <a:prstGeom prst="rect">
            <a:avLst/>
          </a:prstGeom>
          <a:noFill/>
        </p:spPr>
        <p:txBody>
          <a:bodyPr wrap="square" anchor="ctr" lIns="45720" rIns="45720">
            <a:spAutoFit/>
          </a:bodyPr>
          <a:lstStyle/>
          <a:p>
            <a:pPr algn="ctr">
              <a:spcAft>
                <a:spcPts val="600"/>
              </a:spcAft>
            </a:pPr>
            <a:r>
              <a:rPr sz="1500" b="1">
                <a:solidFill>
                  <a:srgbClr val="FFFFFF"/>
                </a:solidFill>
                <a:latin typeface="Calibri"/>
              </a:rPr>
              <a:t>Theolin</a:t>
            </a:r>
          </a:p>
        </p:txBody>
      </p:sp>
      <p:sp>
        <p:nvSpPr>
          <p:cNvPr id="9" name="TextBox 8"/>
          <p:cNvSpPr txBox="1"/>
          <p:nvPr/>
        </p:nvSpPr>
        <p:spPr>
          <a:xfrm>
            <a:off x="6492240" y="1801368"/>
            <a:ext cx="1280160" cy="411480"/>
          </a:xfrm>
          <a:prstGeom prst="rect">
            <a:avLst/>
          </a:prstGeom>
          <a:noFill/>
        </p:spPr>
        <p:txBody>
          <a:bodyPr wrap="square" anchor="ctr" lIns="45720" rIns="45720">
            <a:spAutoFit/>
          </a:bodyPr>
          <a:lstStyle/>
          <a:p>
            <a:pPr algn="ctr">
              <a:spcAft>
                <a:spcPts val="600"/>
              </a:spcAft>
            </a:pPr>
            <a:r>
              <a:rPr sz="1500" b="1">
                <a:solidFill>
                  <a:srgbClr val="FFFFFF"/>
                </a:solidFill>
                <a:latin typeface="Calibri"/>
              </a:rPr>
              <a:t>Mohamed</a:t>
            </a:r>
          </a:p>
        </p:txBody>
      </p:sp>
      <p:sp>
        <p:nvSpPr>
          <p:cNvPr id="10" name="Rectangle 9"/>
          <p:cNvSpPr/>
          <p:nvPr/>
        </p:nvSpPr>
        <p:spPr>
          <a:xfrm>
            <a:off x="640080" y="2258568"/>
            <a:ext cx="7132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76856"/>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Strong branding potential</a:t>
            </a:r>
          </a:p>
        </p:txBody>
      </p:sp>
      <p:sp>
        <p:nvSpPr>
          <p:cNvPr id="12" name="TextBox 11"/>
          <p:cNvSpPr txBox="1"/>
          <p:nvPr/>
        </p:nvSpPr>
        <p:spPr>
          <a:xfrm>
            <a:off x="3657600" y="227685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13" name="TextBox 12"/>
          <p:cNvSpPr txBox="1"/>
          <p:nvPr/>
        </p:nvSpPr>
        <p:spPr>
          <a:xfrm>
            <a:off x="5074920" y="227685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14" name="TextBox 13"/>
          <p:cNvSpPr txBox="1"/>
          <p:nvPr/>
        </p:nvSpPr>
        <p:spPr>
          <a:xfrm>
            <a:off x="6492240" y="227685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15" name="Rectangle 14"/>
          <p:cNvSpPr/>
          <p:nvPr/>
        </p:nvSpPr>
        <p:spPr>
          <a:xfrm>
            <a:off x="640080" y="2734056"/>
            <a:ext cx="7132320" cy="438912"/>
          </a:xfrm>
          <a:prstGeom prst="rect">
            <a:avLst/>
          </a:prstGeom>
          <a:solidFill>
            <a:srgbClr val="FFF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52344"/>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Easy to develop</a:t>
            </a:r>
          </a:p>
        </p:txBody>
      </p:sp>
      <p:sp>
        <p:nvSpPr>
          <p:cNvPr id="17" name="TextBox 16"/>
          <p:cNvSpPr txBox="1"/>
          <p:nvPr/>
        </p:nvSpPr>
        <p:spPr>
          <a:xfrm>
            <a:off x="3657600" y="2752344"/>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18" name="TextBox 17"/>
          <p:cNvSpPr txBox="1"/>
          <p:nvPr/>
        </p:nvSpPr>
        <p:spPr>
          <a:xfrm>
            <a:off x="5074920" y="2752344"/>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19" name="TextBox 18"/>
          <p:cNvSpPr txBox="1"/>
          <p:nvPr/>
        </p:nvSpPr>
        <p:spPr>
          <a:xfrm>
            <a:off x="6492240" y="2752344"/>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20" name="Rectangle 19"/>
          <p:cNvSpPr/>
          <p:nvPr/>
        </p:nvSpPr>
        <p:spPr>
          <a:xfrm>
            <a:off x="640080" y="3209544"/>
            <a:ext cx="7132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227832"/>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Suitable for mobile app</a:t>
            </a:r>
          </a:p>
        </p:txBody>
      </p:sp>
      <p:sp>
        <p:nvSpPr>
          <p:cNvPr id="22" name="TextBox 21"/>
          <p:cNvSpPr txBox="1"/>
          <p:nvPr/>
        </p:nvSpPr>
        <p:spPr>
          <a:xfrm>
            <a:off x="3657600" y="3227832"/>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23" name="TextBox 22"/>
          <p:cNvSpPr txBox="1"/>
          <p:nvPr/>
        </p:nvSpPr>
        <p:spPr>
          <a:xfrm>
            <a:off x="5074920" y="3227832"/>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24" name="TextBox 23"/>
          <p:cNvSpPr txBox="1"/>
          <p:nvPr/>
        </p:nvSpPr>
        <p:spPr>
          <a:xfrm>
            <a:off x="6492240" y="3227832"/>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25" name="Rectangle 24"/>
          <p:cNvSpPr/>
          <p:nvPr/>
        </p:nvSpPr>
        <p:spPr>
          <a:xfrm>
            <a:off x="640080" y="3685032"/>
            <a:ext cx="7132320" cy="438912"/>
          </a:xfrm>
          <a:prstGeom prst="rect">
            <a:avLst/>
          </a:prstGeom>
          <a:solidFill>
            <a:srgbClr val="FFF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703320"/>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Suitable for website</a:t>
            </a:r>
          </a:p>
        </p:txBody>
      </p:sp>
      <p:sp>
        <p:nvSpPr>
          <p:cNvPr id="27" name="TextBox 26"/>
          <p:cNvSpPr txBox="1"/>
          <p:nvPr/>
        </p:nvSpPr>
        <p:spPr>
          <a:xfrm>
            <a:off x="3657600" y="3703320"/>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28" name="TextBox 27"/>
          <p:cNvSpPr txBox="1"/>
          <p:nvPr/>
        </p:nvSpPr>
        <p:spPr>
          <a:xfrm>
            <a:off x="5074920" y="3703320"/>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29" name="TextBox 28"/>
          <p:cNvSpPr txBox="1"/>
          <p:nvPr/>
        </p:nvSpPr>
        <p:spPr>
          <a:xfrm>
            <a:off x="6492240" y="3703320"/>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30" name="Rectangle 29"/>
          <p:cNvSpPr/>
          <p:nvPr/>
        </p:nvSpPr>
        <p:spPr>
          <a:xfrm>
            <a:off x="640080" y="4160520"/>
            <a:ext cx="7132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178807"/>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Easy to research</a:t>
            </a:r>
          </a:p>
        </p:txBody>
      </p:sp>
      <p:sp>
        <p:nvSpPr>
          <p:cNvPr id="32" name="TextBox 31"/>
          <p:cNvSpPr txBox="1"/>
          <p:nvPr/>
        </p:nvSpPr>
        <p:spPr>
          <a:xfrm>
            <a:off x="3657600" y="4178807"/>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33" name="TextBox 32"/>
          <p:cNvSpPr txBox="1"/>
          <p:nvPr/>
        </p:nvSpPr>
        <p:spPr>
          <a:xfrm>
            <a:off x="5074920" y="4178807"/>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34" name="TextBox 33"/>
          <p:cNvSpPr txBox="1"/>
          <p:nvPr/>
        </p:nvSpPr>
        <p:spPr>
          <a:xfrm>
            <a:off x="6492240" y="4178807"/>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35" name="Rectangle 34"/>
          <p:cNvSpPr/>
          <p:nvPr/>
        </p:nvSpPr>
        <p:spPr>
          <a:xfrm>
            <a:off x="640080" y="4636008"/>
            <a:ext cx="7132320" cy="438912"/>
          </a:xfrm>
          <a:prstGeom prst="rect">
            <a:avLst/>
          </a:prstGeom>
          <a:solidFill>
            <a:srgbClr val="FFF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654296"/>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Strong user experience</a:t>
            </a:r>
          </a:p>
        </p:txBody>
      </p:sp>
      <p:sp>
        <p:nvSpPr>
          <p:cNvPr id="37" name="TextBox 36"/>
          <p:cNvSpPr txBox="1"/>
          <p:nvPr/>
        </p:nvSpPr>
        <p:spPr>
          <a:xfrm>
            <a:off x="3657600" y="465429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38" name="TextBox 37"/>
          <p:cNvSpPr txBox="1"/>
          <p:nvPr/>
        </p:nvSpPr>
        <p:spPr>
          <a:xfrm>
            <a:off x="5074920" y="465429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39" name="TextBox 38"/>
          <p:cNvSpPr txBox="1"/>
          <p:nvPr/>
        </p:nvSpPr>
        <p:spPr>
          <a:xfrm>
            <a:off x="6492240" y="465429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40" name="Rectangle 39"/>
          <p:cNvSpPr/>
          <p:nvPr/>
        </p:nvSpPr>
        <p:spPr>
          <a:xfrm>
            <a:off x="640080" y="5111496"/>
            <a:ext cx="7132320" cy="438912"/>
          </a:xfrm>
          <a:prstGeom prst="rect">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129783"/>
            <a:ext cx="2926080" cy="411480"/>
          </a:xfrm>
          <a:prstGeom prst="rect">
            <a:avLst/>
          </a:prstGeom>
          <a:noFill/>
        </p:spPr>
        <p:txBody>
          <a:bodyPr wrap="square" anchor="ctr" lIns="45720" rIns="45720">
            <a:spAutoFit/>
          </a:bodyPr>
          <a:lstStyle/>
          <a:p>
            <a:pPr algn="l">
              <a:spcAft>
                <a:spcPts val="600"/>
              </a:spcAft>
            </a:pPr>
            <a:r>
              <a:rPr sz="1500" b="1">
                <a:solidFill>
                  <a:srgbClr val="2F302D"/>
                </a:solidFill>
                <a:latin typeface="Calibri"/>
              </a:rPr>
              <a:t>Total</a:t>
            </a:r>
          </a:p>
        </p:txBody>
      </p:sp>
      <p:sp>
        <p:nvSpPr>
          <p:cNvPr id="42" name="TextBox 41"/>
          <p:cNvSpPr txBox="1"/>
          <p:nvPr/>
        </p:nvSpPr>
        <p:spPr>
          <a:xfrm>
            <a:off x="3657600" y="5129783"/>
            <a:ext cx="1280160" cy="411480"/>
          </a:xfrm>
          <a:prstGeom prst="rect">
            <a:avLst/>
          </a:prstGeom>
          <a:noFill/>
        </p:spPr>
        <p:txBody>
          <a:bodyPr wrap="square" anchor="ctr" lIns="45720" rIns="45720">
            <a:spAutoFit/>
          </a:bodyPr>
          <a:lstStyle/>
          <a:p>
            <a:pPr algn="ctr">
              <a:spcAft>
                <a:spcPts val="600"/>
              </a:spcAft>
            </a:pPr>
            <a:r>
              <a:rPr sz="1500" b="1">
                <a:solidFill>
                  <a:srgbClr val="2F302D"/>
                </a:solidFill>
                <a:latin typeface="Calibri"/>
              </a:rPr>
              <a:t>20</a:t>
            </a:r>
          </a:p>
        </p:txBody>
      </p:sp>
      <p:sp>
        <p:nvSpPr>
          <p:cNvPr id="43" name="TextBox 42"/>
          <p:cNvSpPr txBox="1"/>
          <p:nvPr/>
        </p:nvSpPr>
        <p:spPr>
          <a:xfrm>
            <a:off x="5074920" y="5129783"/>
            <a:ext cx="1280160" cy="411480"/>
          </a:xfrm>
          <a:prstGeom prst="rect">
            <a:avLst/>
          </a:prstGeom>
          <a:noFill/>
        </p:spPr>
        <p:txBody>
          <a:bodyPr wrap="square" anchor="ctr" lIns="45720" rIns="45720">
            <a:spAutoFit/>
          </a:bodyPr>
          <a:lstStyle/>
          <a:p>
            <a:pPr algn="ctr">
              <a:spcAft>
                <a:spcPts val="600"/>
              </a:spcAft>
            </a:pPr>
            <a:r>
              <a:rPr sz="1500" b="1">
                <a:solidFill>
                  <a:srgbClr val="2F302D"/>
                </a:solidFill>
                <a:latin typeface="Calibri"/>
              </a:rPr>
              <a:t>24</a:t>
            </a:r>
          </a:p>
        </p:txBody>
      </p:sp>
      <p:sp>
        <p:nvSpPr>
          <p:cNvPr id="44" name="TextBox 43"/>
          <p:cNvSpPr txBox="1"/>
          <p:nvPr/>
        </p:nvSpPr>
        <p:spPr>
          <a:xfrm>
            <a:off x="6492240" y="5129783"/>
            <a:ext cx="1280160" cy="411480"/>
          </a:xfrm>
          <a:prstGeom prst="rect">
            <a:avLst/>
          </a:prstGeom>
          <a:noFill/>
        </p:spPr>
        <p:txBody>
          <a:bodyPr wrap="square" anchor="ctr" lIns="45720" rIns="45720">
            <a:spAutoFit/>
          </a:bodyPr>
          <a:lstStyle/>
          <a:p>
            <a:pPr algn="ctr">
              <a:spcAft>
                <a:spcPts val="600"/>
              </a:spcAft>
            </a:pPr>
            <a:r>
              <a:rPr sz="1500" b="1">
                <a:solidFill>
                  <a:srgbClr val="2F302D"/>
                </a:solidFill>
                <a:latin typeface="Calibri"/>
              </a:rPr>
              <a:t>27</a:t>
            </a:r>
          </a:p>
        </p:txBody>
      </p:sp>
      <p:sp>
        <p:nvSpPr>
          <p:cNvPr id="45" name="TextBox 44"/>
          <p:cNvSpPr txBox="1"/>
          <p:nvPr/>
        </p:nvSpPr>
        <p:spPr>
          <a:xfrm>
            <a:off x="8229600" y="1783080"/>
            <a:ext cx="347472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Our reasons</a:t>
            </a:r>
          </a:p>
        </p:txBody>
      </p:sp>
      <p:sp>
        <p:nvSpPr>
          <p:cNvPr id="46" name="TextBox 45"/>
          <p:cNvSpPr txBox="1"/>
          <p:nvPr/>
        </p:nvSpPr>
        <p:spPr>
          <a:xfrm>
            <a:off x="8229600" y="2331720"/>
            <a:ext cx="3474720" cy="4114800"/>
          </a:xfrm>
          <a:prstGeom prst="rect">
            <a:avLst/>
          </a:prstGeom>
          <a:noFill/>
        </p:spPr>
        <p:txBody>
          <a:bodyPr wrap="square">
            <a:spAutoFit/>
          </a:bodyPr>
          <a:lstStyle/>
          <a:p>
            <a:pPr>
              <a:spcAft>
                <a:spcPts val="800"/>
              </a:spcAft>
            </a:pPr>
            <a:r>
              <a:rPr sz="1600">
                <a:solidFill>
                  <a:srgbClr val="2F302D"/>
                </a:solidFill>
                <a:latin typeface="Calibri"/>
              </a:rPr>
              <a:t>•  Pawsitive Pet Academy scored highest overall (27)</a:t>
            </a:r>
          </a:p>
          <a:p>
            <a:pPr>
              <a:spcAft>
                <a:spcPts val="800"/>
              </a:spcAft>
            </a:pPr>
            <a:r>
              <a:rPr sz="1600">
                <a:solidFill>
                  <a:srgbClr val="2F302D"/>
                </a:solidFill>
                <a:latin typeface="Calibri"/>
              </a:rPr>
              <a:t>•  Theolin's gaming idea fitted a different topic</a:t>
            </a:r>
          </a:p>
          <a:p>
            <a:pPr>
              <a:spcAft>
                <a:spcPts val="800"/>
              </a:spcAft>
            </a:pPr>
            <a:r>
              <a:rPr sz="1600">
                <a:solidFill>
                  <a:srgbClr val="2F302D"/>
                </a:solidFill>
                <a:latin typeface="Calibri"/>
              </a:rPr>
              <a:t>•  The pet academy proposal had the most detail, so it was the easiest to build from</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8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1000"/>
                                        <p:tgtEl>
                                          <p:spTgt spid="45"/>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par>
                                <p:cTn id="44" presetID="10" presetClass="entr" presetSubtype="0" fill="hold" nodeType="withEffect">
                                  <p:stCondLst>
                                    <p:cond delay="15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childTnLst>
                                </p:cTn>
                              </p:par>
                              <p:par>
                                <p:cTn id="48" presetID="10" presetClass="entr" presetSubtype="0" fill="hold" nodeType="withEffect">
                                  <p:stCondLst>
                                    <p:cond delay="165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childTnLst>
                                </p:cTn>
                              </p:par>
                              <p:par>
                                <p:cTn id="52" presetID="10" presetClass="entr" presetSubtype="0" fill="hold" nodeType="withEffect">
                                  <p:stCondLst>
                                    <p:cond delay="180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childTnLst>
                                </p:cTn>
                              </p:par>
                              <p:par>
                                <p:cTn id="56" presetID="10" presetClass="entr" presetSubtype="0" fill="hold" nodeType="withEffect">
                                  <p:stCondLst>
                                    <p:cond delay="180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1000"/>
                                        <p:tgtEl>
                                          <p:spTgt spid="14"/>
                                        </p:tgtEl>
                                      </p:cBhvr>
                                    </p:animEffect>
                                  </p:childTnLst>
                                </p:cTn>
                              </p:par>
                              <p:par>
                                <p:cTn id="60" presetID="10" presetClass="entr" presetSubtype="0" fill="hold" nodeType="withEffect">
                                  <p:stCondLst>
                                    <p:cond delay="180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1000"/>
                                        <p:tgtEl>
                                          <p:spTgt spid="46"/>
                                        </p:tgtEl>
                                      </p:cBhvr>
                                    </p:animEffect>
                                  </p:childTnLst>
                                </p:cTn>
                              </p:par>
                              <p:par>
                                <p:cTn id="64" presetID="10" presetClass="entr" presetSubtype="0" fill="hold" nodeType="withEffect">
                                  <p:stCondLst>
                                    <p:cond delay="180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1000"/>
                                        <p:tgtEl>
                                          <p:spTgt spid="15"/>
                                        </p:tgtEl>
                                      </p:cBhvr>
                                    </p:animEffect>
                                  </p:childTnLst>
                                </p:cTn>
                              </p:par>
                              <p:par>
                                <p:cTn id="68" presetID="10" presetClass="entr" presetSubtype="0" fill="hold" nodeType="withEffect">
                                  <p:stCondLst>
                                    <p:cond delay="180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childTnLst>
                                </p:cTn>
                              </p:par>
                              <p:par>
                                <p:cTn id="72" presetID="10" presetClass="entr" presetSubtype="0" fill="hold" nodeType="withEffect">
                                  <p:stCondLst>
                                    <p:cond delay="180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1000"/>
                                        <p:tgtEl>
                                          <p:spTgt spid="17"/>
                                        </p:tgtEl>
                                      </p:cBhvr>
                                    </p:animEffect>
                                  </p:childTnLst>
                                </p:cTn>
                              </p:par>
                              <p:par>
                                <p:cTn id="76" presetID="10" presetClass="entr" presetSubtype="0" fill="hold" nodeType="withEffect">
                                  <p:stCondLst>
                                    <p:cond delay="180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1000"/>
                                        <p:tgtEl>
                                          <p:spTgt spid="18"/>
                                        </p:tgtEl>
                                      </p:cBhvr>
                                    </p:animEffect>
                                  </p:childTnLst>
                                </p:cTn>
                              </p:par>
                              <p:par>
                                <p:cTn id="80" presetID="10" presetClass="entr" presetSubtype="0" fill="hold" nodeType="withEffect">
                                  <p:stCondLst>
                                    <p:cond delay="180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1000"/>
                                        <p:tgtEl>
                                          <p:spTgt spid="19"/>
                                        </p:tgtEl>
                                      </p:cBhvr>
                                    </p:animEffect>
                                  </p:childTnLst>
                                </p:cTn>
                              </p:par>
                              <p:par>
                                <p:cTn id="84" presetID="10" presetClass="entr" presetSubtype="0" fill="hold" nodeType="withEffect">
                                  <p:stCondLst>
                                    <p:cond delay="180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1000"/>
                                        <p:tgtEl>
                                          <p:spTgt spid="20"/>
                                        </p:tgtEl>
                                      </p:cBhvr>
                                    </p:animEffect>
                                  </p:childTnLst>
                                </p:cTn>
                              </p:par>
                              <p:par>
                                <p:cTn id="88" presetID="10" presetClass="entr" presetSubtype="0" fill="hold" nodeType="withEffect">
                                  <p:stCondLst>
                                    <p:cond delay="18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1000"/>
                                        <p:tgtEl>
                                          <p:spTgt spid="21"/>
                                        </p:tgtEl>
                                      </p:cBhvr>
                                    </p:animEffect>
                                  </p:childTnLst>
                                </p:cTn>
                              </p:par>
                              <p:par>
                                <p:cTn id="92" presetID="10" presetClass="entr" presetSubtype="0" fill="hold" nodeType="withEffect">
                                  <p:stCondLst>
                                    <p:cond delay="180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1000"/>
                                        <p:tgtEl>
                                          <p:spTgt spid="22"/>
                                        </p:tgtEl>
                                      </p:cBhvr>
                                    </p:animEffect>
                                  </p:childTnLst>
                                </p:cTn>
                              </p:par>
                              <p:par>
                                <p:cTn id="96" presetID="10" presetClass="entr" presetSubtype="0" fill="hold" nodeType="withEffect">
                                  <p:stCondLst>
                                    <p:cond delay="180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1000"/>
                                        <p:tgtEl>
                                          <p:spTgt spid="23"/>
                                        </p:tgtEl>
                                      </p:cBhvr>
                                    </p:animEffect>
                                  </p:childTnLst>
                                </p:cTn>
                              </p:par>
                              <p:par>
                                <p:cTn id="100" presetID="10" presetClass="entr" presetSubtype="0" fill="hold" nodeType="withEffect">
                                  <p:stCondLst>
                                    <p:cond delay="180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1000"/>
                                        <p:tgtEl>
                                          <p:spTgt spid="24"/>
                                        </p:tgtEl>
                                      </p:cBhvr>
                                    </p:animEffect>
                                  </p:childTnLst>
                                </p:cTn>
                              </p:par>
                              <p:par>
                                <p:cTn id="104" presetID="10" presetClass="entr" presetSubtype="0" fill="hold" nodeType="withEffect">
                                  <p:stCondLst>
                                    <p:cond delay="180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1000"/>
                                        <p:tgtEl>
                                          <p:spTgt spid="25"/>
                                        </p:tgtEl>
                                      </p:cBhvr>
                                    </p:animEffect>
                                  </p:childTnLst>
                                </p:cTn>
                              </p:par>
                              <p:par>
                                <p:cTn id="108" presetID="10" presetClass="entr" presetSubtype="0" fill="hold" nodeType="withEffect">
                                  <p:stCondLst>
                                    <p:cond delay="180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1000"/>
                                        <p:tgtEl>
                                          <p:spTgt spid="26"/>
                                        </p:tgtEl>
                                      </p:cBhvr>
                                    </p:animEffect>
                                  </p:childTnLst>
                                </p:cTn>
                              </p:par>
                              <p:par>
                                <p:cTn id="112" presetID="10" presetClass="entr" presetSubtype="0" fill="hold" nodeType="withEffect">
                                  <p:stCondLst>
                                    <p:cond delay="180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1000"/>
                                        <p:tgtEl>
                                          <p:spTgt spid="27"/>
                                        </p:tgtEl>
                                      </p:cBhvr>
                                    </p:animEffect>
                                  </p:childTnLst>
                                </p:cTn>
                              </p:par>
                              <p:par>
                                <p:cTn id="116" presetID="10" presetClass="entr" presetSubtype="0" fill="hold" nodeType="withEffect">
                                  <p:stCondLst>
                                    <p:cond delay="180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1000"/>
                                        <p:tgtEl>
                                          <p:spTgt spid="28"/>
                                        </p:tgtEl>
                                      </p:cBhvr>
                                    </p:animEffect>
                                  </p:childTnLst>
                                </p:cTn>
                              </p:par>
                              <p:par>
                                <p:cTn id="120" presetID="10" presetClass="entr" presetSubtype="0" fill="hold" nodeType="withEffect">
                                  <p:stCondLst>
                                    <p:cond delay="180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1000"/>
                                        <p:tgtEl>
                                          <p:spTgt spid="29"/>
                                        </p:tgtEl>
                                      </p:cBhvr>
                                    </p:animEffect>
                                  </p:childTnLst>
                                </p:cTn>
                              </p:par>
                              <p:par>
                                <p:cTn id="124" presetID="10" presetClass="entr" presetSubtype="0" fill="hold" nodeType="withEffect">
                                  <p:stCondLst>
                                    <p:cond delay="1800"/>
                                  </p:stCondLst>
                                  <p:childTnLst>
                                    <p:set>
                                      <p:cBhvr>
                                        <p:cTn id="125" dur="1" fill="hold">
                                          <p:stCondLst>
                                            <p:cond delay="0"/>
                                          </p:stCondLst>
                                        </p:cTn>
                                        <p:tgtEl>
                                          <p:spTgt spid="30"/>
                                        </p:tgtEl>
                                        <p:attrNameLst>
                                          <p:attrName>style.visibility</p:attrName>
                                        </p:attrNameLst>
                                      </p:cBhvr>
                                      <p:to>
                                        <p:strVal val="visible"/>
                                      </p:to>
                                    </p:set>
                                    <p:animEffect transition="in" filter="fade">
                                      <p:cBhvr>
                                        <p:cTn id="126" dur="1000"/>
                                        <p:tgtEl>
                                          <p:spTgt spid="30"/>
                                        </p:tgtEl>
                                      </p:cBhvr>
                                    </p:animEffect>
                                  </p:childTnLst>
                                </p:cTn>
                              </p:par>
                              <p:par>
                                <p:cTn id="128" presetID="10" presetClass="entr" presetSubtype="0" fill="hold" nodeType="withEffect">
                                  <p:stCondLst>
                                    <p:cond delay="180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1000"/>
                                        <p:tgtEl>
                                          <p:spTgt spid="31"/>
                                        </p:tgtEl>
                                      </p:cBhvr>
                                    </p:animEffect>
                                  </p:childTnLst>
                                </p:cTn>
                              </p:par>
                              <p:par>
                                <p:cTn id="132" presetID="10" presetClass="entr" presetSubtype="0" fill="hold" nodeType="withEffect">
                                  <p:stCondLst>
                                    <p:cond delay="1800"/>
                                  </p:stCondLst>
                                  <p:childTnLst>
                                    <p:set>
                                      <p:cBhvr>
                                        <p:cTn id="133" dur="1" fill="hold">
                                          <p:stCondLst>
                                            <p:cond delay="0"/>
                                          </p:stCondLst>
                                        </p:cTn>
                                        <p:tgtEl>
                                          <p:spTgt spid="32"/>
                                        </p:tgtEl>
                                        <p:attrNameLst>
                                          <p:attrName>style.visibility</p:attrName>
                                        </p:attrNameLst>
                                      </p:cBhvr>
                                      <p:to>
                                        <p:strVal val="visible"/>
                                      </p:to>
                                    </p:set>
                                    <p:animEffect transition="in" filter="fade">
                                      <p:cBhvr>
                                        <p:cTn id="134" dur="1000"/>
                                        <p:tgtEl>
                                          <p:spTgt spid="32"/>
                                        </p:tgtEl>
                                      </p:cBhvr>
                                    </p:animEffect>
                                  </p:childTnLst>
                                </p:cTn>
                              </p:par>
                              <p:par>
                                <p:cTn id="136" presetID="10" presetClass="entr" presetSubtype="0" fill="hold" nodeType="withEffect">
                                  <p:stCondLst>
                                    <p:cond delay="1800"/>
                                  </p:stCondLst>
                                  <p:childTnLst>
                                    <p:set>
                                      <p:cBhvr>
                                        <p:cTn id="137" dur="1" fill="hold">
                                          <p:stCondLst>
                                            <p:cond delay="0"/>
                                          </p:stCondLst>
                                        </p:cTn>
                                        <p:tgtEl>
                                          <p:spTgt spid="33"/>
                                        </p:tgtEl>
                                        <p:attrNameLst>
                                          <p:attrName>style.visibility</p:attrName>
                                        </p:attrNameLst>
                                      </p:cBhvr>
                                      <p:to>
                                        <p:strVal val="visible"/>
                                      </p:to>
                                    </p:set>
                                    <p:animEffect transition="in" filter="fade">
                                      <p:cBhvr>
                                        <p:cTn id="138" dur="1000"/>
                                        <p:tgtEl>
                                          <p:spTgt spid="33"/>
                                        </p:tgtEl>
                                      </p:cBhvr>
                                    </p:animEffect>
                                  </p:childTnLst>
                                </p:cTn>
                              </p:par>
                              <p:par>
                                <p:cTn id="140" presetID="10" presetClass="entr" presetSubtype="0" fill="hold" nodeType="withEffect">
                                  <p:stCondLst>
                                    <p:cond delay="1800"/>
                                  </p:stCondLst>
                                  <p:childTnLst>
                                    <p:set>
                                      <p:cBhvr>
                                        <p:cTn id="141" dur="1" fill="hold">
                                          <p:stCondLst>
                                            <p:cond delay="0"/>
                                          </p:stCondLst>
                                        </p:cTn>
                                        <p:tgtEl>
                                          <p:spTgt spid="34"/>
                                        </p:tgtEl>
                                        <p:attrNameLst>
                                          <p:attrName>style.visibility</p:attrName>
                                        </p:attrNameLst>
                                      </p:cBhvr>
                                      <p:to>
                                        <p:strVal val="visible"/>
                                      </p:to>
                                    </p:set>
                                    <p:animEffect transition="in" filter="fade">
                                      <p:cBhvr>
                                        <p:cTn id="142" dur="1000"/>
                                        <p:tgtEl>
                                          <p:spTgt spid="34"/>
                                        </p:tgtEl>
                                      </p:cBhvr>
                                    </p:animEffect>
                                  </p:childTnLst>
                                </p:cTn>
                              </p:par>
                              <p:par>
                                <p:cTn id="144" presetID="10" presetClass="entr" presetSubtype="0" fill="hold" nodeType="withEffect">
                                  <p:stCondLst>
                                    <p:cond delay="1800"/>
                                  </p:stCondLst>
                                  <p:childTnLst>
                                    <p:set>
                                      <p:cBhvr>
                                        <p:cTn id="145" dur="1" fill="hold">
                                          <p:stCondLst>
                                            <p:cond delay="0"/>
                                          </p:stCondLst>
                                        </p:cTn>
                                        <p:tgtEl>
                                          <p:spTgt spid="35"/>
                                        </p:tgtEl>
                                        <p:attrNameLst>
                                          <p:attrName>style.visibility</p:attrName>
                                        </p:attrNameLst>
                                      </p:cBhvr>
                                      <p:to>
                                        <p:strVal val="visible"/>
                                      </p:to>
                                    </p:set>
                                    <p:animEffect transition="in" filter="fade">
                                      <p:cBhvr>
                                        <p:cTn id="146" dur="1000"/>
                                        <p:tgtEl>
                                          <p:spTgt spid="35"/>
                                        </p:tgtEl>
                                      </p:cBhvr>
                                    </p:animEffect>
                                  </p:childTnLst>
                                </p:cTn>
                              </p:par>
                              <p:par>
                                <p:cTn id="148" presetID="10" presetClass="entr" presetSubtype="0" fill="hold" nodeType="withEffect">
                                  <p:stCondLst>
                                    <p:cond delay="1800"/>
                                  </p:stCondLst>
                                  <p:childTnLst>
                                    <p:set>
                                      <p:cBhvr>
                                        <p:cTn id="149" dur="1" fill="hold">
                                          <p:stCondLst>
                                            <p:cond delay="0"/>
                                          </p:stCondLst>
                                        </p:cTn>
                                        <p:tgtEl>
                                          <p:spTgt spid="36"/>
                                        </p:tgtEl>
                                        <p:attrNameLst>
                                          <p:attrName>style.visibility</p:attrName>
                                        </p:attrNameLst>
                                      </p:cBhvr>
                                      <p:to>
                                        <p:strVal val="visible"/>
                                      </p:to>
                                    </p:set>
                                    <p:animEffect transition="in" filter="fade">
                                      <p:cBhvr>
                                        <p:cTn id="150" dur="1000"/>
                                        <p:tgtEl>
                                          <p:spTgt spid="36"/>
                                        </p:tgtEl>
                                      </p:cBhvr>
                                    </p:animEffect>
                                  </p:childTnLst>
                                </p:cTn>
                              </p:par>
                              <p:par>
                                <p:cTn id="152" presetID="10" presetClass="entr" presetSubtype="0" fill="hold" nodeType="withEffect">
                                  <p:stCondLst>
                                    <p:cond delay="180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4" dur="1000"/>
                                        <p:tgtEl>
                                          <p:spTgt spid="37"/>
                                        </p:tgtEl>
                                      </p:cBhvr>
                                    </p:animEffect>
                                  </p:childTnLst>
                                </p:cTn>
                              </p:par>
                              <p:par>
                                <p:cTn id="156" presetID="10" presetClass="entr" presetSubtype="0" fill="hold" nodeType="withEffect">
                                  <p:stCondLst>
                                    <p:cond delay="1800"/>
                                  </p:stCondLst>
                                  <p:childTnLst>
                                    <p:set>
                                      <p:cBhvr>
                                        <p:cTn id="157" dur="1" fill="hold">
                                          <p:stCondLst>
                                            <p:cond delay="0"/>
                                          </p:stCondLst>
                                        </p:cTn>
                                        <p:tgtEl>
                                          <p:spTgt spid="38"/>
                                        </p:tgtEl>
                                        <p:attrNameLst>
                                          <p:attrName>style.visibility</p:attrName>
                                        </p:attrNameLst>
                                      </p:cBhvr>
                                      <p:to>
                                        <p:strVal val="visible"/>
                                      </p:to>
                                    </p:set>
                                    <p:animEffect transition="in" filter="fade">
                                      <p:cBhvr>
                                        <p:cTn id="158" dur="1000"/>
                                        <p:tgtEl>
                                          <p:spTgt spid="38"/>
                                        </p:tgtEl>
                                      </p:cBhvr>
                                    </p:animEffect>
                                  </p:childTnLst>
                                </p:cTn>
                              </p:par>
                              <p:par>
                                <p:cTn id="160" presetID="10" presetClass="entr" presetSubtype="0" fill="hold" nodeType="withEffect">
                                  <p:stCondLst>
                                    <p:cond delay="180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1000"/>
                                        <p:tgtEl>
                                          <p:spTgt spid="39"/>
                                        </p:tgtEl>
                                      </p:cBhvr>
                                    </p:animEffect>
                                  </p:childTnLst>
                                </p:cTn>
                              </p:par>
                              <p:par>
                                <p:cTn id="164" presetID="10" presetClass="entr" presetSubtype="0" fill="hold" nodeType="withEffect">
                                  <p:stCondLst>
                                    <p:cond delay="1800"/>
                                  </p:stCondLst>
                                  <p:childTnLst>
                                    <p:set>
                                      <p:cBhvr>
                                        <p:cTn id="165" dur="1" fill="hold">
                                          <p:stCondLst>
                                            <p:cond delay="0"/>
                                          </p:stCondLst>
                                        </p:cTn>
                                        <p:tgtEl>
                                          <p:spTgt spid="40"/>
                                        </p:tgtEl>
                                        <p:attrNameLst>
                                          <p:attrName>style.visibility</p:attrName>
                                        </p:attrNameLst>
                                      </p:cBhvr>
                                      <p:to>
                                        <p:strVal val="visible"/>
                                      </p:to>
                                    </p:set>
                                    <p:animEffect transition="in" filter="fade">
                                      <p:cBhvr>
                                        <p:cTn id="166" dur="1000"/>
                                        <p:tgtEl>
                                          <p:spTgt spid="40"/>
                                        </p:tgtEl>
                                      </p:cBhvr>
                                    </p:animEffect>
                                  </p:childTnLst>
                                </p:cTn>
                              </p:par>
                              <p:par>
                                <p:cTn id="168" presetID="10" presetClass="entr" presetSubtype="0" fill="hold" nodeType="withEffect">
                                  <p:stCondLst>
                                    <p:cond delay="1800"/>
                                  </p:stCondLst>
                                  <p:childTnLst>
                                    <p:set>
                                      <p:cBhvr>
                                        <p:cTn id="169" dur="1" fill="hold">
                                          <p:stCondLst>
                                            <p:cond delay="0"/>
                                          </p:stCondLst>
                                        </p:cTn>
                                        <p:tgtEl>
                                          <p:spTgt spid="41"/>
                                        </p:tgtEl>
                                        <p:attrNameLst>
                                          <p:attrName>style.visibility</p:attrName>
                                        </p:attrNameLst>
                                      </p:cBhvr>
                                      <p:to>
                                        <p:strVal val="visible"/>
                                      </p:to>
                                    </p:set>
                                    <p:animEffect transition="in" filter="fade">
                                      <p:cBhvr>
                                        <p:cTn id="170" dur="1000"/>
                                        <p:tgtEl>
                                          <p:spTgt spid="41"/>
                                        </p:tgtEl>
                                      </p:cBhvr>
                                    </p:animEffect>
                                  </p:childTnLst>
                                </p:cTn>
                              </p:par>
                              <p:par>
                                <p:cTn id="172" presetID="10" presetClass="entr" presetSubtype="0" fill="hold" nodeType="withEffect">
                                  <p:stCondLst>
                                    <p:cond delay="1800"/>
                                  </p:stCondLst>
                                  <p:childTnLst>
                                    <p:set>
                                      <p:cBhvr>
                                        <p:cTn id="173" dur="1" fill="hold">
                                          <p:stCondLst>
                                            <p:cond delay="0"/>
                                          </p:stCondLst>
                                        </p:cTn>
                                        <p:tgtEl>
                                          <p:spTgt spid="42"/>
                                        </p:tgtEl>
                                        <p:attrNameLst>
                                          <p:attrName>style.visibility</p:attrName>
                                        </p:attrNameLst>
                                      </p:cBhvr>
                                      <p:to>
                                        <p:strVal val="visible"/>
                                      </p:to>
                                    </p:set>
                                    <p:animEffect transition="in" filter="fade">
                                      <p:cBhvr>
                                        <p:cTn id="174" dur="1000"/>
                                        <p:tgtEl>
                                          <p:spTgt spid="42"/>
                                        </p:tgtEl>
                                      </p:cBhvr>
                                    </p:animEffect>
                                  </p:childTnLst>
                                </p:cTn>
                              </p:par>
                              <p:par>
                                <p:cTn id="176" presetID="10" presetClass="entr" presetSubtype="0" fill="hold" nodeType="withEffect">
                                  <p:stCondLst>
                                    <p:cond delay="1800"/>
                                  </p:stCondLst>
                                  <p:childTnLst>
                                    <p:set>
                                      <p:cBhvr>
                                        <p:cTn id="177" dur="1" fill="hold">
                                          <p:stCondLst>
                                            <p:cond delay="0"/>
                                          </p:stCondLst>
                                        </p:cTn>
                                        <p:tgtEl>
                                          <p:spTgt spid="43"/>
                                        </p:tgtEl>
                                        <p:attrNameLst>
                                          <p:attrName>style.visibility</p:attrName>
                                        </p:attrNameLst>
                                      </p:cBhvr>
                                      <p:to>
                                        <p:strVal val="visible"/>
                                      </p:to>
                                    </p:set>
                                    <p:animEffect transition="in" filter="fade">
                                      <p:cBhvr>
                                        <p:cTn id="178" dur="1000"/>
                                        <p:tgtEl>
                                          <p:spTgt spid="43"/>
                                        </p:tgtEl>
                                      </p:cBhvr>
                                    </p:animEffect>
                                  </p:childTnLst>
                                </p:cTn>
                              </p:par>
                              <p:par>
                                <p:cTn id="180" presetID="10" presetClass="entr" presetSubtype="0" fill="hold" nodeType="withEffect">
                                  <p:stCondLst>
                                    <p:cond delay="1800"/>
                                  </p:stCondLst>
                                  <p:childTnLst>
                                    <p:set>
                                      <p:cBhvr>
                                        <p:cTn id="181" dur="1" fill="hold">
                                          <p:stCondLst>
                                            <p:cond delay="0"/>
                                          </p:stCondLst>
                                        </p:cTn>
                                        <p:tgtEl>
                                          <p:spTgt spid="44"/>
                                        </p:tgtEl>
                                        <p:attrNameLst>
                                          <p:attrName>style.visibility</p:attrName>
                                        </p:attrNameLst>
                                      </p:cBhvr>
                                      <p:to>
                                        <p:strVal val="visible"/>
                                      </p:to>
                                    </p:set>
                                    <p:animEffect transition="in" filter="fade">
                                      <p:cBhvr>
                                        <p:cTn id="182"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Choosing the logo and the palette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We combined the strongest parts of two proposals</a:t>
            </a:r>
          </a:p>
        </p:txBody>
      </p:sp>
      <p:sp>
        <p:nvSpPr>
          <p:cNvPr id="5" name="Rounded Rectangle 4"/>
          <p:cNvSpPr/>
          <p:nvPr/>
        </p:nvSpPr>
        <p:spPr>
          <a:xfrm>
            <a:off x="640080" y="1783080"/>
            <a:ext cx="539496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20240"/>
            <a:ext cx="4937760" cy="457200"/>
          </a:xfrm>
          <a:prstGeom prst="rect">
            <a:avLst/>
          </a:prstGeom>
          <a:noFill/>
        </p:spPr>
        <p:txBody>
          <a:bodyPr wrap="square" anchor="t" lIns="45720" rIns="45720">
            <a:spAutoFit/>
          </a:bodyPr>
          <a:lstStyle/>
          <a:p>
            <a:pPr algn="l">
              <a:spcAft>
                <a:spcPts val="600"/>
              </a:spcAft>
            </a:pPr>
            <a:r>
              <a:rPr sz="2100" b="1">
                <a:solidFill>
                  <a:srgbClr val="5A3E2B"/>
                </a:solidFill>
                <a:latin typeface="Book Antiqua"/>
              </a:rPr>
              <a:t>Logo: Mohamed's dog, 27 vs 21</a:t>
            </a:r>
          </a:p>
        </p:txBody>
      </p:sp>
      <p:sp>
        <p:nvSpPr>
          <p:cNvPr id="7" name="TextBox 6"/>
          <p:cNvSpPr txBox="1"/>
          <p:nvPr/>
        </p:nvSpPr>
        <p:spPr>
          <a:xfrm>
            <a:off x="868680" y="2560320"/>
            <a:ext cx="4937760" cy="4114800"/>
          </a:xfrm>
          <a:prstGeom prst="rect">
            <a:avLst/>
          </a:prstGeom>
          <a:noFill/>
        </p:spPr>
        <p:txBody>
          <a:bodyPr wrap="square">
            <a:spAutoFit/>
          </a:bodyPr>
          <a:lstStyle/>
          <a:p>
            <a:pPr>
              <a:spcAft>
                <a:spcPts val="800"/>
              </a:spcAft>
            </a:pPr>
            <a:r>
              <a:rPr sz="1600">
                <a:solidFill>
                  <a:srgbClr val="2F302D"/>
                </a:solidFill>
                <a:latin typeface="Calibri"/>
              </a:rPr>
              <a:t>•  Scored higher for representing the business, being easy to recognise and suiting the app</a:t>
            </a:r>
          </a:p>
          <a:p>
            <a:pPr>
              <a:spcAft>
                <a:spcPts val="800"/>
              </a:spcAft>
            </a:pPr>
            <a:r>
              <a:rPr sz="1600">
                <a:solidFill>
                  <a:srgbClr val="2F302D"/>
                </a:solidFill>
                <a:latin typeface="Calibri"/>
              </a:rPr>
              <a:t>•  Kept the design and changed only the colours</a:t>
            </a:r>
          </a:p>
          <a:p>
            <a:pPr>
              <a:spcAft>
                <a:spcPts val="800"/>
              </a:spcAft>
            </a:pPr>
            <a:r>
              <a:rPr sz="1600">
                <a:solidFill>
                  <a:srgbClr val="2F302D"/>
                </a:solidFill>
                <a:latin typeface="Calibri"/>
              </a:rPr>
              <a:t>•  Recolour vs redesign was a 50-50 vote, broken by a wheel spin</a:t>
            </a:r>
          </a:p>
        </p:txBody>
      </p:sp>
      <p:sp>
        <p:nvSpPr>
          <p:cNvPr id="8" name="Rounded Rectangle 7"/>
          <p:cNvSpPr/>
          <p:nvPr/>
        </p:nvSpPr>
        <p:spPr>
          <a:xfrm>
            <a:off x="6309360" y="1783080"/>
            <a:ext cx="530352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20240"/>
            <a:ext cx="4846320" cy="457200"/>
          </a:xfrm>
          <a:prstGeom prst="rect">
            <a:avLst/>
          </a:prstGeom>
          <a:noFill/>
        </p:spPr>
        <p:txBody>
          <a:bodyPr wrap="square" anchor="t" lIns="45720" rIns="45720">
            <a:spAutoFit/>
          </a:bodyPr>
          <a:lstStyle/>
          <a:p>
            <a:pPr algn="l">
              <a:spcAft>
                <a:spcPts val="600"/>
              </a:spcAft>
            </a:pPr>
            <a:r>
              <a:rPr sz="2100" b="1">
                <a:solidFill>
                  <a:srgbClr val="5A3E2B"/>
                </a:solidFill>
                <a:latin typeface="Book Antiqua"/>
              </a:rPr>
              <a:t>Palette: Kelebogile's</a:t>
            </a:r>
          </a:p>
        </p:txBody>
      </p:sp>
      <p:sp>
        <p:nvSpPr>
          <p:cNvPr id="10" name="Rounded Rectangle 9"/>
          <p:cNvSpPr/>
          <p:nvPr/>
        </p:nvSpPr>
        <p:spPr>
          <a:xfrm>
            <a:off x="6537960" y="2560320"/>
            <a:ext cx="1371600" cy="1097280"/>
          </a:xfrm>
          <a:prstGeom prst="roundRect">
            <a:avLst>
              <a:gd name="adj" fmla="val 6000"/>
            </a:avLst>
          </a:prstGeom>
          <a:solidFill>
            <a:srgbClr val="FFFDD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3703320"/>
            <a:ext cx="1371600" cy="36576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#FFFDD0</a:t>
            </a:r>
          </a:p>
        </p:txBody>
      </p:sp>
      <p:sp>
        <p:nvSpPr>
          <p:cNvPr id="12" name="Rounded Rectangle 11"/>
          <p:cNvSpPr/>
          <p:nvPr/>
        </p:nvSpPr>
        <p:spPr>
          <a:xfrm>
            <a:off x="8092440" y="2560320"/>
            <a:ext cx="1371600" cy="1097280"/>
          </a:xfrm>
          <a:prstGeom prst="roundRect">
            <a:avLst>
              <a:gd name="adj" fmla="val 6000"/>
            </a:avLst>
          </a:prstGeom>
          <a:solidFill>
            <a:srgbClr val="B0E0E6"/>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703320"/>
            <a:ext cx="1371600" cy="36576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#B0E0E6</a:t>
            </a:r>
          </a:p>
        </p:txBody>
      </p:sp>
      <p:sp>
        <p:nvSpPr>
          <p:cNvPr id="14" name="Rounded Rectangle 13"/>
          <p:cNvSpPr/>
          <p:nvPr/>
        </p:nvSpPr>
        <p:spPr>
          <a:xfrm>
            <a:off x="9646920" y="2560320"/>
            <a:ext cx="1371600" cy="1097280"/>
          </a:xfrm>
          <a:prstGeom prst="roundRect">
            <a:avLst>
              <a:gd name="adj" fmla="val 6000"/>
            </a:avLst>
          </a:prstGeom>
          <a:solidFill>
            <a:srgbClr val="C68B59"/>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703320"/>
            <a:ext cx="1371600" cy="36576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#C68B59</a:t>
            </a:r>
          </a:p>
        </p:txBody>
      </p:sp>
      <p:sp>
        <p:nvSpPr>
          <p:cNvPr id="16" name="TextBox 15"/>
          <p:cNvSpPr txBox="1"/>
          <p:nvPr/>
        </p:nvSpPr>
        <p:spPr>
          <a:xfrm>
            <a:off x="6537960" y="4206240"/>
            <a:ext cx="4846320" cy="164592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Chosen over Mohamed's coral and sage palette because it felt softer and more welcoming, while still caring and professional.</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1000"/>
                                        <p:tgtEl>
                                          <p:spTgt spid="11"/>
                                        </p:tgtEl>
                                      </p:cBhvr>
                                    </p:animEffect>
                                  </p:childTnLst>
                                </p:cTn>
                              </p:par>
                              <p:par>
                                <p:cTn id="52" presetID="10" presetClass="entr" presetSubtype="0" fill="hold" nodeType="withEffect">
                                  <p:stCondLst>
                                    <p:cond delay="180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childTnLst>
                                </p:cTn>
                              </p:par>
                              <p:par>
                                <p:cTn id="56" presetID="10" presetClass="entr" presetSubtype="0" fill="hold" nodeType="withEffect">
                                  <p:stCondLst>
                                    <p:cond delay="180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childTnLst>
                                </p:cTn>
                              </p:par>
                              <p:par>
                                <p:cTn id="60" presetID="10" presetClass="entr" presetSubtype="0" fill="hold" nodeType="withEffect">
                                  <p:stCondLst>
                                    <p:cond delay="18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Why the dog, the heart and the vines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Every part of the logo says something about the academy</a:t>
            </a:r>
          </a:p>
        </p:txBody>
      </p:sp>
      <p:sp>
        <p:nvSpPr>
          <p:cNvPr id="5" name="Rounded Rectangle 4"/>
          <p:cNvSpPr/>
          <p:nvPr/>
        </p:nvSpPr>
        <p:spPr>
          <a:xfrm>
            <a:off x="640080" y="1828800"/>
            <a:ext cx="3566160" cy="33832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3108960" cy="548640"/>
          </a:xfrm>
          <a:prstGeom prst="rect">
            <a:avLst/>
          </a:prstGeom>
          <a:noFill/>
        </p:spPr>
        <p:txBody>
          <a:bodyPr wrap="square" anchor="t" lIns="45720" rIns="45720">
            <a:spAutoFit/>
          </a:bodyPr>
          <a:lstStyle/>
          <a:p>
            <a:pPr algn="l">
              <a:spcAft>
                <a:spcPts val="600"/>
              </a:spcAft>
            </a:pPr>
            <a:r>
              <a:rPr sz="2600" b="1">
                <a:solidFill>
                  <a:srgbClr val="5A3E2B"/>
                </a:solidFill>
                <a:latin typeface="Book Antiqua"/>
              </a:rPr>
              <a:t>The dog</a:t>
            </a:r>
          </a:p>
        </p:txBody>
      </p:sp>
      <p:sp>
        <p:nvSpPr>
          <p:cNvPr id="7" name="TextBox 6"/>
          <p:cNvSpPr txBox="1"/>
          <p:nvPr/>
        </p:nvSpPr>
        <p:spPr>
          <a:xfrm>
            <a:off x="868680" y="2743200"/>
            <a:ext cx="3108960" cy="237744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Most of our courses are dog-based, so the dog is the main focus. The smiling face feels friendly and approachable, which is what Sarah wanted.</a:t>
            </a:r>
          </a:p>
        </p:txBody>
      </p:sp>
      <p:sp>
        <p:nvSpPr>
          <p:cNvPr id="8" name="Rounded Rectangle 7"/>
          <p:cNvSpPr/>
          <p:nvPr/>
        </p:nvSpPr>
        <p:spPr>
          <a:xfrm>
            <a:off x="4434840" y="1828800"/>
            <a:ext cx="3566160" cy="33832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011680"/>
            <a:ext cx="3108960" cy="548640"/>
          </a:xfrm>
          <a:prstGeom prst="rect">
            <a:avLst/>
          </a:prstGeom>
          <a:noFill/>
        </p:spPr>
        <p:txBody>
          <a:bodyPr wrap="square" anchor="t" lIns="45720" rIns="45720">
            <a:spAutoFit/>
          </a:bodyPr>
          <a:lstStyle/>
          <a:p>
            <a:pPr algn="l">
              <a:spcAft>
                <a:spcPts val="600"/>
              </a:spcAft>
            </a:pPr>
            <a:r>
              <a:rPr sz="2600" b="1">
                <a:solidFill>
                  <a:srgbClr val="5A3E2B"/>
                </a:solidFill>
                <a:latin typeface="Book Antiqua"/>
              </a:rPr>
              <a:t>The heart</a:t>
            </a:r>
          </a:p>
        </p:txBody>
      </p:sp>
      <p:sp>
        <p:nvSpPr>
          <p:cNvPr id="10" name="TextBox 9"/>
          <p:cNvSpPr txBox="1"/>
          <p:nvPr/>
        </p:nvSpPr>
        <p:spPr>
          <a:xfrm>
            <a:off x="4663440" y="2743200"/>
            <a:ext cx="3108960" cy="237744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A soft heart on the chest shows the care that owners should give their animals. It is the caring side of what the academy teaches.</a:t>
            </a:r>
          </a:p>
        </p:txBody>
      </p:sp>
      <p:sp>
        <p:nvSpPr>
          <p:cNvPr id="11" name="Rounded Rectangle 10"/>
          <p:cNvSpPr/>
          <p:nvPr/>
        </p:nvSpPr>
        <p:spPr>
          <a:xfrm>
            <a:off x="8229600" y="1828800"/>
            <a:ext cx="3566160" cy="33832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2011680"/>
            <a:ext cx="3108960" cy="548640"/>
          </a:xfrm>
          <a:prstGeom prst="rect">
            <a:avLst/>
          </a:prstGeom>
          <a:noFill/>
        </p:spPr>
        <p:txBody>
          <a:bodyPr wrap="square" anchor="t" lIns="45720" rIns="45720">
            <a:spAutoFit/>
          </a:bodyPr>
          <a:lstStyle/>
          <a:p>
            <a:pPr algn="l">
              <a:spcAft>
                <a:spcPts val="600"/>
              </a:spcAft>
            </a:pPr>
            <a:r>
              <a:rPr sz="2600" b="1">
                <a:solidFill>
                  <a:srgbClr val="5A3E2B"/>
                </a:solidFill>
                <a:latin typeface="Book Antiqua"/>
              </a:rPr>
              <a:t>The vines</a:t>
            </a:r>
          </a:p>
        </p:txBody>
      </p:sp>
      <p:sp>
        <p:nvSpPr>
          <p:cNvPr id="13" name="TextBox 12"/>
          <p:cNvSpPr txBox="1"/>
          <p:nvPr/>
        </p:nvSpPr>
        <p:spPr>
          <a:xfrm>
            <a:off x="8458200" y="2743200"/>
            <a:ext cx="3108960" cy="237744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Vines and leaves around the dog stand for nature, growth and wellbeing. That fits pet care, training and a calm, healthy brand.</a:t>
            </a:r>
          </a:p>
        </p:txBody>
      </p:sp>
      <p:sp>
        <p:nvSpPr>
          <p:cNvPr id="14" name="Rounded Rectangle 13"/>
          <p:cNvSpPr/>
          <p:nvPr/>
        </p:nvSpPr>
        <p:spPr>
          <a:xfrm>
            <a:off x="640080" y="5440680"/>
            <a:ext cx="10972800" cy="822960"/>
          </a:xfrm>
          <a:prstGeom prst="roundRect">
            <a:avLst>
              <a:gd name="adj" fmla="val 6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32120"/>
            <a:ext cx="10515600" cy="640080"/>
          </a:xfrm>
          <a:prstGeom prst="rect">
            <a:avLst/>
          </a:prstGeom>
          <a:noFill/>
        </p:spPr>
        <p:txBody>
          <a:bodyPr wrap="square" anchor="ctr" lIns="45720" rIns="45720">
            <a:spAutoFit/>
          </a:bodyPr>
          <a:lstStyle/>
          <a:p>
            <a:pPr algn="l">
              <a:spcAft>
                <a:spcPts val="600"/>
              </a:spcAft>
            </a:pPr>
            <a:r>
              <a:rPr sz="1700" b="0">
                <a:solidFill>
                  <a:srgbClr val="FFFFFF"/>
                </a:solidFill>
                <a:latin typeface="Calibri"/>
              </a:rPr>
              <a:t>Why recolour and not redesign? The brand mark already worked. Recolouring kept it simple and professional and tied it to the group palette.</a:t>
            </a:r>
          </a:p>
        </p:txBody>
      </p:sp>
      <p:sp>
        <p:nvSpPr>
          <p:cNvPr id="16" name="TextBox 15"/>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childTnLst>
                                </p:cTn>
                              </p:par>
                              <p:par>
                                <p:cTn id="28" presetID="10" presetClass="entr" presetSubtype="0" fill="hold" nodeType="withEffect">
                                  <p:stCondLst>
                                    <p:cond delay="9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par>
                                <p:cTn id="32" presetID="10" presetClass="entr" presetSubtype="0" fill="hold" nodeType="withEffect">
                                  <p:stCondLst>
                                    <p:cond delay="10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childTnLst>
                                </p:cTn>
                              </p:par>
                              <p:par>
                                <p:cTn id="36" presetID="10" presetClass="entr" presetSubtype="0" fill="hold" nodeType="withEffect">
                                  <p:stCondLst>
                                    <p:cond delay="12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childTnLst>
                                </p:cTn>
                              </p:par>
                              <p:par>
                                <p:cTn id="48" presetID="10" presetClass="entr" presetSubtype="0" fill="hold" nodeType="withEffect">
                                  <p:stCondLst>
                                    <p:cond delay="165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1000"/>
                                        <p:tgtEl>
                                          <p:spTgt spid="13"/>
                                        </p:tgtEl>
                                      </p:cBhvr>
                                    </p:animEffect>
                                  </p:childTnLst>
                                </p:cTn>
                              </p:par>
                              <p:par>
                                <p:cTn id="52" presetID="10" presetClass="entr" presetSubtype="0" fill="hold" nodeType="withEffect">
                                  <p:stCondLst>
                                    <p:cond delay="180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0"/>
                                        <p:tgtEl>
                                          <p:spTgt spid="14"/>
                                        </p:tgtEl>
                                      </p:cBhvr>
                                    </p:animEffect>
                                  </p:childTnLst>
                                </p:cTn>
                              </p:par>
                              <p:par>
                                <p:cTn id="56" presetID="10" presetClass="entr" presetSubtype="0" fill="hold" nodeType="withEffect">
                                  <p:stCondLst>
                                    <p:cond delay="180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589520" y="822960"/>
            <a:ext cx="4389120" cy="2926080"/>
          </a:xfrm>
          <a:prstGeom prst="rect">
            <a:avLst/>
          </a:prstGeom>
          <a:noFill/>
        </p:spPr>
        <p:txBody>
          <a:bodyPr wrap="square" anchor="t" lIns="45720" rIns="45720">
            <a:spAutoFit/>
          </a:bodyPr>
          <a:lstStyle/>
          <a:p>
            <a:pPr algn="r">
              <a:spcAft>
                <a:spcPts val="600"/>
              </a:spcAft>
            </a:pPr>
            <a:r>
              <a:rPr sz="19000" b="1">
                <a:solidFill>
                  <a:srgbClr val="1E1E1E"/>
                </a:solidFill>
                <a:latin typeface="Book Antiqua"/>
              </a:rPr>
              <a:t>01</a:t>
            </a:r>
          </a:p>
        </p:txBody>
      </p:sp>
      <p:sp>
        <p:nvSpPr>
          <p:cNvPr id="3" name="TextBox 2"/>
          <p:cNvSpPr txBox="1"/>
          <p:nvPr/>
        </p:nvSpPr>
        <p:spPr>
          <a:xfrm>
            <a:off x="822960" y="1234440"/>
            <a:ext cx="7315200" cy="457200"/>
          </a:xfrm>
          <a:prstGeom prst="rect">
            <a:avLst/>
          </a:prstGeom>
          <a:noFill/>
        </p:spPr>
        <p:txBody>
          <a:bodyPr wrap="square" anchor="t" lIns="45720" rIns="45720">
            <a:spAutoFit/>
          </a:bodyPr>
          <a:lstStyle/>
          <a:p>
            <a:pPr algn="l">
              <a:spcAft>
                <a:spcPts val="600"/>
              </a:spcAft>
            </a:pPr>
            <a:r>
              <a:rPr sz="1400" b="1">
                <a:solidFill>
                  <a:srgbClr val="C68B59"/>
                </a:solidFill>
                <a:latin typeface="Calibri"/>
              </a:rPr>
              <a:t>PART 01 OF 03</a:t>
            </a:r>
          </a:p>
        </p:txBody>
      </p:sp>
      <p:sp>
        <p:nvSpPr>
          <p:cNvPr id="4" name="TextBox 3"/>
          <p:cNvSpPr txBox="1"/>
          <p:nvPr/>
        </p:nvSpPr>
        <p:spPr>
          <a:xfrm>
            <a:off x="822960" y="1920240"/>
            <a:ext cx="8686800" cy="1463040"/>
          </a:xfrm>
          <a:prstGeom prst="rect">
            <a:avLst/>
          </a:prstGeom>
          <a:noFill/>
        </p:spPr>
        <p:txBody>
          <a:bodyPr wrap="square" anchor="t" lIns="45720" rIns="45720">
            <a:spAutoFit/>
          </a:bodyPr>
          <a:lstStyle/>
          <a:p>
            <a:pPr algn="l">
              <a:spcAft>
                <a:spcPts val="600"/>
              </a:spcAft>
            </a:pPr>
            <a:r>
              <a:rPr sz="8800" b="1">
                <a:solidFill>
                  <a:srgbClr val="FFFFFF"/>
                </a:solidFill>
                <a:latin typeface="Book Antiqua"/>
              </a:rPr>
              <a:t>Kele</a:t>
            </a:r>
          </a:p>
        </p:txBody>
      </p:sp>
      <p:sp>
        <p:nvSpPr>
          <p:cNvPr id="5" name="Rectangle 4"/>
          <p:cNvSpPr/>
          <p:nvPr/>
        </p:nvSpPr>
        <p:spPr>
          <a:xfrm>
            <a:off x="896112" y="3520440"/>
            <a:ext cx="292608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9144000" cy="640080"/>
          </a:xfrm>
          <a:prstGeom prst="rect">
            <a:avLst/>
          </a:prstGeom>
          <a:noFill/>
        </p:spPr>
        <p:txBody>
          <a:bodyPr wrap="square" anchor="t" lIns="45720" rIns="45720">
            <a:spAutoFit/>
          </a:bodyPr>
          <a:lstStyle/>
          <a:p>
            <a:pPr algn="l">
              <a:spcAft>
                <a:spcPts val="600"/>
              </a:spcAft>
            </a:pPr>
            <a:r>
              <a:rPr sz="2600" b="0">
                <a:solidFill>
                  <a:srgbClr val="FFFDD0"/>
                </a:solidFill>
                <a:latin typeface="Calibri"/>
              </a:rPr>
              <a:t>Design and the website</a:t>
            </a:r>
          </a:p>
        </p:txBody>
      </p:sp>
      <p:sp>
        <p:nvSpPr>
          <p:cNvPr id="7" name="Rounded Rectangle 6"/>
          <p:cNvSpPr/>
          <p:nvPr/>
        </p:nvSpPr>
        <p:spPr>
          <a:xfrm>
            <a:off x="2779776" y="4754880"/>
            <a:ext cx="235915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Sitemap and journeys</a:t>
            </a:r>
          </a:p>
        </p:txBody>
      </p:sp>
      <p:sp>
        <p:nvSpPr>
          <p:cNvPr id="8" name="Rounded Rectangle 7"/>
          <p:cNvSpPr/>
          <p:nvPr/>
        </p:nvSpPr>
        <p:spPr>
          <a:xfrm>
            <a:off x="5321808" y="4754880"/>
            <a:ext cx="78181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Tools</a:t>
            </a:r>
          </a:p>
        </p:txBody>
      </p:sp>
      <p:sp>
        <p:nvSpPr>
          <p:cNvPr id="9" name="Rounded Rectangle 8"/>
          <p:cNvSpPr/>
          <p:nvPr/>
        </p:nvSpPr>
        <p:spPr>
          <a:xfrm>
            <a:off x="6286500" y="4754880"/>
            <a:ext cx="1517904"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Website tour</a:t>
            </a:r>
          </a:p>
        </p:txBody>
      </p:sp>
      <p:sp>
        <p:nvSpPr>
          <p:cNvPr id="10" name="Rounded Rectangle 9"/>
          <p:cNvSpPr/>
          <p:nvPr/>
        </p:nvSpPr>
        <p:spPr>
          <a:xfrm>
            <a:off x="7987284" y="4754880"/>
            <a:ext cx="2779776"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Course pages and contact</a:t>
            </a:r>
          </a:p>
        </p:txBody>
      </p:sp>
      <p:sp>
        <p:nvSpPr>
          <p:cNvPr id="11" name="Rounded Rectangle 8"/>
          <p:cNvSpPr/>
          <p:nvPr/>
        </p:nvSpPr>
        <p:spPr>
          <a:xfrm>
            <a:off x="868680" y="4754880"/>
            <a:ext cx="1728216"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Design choices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000"/>
                                        <p:tgtEl>
                                          <p:spTgt spid="2"/>
                                        </p:tgtEl>
                                      </p:cBhvr>
                                    </p:animEffect>
                                  </p:childTnLst>
                                </p:cTn>
                              </p:par>
                              <p:par>
                                <p:cTn id="8" presetID="10" presetClass="entr" presetSubtype="0" fill="hold" nodeType="withEffect">
                                  <p:stCondLst>
                                    <p:cond delay="4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200"/>
                                        <p:tgtEl>
                                          <p:spTgt spid="3"/>
                                        </p:tgtEl>
                                      </p:cBhvr>
                                    </p:animEffect>
                                  </p:childTnLst>
                                </p:cTn>
                              </p:par>
                              <p:par>
                                <p:cTn id="12" presetID="10" presetClass="entr" presetSubtype="0" fill="hold" nodeType="withEffect">
                                  <p:stCondLst>
                                    <p:cond delay="7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800"/>
                                        <p:tgtEl>
                                          <p:spTgt spid="4"/>
                                        </p:tgtEl>
                                      </p:cBhvr>
                                    </p:animEffect>
                                  </p:childTnLst>
                                </p:cTn>
                              </p:par>
                              <p:par>
                                <p:cTn id="16" presetID="22" presetClass="entr" presetSubtype="8" fill="hold" nodeType="withEffect">
                                  <p:stCondLst>
                                    <p:cond delay="180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par>
                                <p:cTn id="20" presetID="10" presetClass="entr" presetSubtype="0" fill="hold" nodeType="withEffect">
                                  <p:stCondLst>
                                    <p:cond delay="23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200"/>
                                        <p:tgtEl>
                                          <p:spTgt spid="6"/>
                                        </p:tgtEl>
                                      </p:cBhvr>
                                    </p:animEffect>
                                  </p:childTnLst>
                                </p:cTn>
                              </p:par>
                              <p:par>
                                <p:cTn id="24" presetID="10" presetClass="entr" presetSubtype="0" fill="hold" nodeType="withEffect">
                                  <p:stCondLst>
                                    <p:cond delay="30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900"/>
                                        <p:tgtEl>
                                          <p:spTgt spid="7"/>
                                        </p:tgtEl>
                                      </p:cBhvr>
                                    </p:animEffect>
                                  </p:childTnLst>
                                </p:cTn>
                              </p:par>
                              <p:par>
                                <p:cTn id="28" presetID="10" presetClass="entr" presetSubtype="0" fill="hold" nodeType="withEffect">
                                  <p:stCondLst>
                                    <p:cond delay="32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900"/>
                                        <p:tgtEl>
                                          <p:spTgt spid="8"/>
                                        </p:tgtEl>
                                      </p:cBhvr>
                                    </p:animEffect>
                                  </p:childTnLst>
                                </p:cTn>
                              </p:par>
                              <p:par>
                                <p:cTn id="32" presetID="10" presetClass="entr" presetSubtype="0" fill="hold" nodeType="withEffect">
                                  <p:stCondLst>
                                    <p:cond delay="34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900"/>
                                        <p:tgtEl>
                                          <p:spTgt spid="9"/>
                                        </p:tgtEl>
                                      </p:cBhvr>
                                    </p:animEffect>
                                  </p:childTnLst>
                                </p:cTn>
                              </p:par>
                              <p:par>
                                <p:cTn id="36" presetID="10" presetClass="entr" presetSubtype="0" fill="hold" nodeType="withEffect">
                                  <p:stCondLst>
                                    <p:cond delay="36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9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Sitemap and user journeys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Both platforms share the same structure</a:t>
            </a:r>
          </a:p>
        </p:txBody>
      </p:sp>
      <p:sp>
        <p:nvSpPr>
          <p:cNvPr id="5" name="Rounded Rectangle 4"/>
          <p:cNvSpPr/>
          <p:nvPr/>
        </p:nvSpPr>
        <p:spPr>
          <a:xfrm>
            <a:off x="640080" y="1783080"/>
            <a:ext cx="420624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65960"/>
            <a:ext cx="3657600" cy="457200"/>
          </a:xfrm>
          <a:prstGeom prst="rect">
            <a:avLst/>
          </a:prstGeom>
          <a:noFill/>
        </p:spPr>
        <p:txBody>
          <a:bodyPr wrap="square" anchor="t" lIns="45720" rIns="45720">
            <a:spAutoFit/>
          </a:bodyPr>
          <a:lstStyle/>
          <a:p>
            <a:pPr algn="l">
              <a:spcAft>
                <a:spcPts val="600"/>
              </a:spcAft>
            </a:pPr>
            <a:r>
              <a:rPr sz="1700" b="1">
                <a:solidFill>
                  <a:srgbClr val="5A3E2B"/>
                </a:solidFill>
                <a:latin typeface="Calibri"/>
              </a:rPr>
              <a:t>Home</a:t>
            </a:r>
          </a:p>
        </p:txBody>
      </p:sp>
      <p:sp>
        <p:nvSpPr>
          <p:cNvPr id="7" name="TextBox 6"/>
          <p:cNvSpPr txBox="1"/>
          <p:nvPr/>
        </p:nvSpPr>
        <p:spPr>
          <a:xfrm>
            <a:off x="1280160" y="2606039"/>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About Us</a:t>
            </a:r>
          </a:p>
        </p:txBody>
      </p:sp>
      <p:sp>
        <p:nvSpPr>
          <p:cNvPr id="8" name="TextBox 7"/>
          <p:cNvSpPr txBox="1"/>
          <p:nvPr/>
        </p:nvSpPr>
        <p:spPr>
          <a:xfrm>
            <a:off x="1280160" y="3246120"/>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Summary page (all courses)</a:t>
            </a:r>
          </a:p>
        </p:txBody>
      </p:sp>
      <p:sp>
        <p:nvSpPr>
          <p:cNvPr id="9" name="TextBox 8"/>
          <p:cNvSpPr txBox="1"/>
          <p:nvPr/>
        </p:nvSpPr>
        <p:spPr>
          <a:xfrm>
            <a:off x="1280160" y="3886200"/>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Detail pages (one per course)</a:t>
            </a:r>
          </a:p>
        </p:txBody>
      </p:sp>
      <p:sp>
        <p:nvSpPr>
          <p:cNvPr id="10" name="TextBox 9"/>
          <p:cNvSpPr txBox="1"/>
          <p:nvPr/>
        </p:nvSpPr>
        <p:spPr>
          <a:xfrm>
            <a:off x="1280160" y="4526279"/>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Fees Calculator</a:t>
            </a:r>
          </a:p>
        </p:txBody>
      </p:sp>
      <p:sp>
        <p:nvSpPr>
          <p:cNvPr id="11" name="TextBox 10"/>
          <p:cNvSpPr txBox="1"/>
          <p:nvPr/>
        </p:nvSpPr>
        <p:spPr>
          <a:xfrm>
            <a:off x="1280160" y="5166360"/>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Contact Us</a:t>
            </a:r>
          </a:p>
        </p:txBody>
      </p:sp>
      <p:sp>
        <p:nvSpPr>
          <p:cNvPr id="12" name="Rounded Rectangle 11"/>
          <p:cNvSpPr/>
          <p:nvPr/>
        </p:nvSpPr>
        <p:spPr>
          <a:xfrm>
            <a:off x="5212080" y="1783080"/>
            <a:ext cx="320040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9240" y="1874519"/>
            <a:ext cx="2926080" cy="731520"/>
          </a:xfrm>
          <a:prstGeom prst="rect">
            <a:avLst/>
          </a:prstGeom>
          <a:noFill/>
        </p:spPr>
        <p:txBody>
          <a:bodyPr wrap="square" anchor="t" lIns="45720" rIns="45720">
            <a:spAutoFit/>
          </a:bodyPr>
          <a:lstStyle/>
          <a:p>
            <a:pPr algn="l">
              <a:spcAft>
                <a:spcPts val="600"/>
              </a:spcAft>
            </a:pPr>
            <a:r>
              <a:rPr sz="1800" b="1">
                <a:solidFill>
                  <a:srgbClr val="5A3E2B"/>
                </a:solidFill>
                <a:latin typeface="Book Antiqua"/>
              </a:rPr>
              <a:t>Journey 1: Viewing courses</a:t>
            </a:r>
          </a:p>
        </p:txBody>
      </p:sp>
      <p:sp>
        <p:nvSpPr>
          <p:cNvPr id="14" name="TextBox 13"/>
          <p:cNvSpPr txBox="1"/>
          <p:nvPr/>
        </p:nvSpPr>
        <p:spPr>
          <a:xfrm>
            <a:off x="5349240" y="274320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1. Land on Home</a:t>
            </a:r>
          </a:p>
        </p:txBody>
      </p:sp>
      <p:sp>
        <p:nvSpPr>
          <p:cNvPr id="15" name="TextBox 14"/>
          <p:cNvSpPr txBox="1"/>
          <p:nvPr/>
        </p:nvSpPr>
        <p:spPr>
          <a:xfrm>
            <a:off x="5349240" y="352044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2. Open Courses</a:t>
            </a:r>
          </a:p>
        </p:txBody>
      </p:sp>
      <p:sp>
        <p:nvSpPr>
          <p:cNvPr id="16" name="TextBox 15"/>
          <p:cNvSpPr txBox="1"/>
          <p:nvPr/>
        </p:nvSpPr>
        <p:spPr>
          <a:xfrm>
            <a:off x="5349240" y="429768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3. Pick a course</a:t>
            </a:r>
          </a:p>
        </p:txBody>
      </p:sp>
      <p:sp>
        <p:nvSpPr>
          <p:cNvPr id="17" name="TextBox 16"/>
          <p:cNvSpPr txBox="1"/>
          <p:nvPr/>
        </p:nvSpPr>
        <p:spPr>
          <a:xfrm>
            <a:off x="5349240" y="507492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4. Read description, length and fee</a:t>
            </a:r>
          </a:p>
        </p:txBody>
      </p:sp>
      <p:sp>
        <p:nvSpPr>
          <p:cNvPr id="18" name="Rounded Rectangle 17"/>
          <p:cNvSpPr/>
          <p:nvPr/>
        </p:nvSpPr>
        <p:spPr>
          <a:xfrm>
            <a:off x="8595360" y="1783080"/>
            <a:ext cx="3200400" cy="420624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20" y="1874519"/>
            <a:ext cx="2926080" cy="731520"/>
          </a:xfrm>
          <a:prstGeom prst="rect">
            <a:avLst/>
          </a:prstGeom>
          <a:noFill/>
        </p:spPr>
        <p:txBody>
          <a:bodyPr wrap="square" anchor="t" lIns="45720" rIns="45720">
            <a:spAutoFit/>
          </a:bodyPr>
          <a:lstStyle/>
          <a:p>
            <a:pPr algn="l">
              <a:spcAft>
                <a:spcPts val="600"/>
              </a:spcAft>
            </a:pPr>
            <a:r>
              <a:rPr sz="1800" b="1">
                <a:solidFill>
                  <a:srgbClr val="5A3E2B"/>
                </a:solidFill>
                <a:latin typeface="Book Antiqua"/>
              </a:rPr>
              <a:t>Journey 2: Requesting a quote</a:t>
            </a:r>
          </a:p>
        </p:txBody>
      </p:sp>
      <p:sp>
        <p:nvSpPr>
          <p:cNvPr id="20" name="TextBox 19"/>
          <p:cNvSpPr txBox="1"/>
          <p:nvPr/>
        </p:nvSpPr>
        <p:spPr>
          <a:xfrm>
            <a:off x="8732520" y="274320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1. Select courses</a:t>
            </a:r>
          </a:p>
        </p:txBody>
      </p:sp>
      <p:sp>
        <p:nvSpPr>
          <p:cNvPr id="21" name="TextBox 20"/>
          <p:cNvSpPr txBox="1"/>
          <p:nvPr/>
        </p:nvSpPr>
        <p:spPr>
          <a:xfrm>
            <a:off x="8732520" y="352044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2. Open Fees Calculator</a:t>
            </a:r>
          </a:p>
        </p:txBody>
      </p:sp>
      <p:sp>
        <p:nvSpPr>
          <p:cNvPr id="22" name="TextBox 21"/>
          <p:cNvSpPr txBox="1"/>
          <p:nvPr/>
        </p:nvSpPr>
        <p:spPr>
          <a:xfrm>
            <a:off x="8732520" y="429768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3. Discount calculated automatically</a:t>
            </a:r>
          </a:p>
        </p:txBody>
      </p:sp>
      <p:sp>
        <p:nvSpPr>
          <p:cNvPr id="23" name="TextBox 22"/>
          <p:cNvSpPr txBox="1"/>
          <p:nvPr/>
        </p:nvSpPr>
        <p:spPr>
          <a:xfrm>
            <a:off x="8732520" y="507492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4. Submit request, Sarah follows up</a:t>
            </a:r>
          </a:p>
        </p:txBody>
      </p:sp>
      <p:sp>
        <p:nvSpPr>
          <p:cNvPr id="24" name="TextBox 23"/>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childTnLst>
                                </p:cTn>
                              </p:par>
                              <p:par>
                                <p:cTn id="24" presetID="10" presetClass="entr" presetSubtype="0" fill="hold" nodeType="withEffect">
                                  <p:stCondLst>
                                    <p:cond delay="75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childTnLst>
                                </p:cTn>
                              </p:par>
                              <p:par>
                                <p:cTn id="28" presetID="10" presetClass="entr" presetSubtype="0" fill="hold" nodeType="withEffect">
                                  <p:stCondLst>
                                    <p:cond delay="9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childTnLst>
                                </p:cTn>
                              </p:par>
                              <p:par>
                                <p:cTn id="32" presetID="10" presetClass="entr" presetSubtype="0" fill="hold" nodeType="withEffect">
                                  <p:stCondLst>
                                    <p:cond delay="105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childTnLst>
                                </p:cTn>
                              </p:par>
                              <p:par>
                                <p:cTn id="36" presetID="10" presetClass="entr" presetSubtype="0" fill="hold" nodeType="withEffect">
                                  <p:stCondLst>
                                    <p:cond delay="120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1000"/>
                                        <p:tgtEl>
                                          <p:spTgt spid="20"/>
                                        </p:tgtEl>
                                      </p:cBhvr>
                                    </p:animEffect>
                                  </p:childTnLst>
                                </p:cTn>
                              </p:par>
                              <p:par>
                                <p:cTn id="52" presetID="10" presetClass="entr" presetSubtype="0" fill="hold" nodeType="withEffect">
                                  <p:stCondLst>
                                    <p:cond delay="180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1000"/>
                                        <p:tgtEl>
                                          <p:spTgt spid="8"/>
                                        </p:tgtEl>
                                      </p:cBhvr>
                                    </p:animEffect>
                                  </p:childTnLst>
                                </p:cTn>
                              </p:par>
                              <p:par>
                                <p:cTn id="56" presetID="10" presetClass="entr" presetSubtype="0" fill="hold" nodeType="withEffect">
                                  <p:stCondLst>
                                    <p:cond delay="180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childTnLst>
                                </p:cTn>
                              </p:par>
                              <p:par>
                                <p:cTn id="60" presetID="10" presetClass="entr" presetSubtype="0" fill="hold" nodeType="withEffect">
                                  <p:stCondLst>
                                    <p:cond delay="18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000"/>
                                        <p:tgtEl>
                                          <p:spTgt spid="21"/>
                                        </p:tgtEl>
                                      </p:cBhvr>
                                    </p:animEffect>
                                  </p:childTnLst>
                                </p:cTn>
                              </p:par>
                              <p:par>
                                <p:cTn id="64" presetID="10" presetClass="entr" presetSubtype="0" fill="hold" nodeType="withEffect">
                                  <p:stCondLst>
                                    <p:cond delay="180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1000"/>
                                        <p:tgtEl>
                                          <p:spTgt spid="9"/>
                                        </p:tgtEl>
                                      </p:cBhvr>
                                    </p:animEffect>
                                  </p:childTnLst>
                                </p:cTn>
                              </p:par>
                              <p:par>
                                <p:cTn id="68" presetID="10" presetClass="entr" presetSubtype="0" fill="hold" nodeType="withEffect">
                                  <p:stCondLst>
                                    <p:cond delay="180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childTnLst>
                                </p:cTn>
                              </p:par>
                              <p:par>
                                <p:cTn id="72" presetID="10" presetClass="entr" presetSubtype="0" fill="hold" nodeType="withEffect">
                                  <p:stCondLst>
                                    <p:cond delay="180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1000"/>
                                        <p:tgtEl>
                                          <p:spTgt spid="22"/>
                                        </p:tgtEl>
                                      </p:cBhvr>
                                    </p:animEffect>
                                  </p:childTnLst>
                                </p:cTn>
                              </p:par>
                              <p:par>
                                <p:cTn id="76" presetID="10" presetClass="entr" presetSubtype="0" fill="hold" nodeType="withEffect">
                                  <p:stCondLst>
                                    <p:cond delay="1800"/>
                                  </p:stCondLst>
                                  <p:childTnLst>
                                    <p:set>
                                      <p:cBhvr>
                                        <p:cTn id="77" dur="1" fill="hold">
                                          <p:stCondLst>
                                            <p:cond delay="0"/>
                                          </p:stCondLst>
                                        </p:cTn>
                                        <p:tgtEl>
                                          <p:spTgt spid="10"/>
                                        </p:tgtEl>
                                        <p:attrNameLst>
                                          <p:attrName>style.visibility</p:attrName>
                                        </p:attrNameLst>
                                      </p:cBhvr>
                                      <p:to>
                                        <p:strVal val="visible"/>
                                      </p:to>
                                    </p:set>
                                    <p:animEffect transition="in" filter="fade">
                                      <p:cBhvr>
                                        <p:cTn id="78" dur="1000"/>
                                        <p:tgtEl>
                                          <p:spTgt spid="10"/>
                                        </p:tgtEl>
                                      </p:cBhvr>
                                    </p:animEffect>
                                  </p:childTnLst>
                                </p:cTn>
                              </p:par>
                              <p:par>
                                <p:cTn id="80" presetID="10" presetClass="entr" presetSubtype="0" fill="hold" nodeType="withEffect">
                                  <p:stCondLst>
                                    <p:cond delay="180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childTnLst>
                                </p:cTn>
                              </p:par>
                              <p:par>
                                <p:cTn id="84" presetID="10" presetClass="entr" presetSubtype="0" fill="hold" nodeType="withEffect">
                                  <p:stCondLst>
                                    <p:cond delay="180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1000"/>
                                        <p:tgtEl>
                                          <p:spTgt spid="23"/>
                                        </p:tgtEl>
                                      </p:cBhvr>
                                    </p:animEffect>
                                  </p:childTnLst>
                                </p:cTn>
                              </p:par>
                              <p:par>
                                <p:cTn id="88" presetID="10" presetClass="entr" presetSubtype="0" fill="hold" nodeType="withEffect">
                                  <p:stCondLst>
                                    <p:cond delay="1800"/>
                                  </p:stCondLst>
                                  <p:childTnLst>
                                    <p:set>
                                      <p:cBhvr>
                                        <p:cTn id="89" dur="1" fill="hold">
                                          <p:stCondLst>
                                            <p:cond delay="0"/>
                                          </p:stCondLst>
                                        </p:cTn>
                                        <p:tgtEl>
                                          <p:spTgt spid="11"/>
                                        </p:tgtEl>
                                        <p:attrNameLst>
                                          <p:attrName>style.visibility</p:attrName>
                                        </p:attrNameLst>
                                      </p:cBhvr>
                                      <p:to>
                                        <p:strVal val="visible"/>
                                      </p:to>
                                    </p:set>
                                    <p:animEffect transition="in" filter="fade">
                                      <p:cBhvr>
                                        <p:cTn id="9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How we built it</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Different tools for each platform, shared tools for teamwork</a:t>
            </a:r>
          </a:p>
        </p:txBody>
      </p:sp>
      <p:sp>
        <p:nvSpPr>
          <p:cNvPr id="5" name="Rounded Rectangle 4"/>
          <p:cNvSpPr/>
          <p:nvPr/>
        </p:nvSpPr>
        <p:spPr>
          <a:xfrm>
            <a:off x="640080" y="1828800"/>
            <a:ext cx="3566160" cy="40233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96596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Website</a:t>
            </a:r>
          </a:p>
        </p:txBody>
      </p:sp>
      <p:sp>
        <p:nvSpPr>
          <p:cNvPr id="7" name="TextBox 6"/>
          <p:cNvSpPr txBox="1"/>
          <p:nvPr/>
        </p:nvSpPr>
        <p:spPr>
          <a:xfrm>
            <a:off x="822959" y="2651760"/>
            <a:ext cx="3200400" cy="4114800"/>
          </a:xfrm>
          <a:prstGeom prst="rect">
            <a:avLst/>
          </a:prstGeom>
          <a:noFill/>
        </p:spPr>
        <p:txBody>
          <a:bodyPr wrap="square">
            <a:spAutoFit/>
          </a:bodyPr>
          <a:lstStyle/>
          <a:p>
            <a:pPr>
              <a:spcAft>
                <a:spcPts val="800"/>
              </a:spcAft>
            </a:pPr>
            <a:r>
              <a:rPr sz="1600">
                <a:solidFill>
                  <a:srgbClr val="2F302D"/>
                </a:solidFill>
                <a:latin typeface="Calibri"/>
              </a:rPr>
              <a:t>•  HTML5 for structure</a:t>
            </a:r>
          </a:p>
          <a:p>
            <a:pPr>
              <a:spcAft>
                <a:spcPts val="800"/>
              </a:spcAft>
            </a:pPr>
            <a:r>
              <a:rPr sz="1600">
                <a:solidFill>
                  <a:srgbClr val="2F302D"/>
                </a:solidFill>
                <a:latin typeface="Calibri"/>
              </a:rPr>
              <a:t>•  CSS for colours, fonts and layout</a:t>
            </a:r>
          </a:p>
          <a:p>
            <a:pPr>
              <a:spcAft>
                <a:spcPts val="800"/>
              </a:spcAft>
            </a:pPr>
            <a:r>
              <a:rPr sz="1600">
                <a:solidFill>
                  <a:srgbClr val="2F302D"/>
                </a:solidFill>
                <a:latin typeface="Calibri"/>
              </a:rPr>
              <a:t>•  JavaScript for the calculator, forms and menu</a:t>
            </a:r>
          </a:p>
          <a:p>
            <a:pPr>
              <a:spcAft>
                <a:spcPts val="800"/>
              </a:spcAft>
            </a:pPr>
            <a:r>
              <a:rPr sz="1600">
                <a:solidFill>
                  <a:srgbClr val="2F302D"/>
                </a:solidFill>
                <a:latin typeface="Calibri"/>
              </a:rPr>
              <a:t>•  Written in Visual Studio Code</a:t>
            </a:r>
          </a:p>
        </p:txBody>
      </p:sp>
      <p:sp>
        <p:nvSpPr>
          <p:cNvPr id="8" name="Rounded Rectangle 7"/>
          <p:cNvSpPr/>
          <p:nvPr/>
        </p:nvSpPr>
        <p:spPr>
          <a:xfrm>
            <a:off x="4434840" y="1828800"/>
            <a:ext cx="3566160" cy="402336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96596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Android app</a:t>
            </a:r>
          </a:p>
        </p:txBody>
      </p:sp>
      <p:sp>
        <p:nvSpPr>
          <p:cNvPr id="10" name="TextBox 9"/>
          <p:cNvSpPr txBox="1"/>
          <p:nvPr/>
        </p:nvSpPr>
        <p:spPr>
          <a:xfrm>
            <a:off x="4617720" y="2651760"/>
            <a:ext cx="3200400" cy="4114800"/>
          </a:xfrm>
          <a:prstGeom prst="rect">
            <a:avLst/>
          </a:prstGeom>
          <a:noFill/>
        </p:spPr>
        <p:txBody>
          <a:bodyPr wrap="square">
            <a:spAutoFit/>
          </a:bodyPr>
          <a:lstStyle/>
          <a:p>
            <a:pPr>
              <a:spcAft>
                <a:spcPts val="800"/>
              </a:spcAft>
            </a:pPr>
            <a:r>
              <a:rPr sz="1600">
                <a:solidFill>
                  <a:srgbClr val="2F302D"/>
                </a:solidFill>
                <a:latin typeface="Calibri"/>
              </a:rPr>
              <a:t>•  Kotlin in Android Studio</a:t>
            </a:r>
          </a:p>
          <a:p>
            <a:pPr>
              <a:spcAft>
                <a:spcPts val="800"/>
              </a:spcAft>
            </a:pPr>
            <a:r>
              <a:rPr sz="1600">
                <a:solidFill>
                  <a:srgbClr val="2F302D"/>
                </a:solidFill>
                <a:latin typeface="Calibri"/>
              </a:rPr>
              <a:t>•  XML layouts for every screen</a:t>
            </a:r>
          </a:p>
          <a:p>
            <a:pPr>
              <a:spcAft>
                <a:spcPts val="800"/>
              </a:spcAft>
            </a:pPr>
            <a:r>
              <a:rPr sz="1600">
                <a:solidFill>
                  <a:srgbClr val="2F302D"/>
                </a:solidFill>
                <a:latin typeface="Calibri"/>
              </a:rPr>
              <a:t>•  One page per screen</a:t>
            </a:r>
          </a:p>
          <a:p>
            <a:pPr>
              <a:spcAft>
                <a:spcPts val="800"/>
              </a:spcAft>
            </a:pPr>
            <a:r>
              <a:rPr sz="1600">
                <a:solidFill>
                  <a:srgbClr val="2F302D"/>
                </a:solidFill>
                <a:latin typeface="Calibri"/>
              </a:rPr>
              <a:t>•  Tested in the Android emulator</a:t>
            </a:r>
          </a:p>
        </p:txBody>
      </p:sp>
      <p:sp>
        <p:nvSpPr>
          <p:cNvPr id="11" name="Rounded Rectangle 10"/>
          <p:cNvSpPr/>
          <p:nvPr/>
        </p:nvSpPr>
        <p:spPr>
          <a:xfrm>
            <a:off x="8229600" y="1828800"/>
            <a:ext cx="3566160" cy="40233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96596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Teamwork</a:t>
            </a:r>
          </a:p>
        </p:txBody>
      </p:sp>
      <p:sp>
        <p:nvSpPr>
          <p:cNvPr id="13" name="TextBox 12"/>
          <p:cNvSpPr txBox="1"/>
          <p:nvPr/>
        </p:nvSpPr>
        <p:spPr>
          <a:xfrm>
            <a:off x="8412480" y="2651760"/>
            <a:ext cx="3200400" cy="4114800"/>
          </a:xfrm>
          <a:prstGeom prst="rect">
            <a:avLst/>
          </a:prstGeom>
          <a:noFill/>
        </p:spPr>
        <p:txBody>
          <a:bodyPr wrap="square">
            <a:spAutoFit/>
          </a:bodyPr>
          <a:lstStyle/>
          <a:p>
            <a:pPr>
              <a:spcAft>
                <a:spcPts val="800"/>
              </a:spcAft>
            </a:pPr>
            <a:r>
              <a:rPr sz="1600">
                <a:solidFill>
                  <a:srgbClr val="2F302D"/>
                </a:solidFill>
                <a:latin typeface="Calibri"/>
              </a:rPr>
              <a:t>•  Figma for wireframes</a:t>
            </a:r>
          </a:p>
          <a:p>
            <a:pPr>
              <a:spcAft>
                <a:spcPts val="800"/>
              </a:spcAft>
            </a:pPr>
            <a:r>
              <a:rPr sz="1600">
                <a:solidFill>
                  <a:srgbClr val="2F302D"/>
                </a:solidFill>
                <a:latin typeface="Calibri"/>
              </a:rPr>
              <a:t>•  GitHub for version control</a:t>
            </a:r>
          </a:p>
          <a:p>
            <a:pPr>
              <a:spcAft>
                <a:spcPts val="800"/>
              </a:spcAft>
            </a:pPr>
            <a:r>
              <a:rPr sz="1600">
                <a:solidFill>
                  <a:srgbClr val="2F302D"/>
                </a:solidFill>
                <a:latin typeface="Calibri"/>
              </a:rPr>
              <a:t>•  Teams and WhatsApp for communication</a:t>
            </a:r>
          </a:p>
          <a:p>
            <a:pPr>
              <a:spcAft>
                <a:spcPts val="800"/>
              </a:spcAft>
            </a:pPr>
            <a:r>
              <a:rPr sz="1600">
                <a:solidFill>
                  <a:srgbClr val="2F302D"/>
                </a:solidFill>
                <a:latin typeface="Calibri"/>
              </a:rPr>
              <a:t>•  OneDrive and Drive for documents</a:t>
            </a:r>
          </a:p>
        </p:txBody>
      </p:sp>
      <p:sp>
        <p:nvSpPr>
          <p:cNvPr id="14" name="TextBox 13"/>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childTnLst>
                                </p:cTn>
                              </p:par>
                              <p:par>
                                <p:cTn id="28" presetID="10" presetClass="entr" presetSubtype="0" fill="hold" nodeType="withEffect">
                                  <p:stCondLst>
                                    <p:cond delay="9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par>
                                <p:cTn id="32" presetID="10" presetClass="entr" presetSubtype="0" fill="hold" nodeType="withEffect">
                                  <p:stCondLst>
                                    <p:cond delay="10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childTnLst>
                                </p:cTn>
                              </p:par>
                              <p:par>
                                <p:cTn id="36" presetID="10" presetClass="entr" presetSubtype="0" fill="hold" nodeType="withEffect">
                                  <p:stCondLst>
                                    <p:cond delay="12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childTnLst>
                                </p:cTn>
                              </p:par>
                              <p:par>
                                <p:cTn id="48" presetID="10" presetClass="entr" presetSubtype="0" fill="hold" nodeType="withEffect">
                                  <p:stCondLst>
                                    <p:cond delay="165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The website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Home page, course overview and About Us</a:t>
            </a:r>
          </a:p>
        </p:txBody>
      </p:sp>
      <p:pic>
        <p:nvPicPr>
          <p:cNvPr id="5" name="Picture 4" descr="web_home.png"/>
          <p:cNvPicPr>
            <a:picLocks noChangeAspect="1"/>
          </p:cNvPicPr>
          <p:nvPr/>
        </p:nvPicPr>
        <p:blipFill>
          <a:blip r:embed="rId2"/>
          <a:stretch>
            <a:fillRect/>
          </a:stretch>
        </p:blipFill>
        <p:spPr>
          <a:xfrm>
            <a:off x="548640" y="2437447"/>
            <a:ext cx="3611880" cy="2257425"/>
          </a:xfrm>
          <a:prstGeom prst="rect">
            <a:avLst/>
          </a:prstGeom>
          <a:ln w="15875">
            <a:solidFill>
              <a:srgbClr val="C68B59"/>
            </a:solidFill>
          </a:ln>
        </p:spPr>
      </p:pic>
      <p:sp>
        <p:nvSpPr>
          <p:cNvPr id="6" name="Rounded Rectangle 5"/>
          <p:cNvSpPr/>
          <p:nvPr/>
        </p:nvSpPr>
        <p:spPr>
          <a:xfrm>
            <a:off x="1645919" y="5486400"/>
            <a:ext cx="13716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Home</a:t>
            </a:r>
          </a:p>
        </p:txBody>
      </p:sp>
      <p:pic>
        <p:nvPicPr>
          <p:cNvPr id="7" name="Picture 6" descr="web_courses.png"/>
          <p:cNvPicPr>
            <a:picLocks noChangeAspect="1"/>
          </p:cNvPicPr>
          <p:nvPr/>
        </p:nvPicPr>
        <p:blipFill>
          <a:blip r:embed="rId3"/>
          <a:stretch>
            <a:fillRect/>
          </a:stretch>
        </p:blipFill>
        <p:spPr>
          <a:xfrm>
            <a:off x="4343400" y="1943635"/>
            <a:ext cx="3611880" cy="3245048"/>
          </a:xfrm>
          <a:prstGeom prst="rect">
            <a:avLst/>
          </a:prstGeom>
          <a:ln w="15875">
            <a:solidFill>
              <a:srgbClr val="C68B59"/>
            </a:solidFill>
          </a:ln>
        </p:spPr>
      </p:pic>
      <p:sp>
        <p:nvSpPr>
          <p:cNvPr id="8" name="Rounded Rectangle 7"/>
          <p:cNvSpPr/>
          <p:nvPr/>
        </p:nvSpPr>
        <p:spPr>
          <a:xfrm>
            <a:off x="5440680" y="5486400"/>
            <a:ext cx="13716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Courses</a:t>
            </a:r>
          </a:p>
        </p:txBody>
      </p:sp>
      <p:pic>
        <p:nvPicPr>
          <p:cNvPr id="9" name="Picture 8" descr="web_about.png"/>
          <p:cNvPicPr>
            <a:picLocks noChangeAspect="1"/>
          </p:cNvPicPr>
          <p:nvPr/>
        </p:nvPicPr>
        <p:blipFill>
          <a:blip r:embed="rId4"/>
          <a:stretch>
            <a:fillRect/>
          </a:stretch>
        </p:blipFill>
        <p:spPr>
          <a:xfrm>
            <a:off x="8138160" y="2437447"/>
            <a:ext cx="3611880" cy="2257425"/>
          </a:xfrm>
          <a:prstGeom prst="rect">
            <a:avLst/>
          </a:prstGeom>
          <a:ln w="15875">
            <a:solidFill>
              <a:srgbClr val="C68B59"/>
            </a:solidFill>
          </a:ln>
        </p:spPr>
      </p:pic>
      <p:sp>
        <p:nvSpPr>
          <p:cNvPr id="10" name="Rounded Rectangle 9"/>
          <p:cNvSpPr/>
          <p:nvPr/>
        </p:nvSpPr>
        <p:spPr>
          <a:xfrm>
            <a:off x="9235440" y="5486400"/>
            <a:ext cx="13716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About Us</a:t>
            </a:r>
          </a:p>
        </p:txBody>
      </p:sp>
      <p:sp>
        <p:nvSpPr>
          <p:cNvPr id="11" name="TextBox 10"/>
          <p:cNvSpPr txBox="1"/>
          <p:nvPr/>
        </p:nvSpPr>
        <p:spPr>
          <a:xfrm>
            <a:off x="548640" y="5989320"/>
            <a:ext cx="11155680" cy="54864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A persistent top bar, tan buttons, powder blue highlights and the same logo throughout. On small screens the menu becomes a drop-down.</a:t>
            </a:r>
          </a:p>
        </p:txBody>
      </p:sp>
      <p:sp>
        <p:nvSpPr>
          <p:cNvPr id="12" name="TextBox 11"/>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childTnLst>
                                </p:cTn>
                              </p:par>
                              <p:par>
                                <p:cTn id="20" presetID="10" presetClass="entr" presetSubtype="0" fill="hold"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4" presetID="10" presetClass="entr" presetSubtype="0" fill="hold" nodeType="withEffect">
                                  <p:stCondLst>
                                    <p:cond delay="7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childTnLst>
                                </p:cTn>
                              </p:par>
                              <p:par>
                                <p:cTn id="28" presetID="10" presetClass="entr" presetSubtype="0" fill="hold" nodeType="withEffect">
                                  <p:stCondLst>
                                    <p:cond delay="9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Course detail pages and Contact Us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Every course has its own page; Contact Us has a map and a message form</a:t>
            </a:r>
          </a:p>
        </p:txBody>
      </p:sp>
      <p:pic>
        <p:nvPicPr>
          <p:cNvPr id="5" name="Picture 4" descr="web_detail.png"/>
          <p:cNvPicPr>
            <a:picLocks noChangeAspect="1"/>
          </p:cNvPicPr>
          <p:nvPr/>
        </p:nvPicPr>
        <p:blipFill>
          <a:blip r:embed="rId2"/>
          <a:stretch>
            <a:fillRect/>
          </a:stretch>
        </p:blipFill>
        <p:spPr>
          <a:xfrm>
            <a:off x="548640" y="2125980"/>
            <a:ext cx="5486400" cy="3429000"/>
          </a:xfrm>
          <a:prstGeom prst="rect">
            <a:avLst/>
          </a:prstGeom>
          <a:ln w="15875">
            <a:solidFill>
              <a:srgbClr val="C68B59"/>
            </a:solidFill>
          </a:ln>
        </p:spPr>
      </p:pic>
      <p:pic>
        <p:nvPicPr>
          <p:cNvPr id="6" name="Picture 5" descr="web_contact.png"/>
          <p:cNvPicPr>
            <a:picLocks noChangeAspect="1"/>
          </p:cNvPicPr>
          <p:nvPr/>
        </p:nvPicPr>
        <p:blipFill>
          <a:blip r:embed="rId3"/>
          <a:stretch>
            <a:fillRect/>
          </a:stretch>
        </p:blipFill>
        <p:spPr>
          <a:xfrm>
            <a:off x="6309360" y="2125980"/>
            <a:ext cx="5486400" cy="3429000"/>
          </a:xfrm>
          <a:prstGeom prst="rect">
            <a:avLst/>
          </a:prstGeom>
          <a:ln w="15875">
            <a:solidFill>
              <a:srgbClr val="C68B59"/>
            </a:solidFill>
          </a:ln>
        </p:spPr>
      </p:pic>
      <p:sp>
        <p:nvSpPr>
          <p:cNvPr id="7" name="TextBox 6"/>
          <p:cNvSpPr txBox="1"/>
          <p:nvPr/>
        </p:nvSpPr>
        <p:spPr>
          <a:xfrm>
            <a:off x="548640" y="5989320"/>
            <a:ext cx="11155680" cy="54864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Left: course detail page. Right: Contact Us on the finished website.</a:t>
            </a:r>
          </a:p>
        </p:txBody>
      </p:sp>
      <p:sp>
        <p:nvSpPr>
          <p:cNvPr id="8" name="TextBox 7"/>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589520" y="822960"/>
            <a:ext cx="4389120" cy="2926080"/>
          </a:xfrm>
          <a:prstGeom prst="rect">
            <a:avLst/>
          </a:prstGeom>
          <a:noFill/>
        </p:spPr>
        <p:txBody>
          <a:bodyPr wrap="square" anchor="t" lIns="45720" rIns="45720">
            <a:spAutoFit/>
          </a:bodyPr>
          <a:lstStyle/>
          <a:p>
            <a:pPr algn="r">
              <a:spcAft>
                <a:spcPts val="600"/>
              </a:spcAft>
            </a:pPr>
            <a:r>
              <a:rPr sz="19000" b="1">
                <a:solidFill>
                  <a:srgbClr val="1E1E1E"/>
                </a:solidFill>
                <a:latin typeface="Book Antiqua"/>
              </a:rPr>
              <a:t>02</a:t>
            </a:r>
          </a:p>
        </p:txBody>
      </p:sp>
      <p:sp>
        <p:nvSpPr>
          <p:cNvPr id="3" name="TextBox 2"/>
          <p:cNvSpPr txBox="1"/>
          <p:nvPr/>
        </p:nvSpPr>
        <p:spPr>
          <a:xfrm>
            <a:off x="822960" y="1234440"/>
            <a:ext cx="7315200" cy="457200"/>
          </a:xfrm>
          <a:prstGeom prst="rect">
            <a:avLst/>
          </a:prstGeom>
          <a:noFill/>
        </p:spPr>
        <p:txBody>
          <a:bodyPr wrap="square" anchor="t" lIns="45720" rIns="45720">
            <a:spAutoFit/>
          </a:bodyPr>
          <a:lstStyle/>
          <a:p>
            <a:pPr algn="l">
              <a:spcAft>
                <a:spcPts val="600"/>
              </a:spcAft>
            </a:pPr>
            <a:r>
              <a:rPr sz="1400" b="1">
                <a:solidFill>
                  <a:srgbClr val="C68B59"/>
                </a:solidFill>
                <a:latin typeface="Calibri"/>
              </a:rPr>
              <a:t>PART 02 OF 03</a:t>
            </a:r>
          </a:p>
        </p:txBody>
      </p:sp>
      <p:sp>
        <p:nvSpPr>
          <p:cNvPr id="4" name="TextBox 3"/>
          <p:cNvSpPr txBox="1"/>
          <p:nvPr/>
        </p:nvSpPr>
        <p:spPr>
          <a:xfrm>
            <a:off x="822960" y="1920240"/>
            <a:ext cx="8686800" cy="1463040"/>
          </a:xfrm>
          <a:prstGeom prst="rect">
            <a:avLst/>
          </a:prstGeom>
          <a:noFill/>
        </p:spPr>
        <p:txBody>
          <a:bodyPr wrap="square" anchor="t" lIns="45720" rIns="45720">
            <a:spAutoFit/>
          </a:bodyPr>
          <a:lstStyle/>
          <a:p>
            <a:pPr algn="l">
              <a:spcAft>
                <a:spcPts val="600"/>
              </a:spcAft>
            </a:pPr>
            <a:r>
              <a:rPr sz="8800" b="1">
                <a:solidFill>
                  <a:srgbClr val="FFFFFF"/>
                </a:solidFill>
                <a:latin typeface="Book Antiqua"/>
              </a:rPr>
              <a:t>Theolin</a:t>
            </a:r>
          </a:p>
        </p:txBody>
      </p:sp>
      <p:sp>
        <p:nvSpPr>
          <p:cNvPr id="5" name="Rectangle 4"/>
          <p:cNvSpPr/>
          <p:nvPr/>
        </p:nvSpPr>
        <p:spPr>
          <a:xfrm>
            <a:off x="896112" y="3520440"/>
            <a:ext cx="292608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9144000" cy="640080"/>
          </a:xfrm>
          <a:prstGeom prst="rect">
            <a:avLst/>
          </a:prstGeom>
          <a:noFill/>
        </p:spPr>
        <p:txBody>
          <a:bodyPr wrap="square" anchor="t" lIns="45720" rIns="45720">
            <a:spAutoFit/>
          </a:bodyPr>
          <a:lstStyle/>
          <a:p>
            <a:pPr algn="l">
              <a:spcAft>
                <a:spcPts val="600"/>
              </a:spcAft>
            </a:pPr>
            <a:r>
              <a:rPr sz="2600" b="0">
                <a:solidFill>
                  <a:srgbClr val="FFFDD0"/>
                </a:solidFill>
                <a:latin typeface="Calibri"/>
              </a:rPr>
              <a:t>The mobile app and wireframes</a:t>
            </a:r>
          </a:p>
        </p:txBody>
      </p:sp>
      <p:sp>
        <p:nvSpPr>
          <p:cNvPr id="7" name="Rounded Rectangle 6"/>
          <p:cNvSpPr/>
          <p:nvPr/>
        </p:nvSpPr>
        <p:spPr>
          <a:xfrm>
            <a:off x="868680" y="4754880"/>
            <a:ext cx="1412748"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Android app</a:t>
            </a:r>
          </a:p>
        </p:txBody>
      </p:sp>
      <p:sp>
        <p:nvSpPr>
          <p:cNvPr id="8" name="Rounded Rectangle 7"/>
          <p:cNvSpPr/>
          <p:nvPr/>
        </p:nvSpPr>
        <p:spPr>
          <a:xfrm>
            <a:off x="3954780" y="4754880"/>
            <a:ext cx="2569464"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Challenges and lessons</a:t>
            </a:r>
          </a:p>
        </p:txBody>
      </p:sp>
      <p:sp>
        <p:nvSpPr>
          <p:cNvPr id="9" name="Rounded Rectangle 7"/>
          <p:cNvSpPr/>
          <p:nvPr/>
        </p:nvSpPr>
        <p:spPr>
          <a:xfrm>
            <a:off x="2464308" y="4754880"/>
            <a:ext cx="130759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Wireframes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000"/>
                                        <p:tgtEl>
                                          <p:spTgt spid="2"/>
                                        </p:tgtEl>
                                      </p:cBhvr>
                                    </p:animEffect>
                                  </p:childTnLst>
                                </p:cTn>
                              </p:par>
                              <p:par>
                                <p:cTn id="8" presetID="10" presetClass="entr" presetSubtype="0" fill="hold" nodeType="withEffect">
                                  <p:stCondLst>
                                    <p:cond delay="4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200"/>
                                        <p:tgtEl>
                                          <p:spTgt spid="3"/>
                                        </p:tgtEl>
                                      </p:cBhvr>
                                    </p:animEffect>
                                  </p:childTnLst>
                                </p:cTn>
                              </p:par>
                              <p:par>
                                <p:cTn id="12" presetID="10" presetClass="entr" presetSubtype="0" fill="hold" nodeType="withEffect">
                                  <p:stCondLst>
                                    <p:cond delay="7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800"/>
                                        <p:tgtEl>
                                          <p:spTgt spid="4"/>
                                        </p:tgtEl>
                                      </p:cBhvr>
                                    </p:animEffect>
                                  </p:childTnLst>
                                </p:cTn>
                              </p:par>
                              <p:par>
                                <p:cTn id="16" presetID="22" presetClass="entr" presetSubtype="8" fill="hold" nodeType="withEffect">
                                  <p:stCondLst>
                                    <p:cond delay="180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par>
                                <p:cTn id="20" presetID="10" presetClass="entr" presetSubtype="0" fill="hold" nodeType="withEffect">
                                  <p:stCondLst>
                                    <p:cond delay="23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200"/>
                                        <p:tgtEl>
                                          <p:spTgt spid="6"/>
                                        </p:tgtEl>
                                      </p:cBhvr>
                                    </p:animEffect>
                                  </p:childTnLst>
                                </p:cTn>
                              </p:par>
                              <p:par>
                                <p:cTn id="24" presetID="10" presetClass="entr" presetSubtype="0" fill="hold" nodeType="withEffect">
                                  <p:stCondLst>
                                    <p:cond delay="30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900"/>
                                        <p:tgtEl>
                                          <p:spTgt spid="7"/>
                                        </p:tgtEl>
                                      </p:cBhvr>
                                    </p:animEffect>
                                  </p:childTnLst>
                                </p:cTn>
                              </p:par>
                              <p:par>
                                <p:cTn id="28" presetID="10" presetClass="entr" presetSubtype="0" fill="hold" nodeType="withEffect">
                                  <p:stCondLst>
                                    <p:cond delay="32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9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The mobile app</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A native Android app in Kotlin that mirrors the website</a:t>
            </a:r>
          </a:p>
        </p:txBody>
      </p:sp>
      <p:pic>
        <p:nvPicPr>
          <p:cNvPr id="5" name="Picture 4" descr="hi_mob_splash.jpg"/>
          <p:cNvPicPr>
            <a:picLocks noChangeAspect="1"/>
          </p:cNvPicPr>
          <p:nvPr/>
        </p:nvPicPr>
        <p:blipFill>
          <a:blip r:embed="rId2"/>
          <a:stretch>
            <a:fillRect/>
          </a:stretch>
        </p:blipFill>
        <p:spPr>
          <a:xfrm>
            <a:off x="548640" y="1822703"/>
            <a:ext cx="1188720" cy="2572512"/>
          </a:xfrm>
          <a:prstGeom prst="rect">
            <a:avLst/>
          </a:prstGeom>
          <a:ln w="15875">
            <a:solidFill>
              <a:srgbClr val="C68B59"/>
            </a:solidFill>
          </a:ln>
        </p:spPr>
      </p:pic>
      <p:pic>
        <p:nvPicPr>
          <p:cNvPr id="6" name="Picture 5" descr="hi_mob_home.jpg"/>
          <p:cNvPicPr>
            <a:picLocks noChangeAspect="1"/>
          </p:cNvPicPr>
          <p:nvPr/>
        </p:nvPicPr>
        <p:blipFill>
          <a:blip r:embed="rId3"/>
          <a:stretch>
            <a:fillRect/>
          </a:stretch>
        </p:blipFill>
        <p:spPr>
          <a:xfrm>
            <a:off x="1874519" y="1822703"/>
            <a:ext cx="1188720" cy="2572512"/>
          </a:xfrm>
          <a:prstGeom prst="rect">
            <a:avLst/>
          </a:prstGeom>
          <a:ln w="15875">
            <a:solidFill>
              <a:srgbClr val="C68B59"/>
            </a:solidFill>
          </a:ln>
        </p:spPr>
      </p:pic>
      <p:pic>
        <p:nvPicPr>
          <p:cNvPr id="7" name="Picture 6" descr="hi_mob_summary.jpg"/>
          <p:cNvPicPr>
            <a:picLocks noChangeAspect="1"/>
          </p:cNvPicPr>
          <p:nvPr/>
        </p:nvPicPr>
        <p:blipFill>
          <a:blip r:embed="rId4"/>
          <a:stretch>
            <a:fillRect/>
          </a:stretch>
        </p:blipFill>
        <p:spPr>
          <a:xfrm>
            <a:off x="3200400" y="1827275"/>
            <a:ext cx="1188720" cy="2563368"/>
          </a:xfrm>
          <a:prstGeom prst="rect">
            <a:avLst/>
          </a:prstGeom>
          <a:ln w="15875">
            <a:solidFill>
              <a:srgbClr val="C68B59"/>
            </a:solidFill>
          </a:ln>
        </p:spPr>
      </p:pic>
      <p:pic>
        <p:nvPicPr>
          <p:cNvPr id="8" name="Picture 7" descr="hi_mob_detail.jpg"/>
          <p:cNvPicPr>
            <a:picLocks noChangeAspect="1"/>
          </p:cNvPicPr>
          <p:nvPr/>
        </p:nvPicPr>
        <p:blipFill>
          <a:blip r:embed="rId5"/>
          <a:stretch>
            <a:fillRect/>
          </a:stretch>
        </p:blipFill>
        <p:spPr>
          <a:xfrm>
            <a:off x="4526279" y="1834896"/>
            <a:ext cx="1188720" cy="2548128"/>
          </a:xfrm>
          <a:prstGeom prst="rect">
            <a:avLst/>
          </a:prstGeom>
          <a:ln w="15875">
            <a:solidFill>
              <a:srgbClr val="C68B59"/>
            </a:solidFill>
          </a:ln>
        </p:spPr>
      </p:pic>
      <p:pic>
        <p:nvPicPr>
          <p:cNvPr id="9" name="Picture 8" descr="hi_mob_fees.jpg"/>
          <p:cNvPicPr>
            <a:picLocks noChangeAspect="1"/>
          </p:cNvPicPr>
          <p:nvPr/>
        </p:nvPicPr>
        <p:blipFill>
          <a:blip r:embed="rId6"/>
          <a:stretch>
            <a:fillRect/>
          </a:stretch>
        </p:blipFill>
        <p:spPr>
          <a:xfrm>
            <a:off x="5852159" y="1787651"/>
            <a:ext cx="1188720" cy="2642616"/>
          </a:xfrm>
          <a:prstGeom prst="rect">
            <a:avLst/>
          </a:prstGeom>
          <a:ln w="15875">
            <a:solidFill>
              <a:srgbClr val="C68B59"/>
            </a:solidFill>
          </a:ln>
        </p:spPr>
      </p:pic>
      <p:pic>
        <p:nvPicPr>
          <p:cNvPr id="10" name="Picture 9" descr="hi_mob_contact.jpg"/>
          <p:cNvPicPr>
            <a:picLocks noChangeAspect="1"/>
          </p:cNvPicPr>
          <p:nvPr/>
        </p:nvPicPr>
        <p:blipFill>
          <a:blip r:embed="rId7"/>
          <a:stretch>
            <a:fillRect/>
          </a:stretch>
        </p:blipFill>
        <p:spPr>
          <a:xfrm>
            <a:off x="7178040" y="1783080"/>
            <a:ext cx="1188720" cy="2651760"/>
          </a:xfrm>
          <a:prstGeom prst="rect">
            <a:avLst/>
          </a:prstGeom>
          <a:ln w="15875">
            <a:solidFill>
              <a:srgbClr val="C68B59"/>
            </a:solidFill>
          </a:ln>
        </p:spPr>
      </p:pic>
      <p:sp>
        <p:nvSpPr>
          <p:cNvPr id="11" name="TextBox 10"/>
          <p:cNvSpPr txBox="1"/>
          <p:nvPr/>
        </p:nvSpPr>
        <p:spPr>
          <a:xfrm>
            <a:off x="548640" y="4572000"/>
            <a:ext cx="11155680" cy="4114800"/>
          </a:xfrm>
          <a:prstGeom prst="rect">
            <a:avLst/>
          </a:prstGeom>
          <a:noFill/>
        </p:spPr>
        <p:txBody>
          <a:bodyPr wrap="square">
            <a:spAutoFit/>
          </a:bodyPr>
          <a:lstStyle/>
          <a:p>
            <a:pPr>
              <a:spcAft>
                <a:spcPts val="600"/>
              </a:spcAft>
            </a:pPr>
            <a:r>
              <a:rPr sz="1500">
                <a:solidFill>
                  <a:srgbClr val="2F302D"/>
                </a:solidFill>
                <a:latin typeface="Calibri"/>
              </a:rPr>
              <a:t>•  Bottom bar: Home, Courses, Fees and Contact. About Us and Pricing sit in a top menu</a:t>
            </a:r>
          </a:p>
          <a:p>
            <a:pPr>
              <a:spcAft>
                <a:spcPts val="600"/>
              </a:spcAft>
            </a:pPr>
            <a:r>
              <a:rPr sz="1500">
                <a:solidFill>
                  <a:srgbClr val="2F302D"/>
                </a:solidFill>
                <a:latin typeface="Calibri"/>
              </a:rPr>
              <a:t>•  Each screen is its own page with an XML layout; shared course data keeps the website and app consistent</a:t>
            </a:r>
          </a:p>
          <a:p>
            <a:pPr>
              <a:spcAft>
                <a:spcPts val="600"/>
              </a:spcAft>
            </a:pPr>
            <a:r>
              <a:rPr sz="1500">
                <a:solidFill>
                  <a:srgbClr val="2F302D"/>
                </a:solidFill>
                <a:latin typeface="Calibri"/>
              </a:rPr>
              <a:t>•  Screens shown are the high-fidelity designs from Figma; the finished app follows them and lists all 7 courses</a:t>
            </a:r>
          </a:p>
        </p:txBody>
      </p:sp>
      <p:sp>
        <p:nvSpPr>
          <p:cNvPr id="12" name="TextBox 11"/>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Theolin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childTnLst>
                                </p:cTn>
                              </p:par>
                              <p:par>
                                <p:cTn id="20" presetID="10" presetClass="entr" presetSubtype="0" fill="hold"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childTnLst>
                                </p:cTn>
                              </p:par>
                              <p:par>
                                <p:cTn id="40" presetID="10" presetClass="entr" presetSubtype="0" fill="hold" nodeType="withEffect">
                                  <p:stCondLst>
                                    <p:cond delay="13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Wireframes: low-fidelity to high-fidelity</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12 low-fidelity screens, then 6 desktop and 7 mobile high-fidelity screens, all in Figma</a:t>
            </a:r>
          </a:p>
        </p:txBody>
      </p:sp>
      <p:sp>
        <p:nvSpPr>
          <p:cNvPr id="5" name="Rounded Rectangle 4"/>
          <p:cNvSpPr/>
          <p:nvPr/>
        </p:nvSpPr>
        <p:spPr>
          <a:xfrm>
            <a:off x="548640" y="1691640"/>
            <a:ext cx="237744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Low-fidelity (12)</a:t>
            </a:r>
          </a:p>
        </p:txBody>
      </p:sp>
      <p:pic>
        <p:nvPicPr>
          <p:cNvPr id="6" name="Picture 5" descr="lo_web_home.jpg"/>
          <p:cNvPicPr>
            <a:picLocks noChangeAspect="1"/>
          </p:cNvPicPr>
          <p:nvPr/>
        </p:nvPicPr>
        <p:blipFill>
          <a:blip r:embed="rId2"/>
          <a:stretch>
            <a:fillRect/>
          </a:stretch>
        </p:blipFill>
        <p:spPr>
          <a:xfrm>
            <a:off x="563632" y="2148840"/>
            <a:ext cx="811263" cy="1005840"/>
          </a:xfrm>
          <a:prstGeom prst="rect">
            <a:avLst/>
          </a:prstGeom>
          <a:ln w="15875">
            <a:solidFill>
              <a:srgbClr val="C68B59"/>
            </a:solidFill>
          </a:ln>
        </p:spPr>
      </p:pic>
      <p:pic>
        <p:nvPicPr>
          <p:cNvPr id="7" name="Picture 6" descr="lo_web_about.jpg"/>
          <p:cNvPicPr>
            <a:picLocks noChangeAspect="1"/>
          </p:cNvPicPr>
          <p:nvPr/>
        </p:nvPicPr>
        <p:blipFill>
          <a:blip r:embed="rId3"/>
          <a:stretch>
            <a:fillRect/>
          </a:stretch>
        </p:blipFill>
        <p:spPr>
          <a:xfrm>
            <a:off x="1475977" y="2148840"/>
            <a:ext cx="815373" cy="1005840"/>
          </a:xfrm>
          <a:prstGeom prst="rect">
            <a:avLst/>
          </a:prstGeom>
          <a:ln w="15875">
            <a:solidFill>
              <a:srgbClr val="C68B59"/>
            </a:solidFill>
          </a:ln>
        </p:spPr>
      </p:pic>
      <p:pic>
        <p:nvPicPr>
          <p:cNvPr id="8" name="Picture 7" descr="lo_web_summary.jpg"/>
          <p:cNvPicPr>
            <a:picLocks noChangeAspect="1"/>
          </p:cNvPicPr>
          <p:nvPr/>
        </p:nvPicPr>
        <p:blipFill>
          <a:blip r:embed="rId4"/>
          <a:stretch>
            <a:fillRect/>
          </a:stretch>
        </p:blipFill>
        <p:spPr>
          <a:xfrm>
            <a:off x="2397231" y="2148840"/>
            <a:ext cx="801665" cy="1005840"/>
          </a:xfrm>
          <a:prstGeom prst="rect">
            <a:avLst/>
          </a:prstGeom>
          <a:ln w="15875">
            <a:solidFill>
              <a:srgbClr val="C68B59"/>
            </a:solidFill>
          </a:ln>
        </p:spPr>
      </p:pic>
      <p:pic>
        <p:nvPicPr>
          <p:cNvPr id="9" name="Picture 8" descr="lo_web_detail.jpg"/>
          <p:cNvPicPr>
            <a:picLocks noChangeAspect="1"/>
          </p:cNvPicPr>
          <p:nvPr/>
        </p:nvPicPr>
        <p:blipFill>
          <a:blip r:embed="rId5"/>
          <a:stretch>
            <a:fillRect/>
          </a:stretch>
        </p:blipFill>
        <p:spPr>
          <a:xfrm>
            <a:off x="3291840" y="2276155"/>
            <a:ext cx="841248" cy="751208"/>
          </a:xfrm>
          <a:prstGeom prst="rect">
            <a:avLst/>
          </a:prstGeom>
          <a:ln w="15875">
            <a:solidFill>
              <a:srgbClr val="C68B59"/>
            </a:solidFill>
          </a:ln>
        </p:spPr>
      </p:pic>
      <p:pic>
        <p:nvPicPr>
          <p:cNvPr id="10" name="Picture 9" descr="lo_web_fees.jpg"/>
          <p:cNvPicPr>
            <a:picLocks noChangeAspect="1"/>
          </p:cNvPicPr>
          <p:nvPr/>
        </p:nvPicPr>
        <p:blipFill>
          <a:blip r:embed="rId6"/>
          <a:stretch>
            <a:fillRect/>
          </a:stretch>
        </p:blipFill>
        <p:spPr>
          <a:xfrm>
            <a:off x="4206240" y="2233764"/>
            <a:ext cx="841248" cy="835990"/>
          </a:xfrm>
          <a:prstGeom prst="rect">
            <a:avLst/>
          </a:prstGeom>
          <a:ln w="15875">
            <a:solidFill>
              <a:srgbClr val="C68B59"/>
            </a:solidFill>
          </a:ln>
        </p:spPr>
      </p:pic>
      <p:pic>
        <p:nvPicPr>
          <p:cNvPr id="11" name="Picture 10" descr="lo_web_contact.jpg"/>
          <p:cNvPicPr>
            <a:picLocks noChangeAspect="1"/>
          </p:cNvPicPr>
          <p:nvPr/>
        </p:nvPicPr>
        <p:blipFill>
          <a:blip r:embed="rId7"/>
          <a:stretch>
            <a:fillRect/>
          </a:stretch>
        </p:blipFill>
        <p:spPr>
          <a:xfrm>
            <a:off x="5120640" y="2264983"/>
            <a:ext cx="841248" cy="773553"/>
          </a:xfrm>
          <a:prstGeom prst="rect">
            <a:avLst/>
          </a:prstGeom>
          <a:ln w="15875">
            <a:solidFill>
              <a:srgbClr val="C68B59"/>
            </a:solidFill>
          </a:ln>
        </p:spPr>
      </p:pic>
      <p:pic>
        <p:nvPicPr>
          <p:cNvPr id="12" name="Picture 11" descr="lo_mob_home.jpg"/>
          <p:cNvPicPr>
            <a:picLocks noChangeAspect="1"/>
          </p:cNvPicPr>
          <p:nvPr/>
        </p:nvPicPr>
        <p:blipFill>
          <a:blip r:embed="rId8"/>
          <a:stretch>
            <a:fillRect/>
          </a:stretch>
        </p:blipFill>
        <p:spPr>
          <a:xfrm>
            <a:off x="610112" y="3291840"/>
            <a:ext cx="718302" cy="1554480"/>
          </a:xfrm>
          <a:prstGeom prst="rect">
            <a:avLst/>
          </a:prstGeom>
          <a:ln w="15875">
            <a:solidFill>
              <a:srgbClr val="C68B59"/>
            </a:solidFill>
          </a:ln>
        </p:spPr>
      </p:pic>
      <p:pic>
        <p:nvPicPr>
          <p:cNvPr id="13" name="Picture 12" descr="lo_mob_about.jpg"/>
          <p:cNvPicPr>
            <a:picLocks noChangeAspect="1"/>
          </p:cNvPicPr>
          <p:nvPr/>
        </p:nvPicPr>
        <p:blipFill>
          <a:blip r:embed="rId9"/>
          <a:stretch>
            <a:fillRect/>
          </a:stretch>
        </p:blipFill>
        <p:spPr>
          <a:xfrm>
            <a:off x="1524512" y="3291840"/>
            <a:ext cx="718302" cy="1554480"/>
          </a:xfrm>
          <a:prstGeom prst="rect">
            <a:avLst/>
          </a:prstGeom>
          <a:ln w="15875">
            <a:solidFill>
              <a:srgbClr val="C68B59"/>
            </a:solidFill>
          </a:ln>
        </p:spPr>
      </p:pic>
      <p:pic>
        <p:nvPicPr>
          <p:cNvPr id="14" name="Picture 13" descr="lo_mob_summary.jpg"/>
          <p:cNvPicPr>
            <a:picLocks noChangeAspect="1"/>
          </p:cNvPicPr>
          <p:nvPr/>
        </p:nvPicPr>
        <p:blipFill>
          <a:blip r:embed="rId10"/>
          <a:stretch>
            <a:fillRect/>
          </a:stretch>
        </p:blipFill>
        <p:spPr>
          <a:xfrm>
            <a:off x="2438912" y="3291840"/>
            <a:ext cx="718302" cy="1554480"/>
          </a:xfrm>
          <a:prstGeom prst="rect">
            <a:avLst/>
          </a:prstGeom>
          <a:ln w="15875">
            <a:solidFill>
              <a:srgbClr val="C68B59"/>
            </a:solidFill>
          </a:ln>
        </p:spPr>
      </p:pic>
      <p:pic>
        <p:nvPicPr>
          <p:cNvPr id="15" name="Picture 14" descr="lo_mob_detail.jpg"/>
          <p:cNvPicPr>
            <a:picLocks noChangeAspect="1"/>
          </p:cNvPicPr>
          <p:nvPr/>
        </p:nvPicPr>
        <p:blipFill>
          <a:blip r:embed="rId11"/>
          <a:stretch>
            <a:fillRect/>
          </a:stretch>
        </p:blipFill>
        <p:spPr>
          <a:xfrm>
            <a:off x="3353312" y="3291840"/>
            <a:ext cx="718302" cy="1554480"/>
          </a:xfrm>
          <a:prstGeom prst="rect">
            <a:avLst/>
          </a:prstGeom>
          <a:ln w="15875">
            <a:solidFill>
              <a:srgbClr val="C68B59"/>
            </a:solidFill>
          </a:ln>
        </p:spPr>
      </p:pic>
      <p:pic>
        <p:nvPicPr>
          <p:cNvPr id="16" name="Picture 15" descr="lo_mob_fees.jpg"/>
          <p:cNvPicPr>
            <a:picLocks noChangeAspect="1"/>
          </p:cNvPicPr>
          <p:nvPr/>
        </p:nvPicPr>
        <p:blipFill>
          <a:blip r:embed="rId12"/>
          <a:stretch>
            <a:fillRect/>
          </a:stretch>
        </p:blipFill>
        <p:spPr>
          <a:xfrm>
            <a:off x="4267712" y="3291840"/>
            <a:ext cx="718302" cy="1554480"/>
          </a:xfrm>
          <a:prstGeom prst="rect">
            <a:avLst/>
          </a:prstGeom>
          <a:ln w="15875">
            <a:solidFill>
              <a:srgbClr val="C68B59"/>
            </a:solidFill>
          </a:ln>
        </p:spPr>
      </p:pic>
      <p:pic>
        <p:nvPicPr>
          <p:cNvPr id="17" name="Picture 16" descr="lo_mob_contact.jpg"/>
          <p:cNvPicPr>
            <a:picLocks noChangeAspect="1"/>
          </p:cNvPicPr>
          <p:nvPr/>
        </p:nvPicPr>
        <p:blipFill>
          <a:blip r:embed="rId13"/>
          <a:stretch>
            <a:fillRect/>
          </a:stretch>
        </p:blipFill>
        <p:spPr>
          <a:xfrm>
            <a:off x="5182112" y="3291840"/>
            <a:ext cx="718302" cy="1554480"/>
          </a:xfrm>
          <a:prstGeom prst="rect">
            <a:avLst/>
          </a:prstGeom>
          <a:ln w="15875">
            <a:solidFill>
              <a:srgbClr val="C68B59"/>
            </a:solidFill>
          </a:ln>
        </p:spPr>
      </p:pic>
      <p:sp>
        <p:nvSpPr>
          <p:cNvPr id="18" name="Rounded Rectangle 17"/>
          <p:cNvSpPr/>
          <p:nvPr/>
        </p:nvSpPr>
        <p:spPr>
          <a:xfrm>
            <a:off x="6400800" y="1691640"/>
            <a:ext cx="292608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High-fidelity (6 + 7)</a:t>
            </a:r>
          </a:p>
        </p:txBody>
      </p:sp>
      <p:pic>
        <p:nvPicPr>
          <p:cNvPr id="19" name="Picture 18" descr="hi_web_home.jpg"/>
          <p:cNvPicPr>
            <a:picLocks noChangeAspect="1"/>
          </p:cNvPicPr>
          <p:nvPr/>
        </p:nvPicPr>
        <p:blipFill>
          <a:blip r:embed="rId14"/>
          <a:stretch>
            <a:fillRect/>
          </a:stretch>
        </p:blipFill>
        <p:spPr>
          <a:xfrm>
            <a:off x="6400800" y="2204161"/>
            <a:ext cx="804672" cy="895197"/>
          </a:xfrm>
          <a:prstGeom prst="rect">
            <a:avLst/>
          </a:prstGeom>
          <a:ln w="15875">
            <a:solidFill>
              <a:srgbClr val="C68B59"/>
            </a:solidFill>
          </a:ln>
        </p:spPr>
      </p:pic>
      <p:pic>
        <p:nvPicPr>
          <p:cNvPr id="20" name="Picture 19" descr="hi_web_about.jpg"/>
          <p:cNvPicPr>
            <a:picLocks noChangeAspect="1"/>
          </p:cNvPicPr>
          <p:nvPr/>
        </p:nvPicPr>
        <p:blipFill>
          <a:blip r:embed="rId15"/>
          <a:stretch>
            <a:fillRect/>
          </a:stretch>
        </p:blipFill>
        <p:spPr>
          <a:xfrm>
            <a:off x="7269480" y="2151354"/>
            <a:ext cx="804672" cy="1000810"/>
          </a:xfrm>
          <a:prstGeom prst="rect">
            <a:avLst/>
          </a:prstGeom>
          <a:ln w="15875">
            <a:solidFill>
              <a:srgbClr val="C68B59"/>
            </a:solidFill>
          </a:ln>
        </p:spPr>
      </p:pic>
      <p:pic>
        <p:nvPicPr>
          <p:cNvPr id="21" name="Picture 20" descr="hi_web_summary.jpg"/>
          <p:cNvPicPr>
            <a:picLocks noChangeAspect="1"/>
          </p:cNvPicPr>
          <p:nvPr/>
        </p:nvPicPr>
        <p:blipFill>
          <a:blip r:embed="rId16"/>
          <a:stretch>
            <a:fillRect/>
          </a:stretch>
        </p:blipFill>
        <p:spPr>
          <a:xfrm>
            <a:off x="8138160" y="2197560"/>
            <a:ext cx="804672" cy="908399"/>
          </a:xfrm>
          <a:prstGeom prst="rect">
            <a:avLst/>
          </a:prstGeom>
          <a:ln w="15875">
            <a:solidFill>
              <a:srgbClr val="C68B59"/>
            </a:solidFill>
          </a:ln>
        </p:spPr>
      </p:pic>
      <p:pic>
        <p:nvPicPr>
          <p:cNvPr id="22" name="Picture 21" descr="hi_web_detail.jpg"/>
          <p:cNvPicPr>
            <a:picLocks noChangeAspect="1"/>
          </p:cNvPicPr>
          <p:nvPr/>
        </p:nvPicPr>
        <p:blipFill>
          <a:blip r:embed="rId17"/>
          <a:stretch>
            <a:fillRect/>
          </a:stretch>
        </p:blipFill>
        <p:spPr>
          <a:xfrm>
            <a:off x="9006840" y="2342778"/>
            <a:ext cx="804672" cy="617962"/>
          </a:xfrm>
          <a:prstGeom prst="rect">
            <a:avLst/>
          </a:prstGeom>
          <a:ln w="15875">
            <a:solidFill>
              <a:srgbClr val="C68B59"/>
            </a:solidFill>
          </a:ln>
        </p:spPr>
      </p:pic>
      <p:pic>
        <p:nvPicPr>
          <p:cNvPr id="23" name="Picture 22" descr="hi_web_fees.jpg"/>
          <p:cNvPicPr>
            <a:picLocks noChangeAspect="1"/>
          </p:cNvPicPr>
          <p:nvPr/>
        </p:nvPicPr>
        <p:blipFill>
          <a:blip r:embed="rId18"/>
          <a:stretch>
            <a:fillRect/>
          </a:stretch>
        </p:blipFill>
        <p:spPr>
          <a:xfrm>
            <a:off x="9875520" y="2182472"/>
            <a:ext cx="804672" cy="938574"/>
          </a:xfrm>
          <a:prstGeom prst="rect">
            <a:avLst/>
          </a:prstGeom>
          <a:ln w="15875">
            <a:solidFill>
              <a:srgbClr val="C68B59"/>
            </a:solidFill>
          </a:ln>
        </p:spPr>
      </p:pic>
      <p:pic>
        <p:nvPicPr>
          <p:cNvPr id="24" name="Picture 23" descr="hi_web_contact.jpg"/>
          <p:cNvPicPr>
            <a:picLocks noChangeAspect="1"/>
          </p:cNvPicPr>
          <p:nvPr/>
        </p:nvPicPr>
        <p:blipFill>
          <a:blip r:embed="rId19"/>
          <a:stretch>
            <a:fillRect/>
          </a:stretch>
        </p:blipFill>
        <p:spPr>
          <a:xfrm>
            <a:off x="10744200" y="2303173"/>
            <a:ext cx="804672" cy="697172"/>
          </a:xfrm>
          <a:prstGeom prst="rect">
            <a:avLst/>
          </a:prstGeom>
          <a:ln w="15875">
            <a:solidFill>
              <a:srgbClr val="C68B59"/>
            </a:solidFill>
          </a:ln>
        </p:spPr>
      </p:pic>
      <p:pic>
        <p:nvPicPr>
          <p:cNvPr id="25" name="Picture 24" descr="hi_mob_splash.jpg"/>
          <p:cNvPicPr>
            <a:picLocks noChangeAspect="1"/>
          </p:cNvPicPr>
          <p:nvPr/>
        </p:nvPicPr>
        <p:blipFill>
          <a:blip r:embed="rId20"/>
          <a:stretch>
            <a:fillRect/>
          </a:stretch>
        </p:blipFill>
        <p:spPr>
          <a:xfrm>
            <a:off x="6400800" y="3317114"/>
            <a:ext cx="694944" cy="1503930"/>
          </a:xfrm>
          <a:prstGeom prst="rect">
            <a:avLst/>
          </a:prstGeom>
          <a:ln w="15875">
            <a:solidFill>
              <a:srgbClr val="C68B59"/>
            </a:solidFill>
          </a:ln>
        </p:spPr>
      </p:pic>
      <p:pic>
        <p:nvPicPr>
          <p:cNvPr id="26" name="Picture 25" descr="hi_mob_home.jpg"/>
          <p:cNvPicPr>
            <a:picLocks noChangeAspect="1"/>
          </p:cNvPicPr>
          <p:nvPr/>
        </p:nvPicPr>
        <p:blipFill>
          <a:blip r:embed="rId21"/>
          <a:stretch>
            <a:fillRect/>
          </a:stretch>
        </p:blipFill>
        <p:spPr>
          <a:xfrm>
            <a:off x="7150608" y="3317114"/>
            <a:ext cx="694944" cy="1503930"/>
          </a:xfrm>
          <a:prstGeom prst="rect">
            <a:avLst/>
          </a:prstGeom>
          <a:ln w="15875">
            <a:solidFill>
              <a:srgbClr val="C68B59"/>
            </a:solidFill>
          </a:ln>
        </p:spPr>
      </p:pic>
      <p:pic>
        <p:nvPicPr>
          <p:cNvPr id="27" name="Picture 26" descr="hi_mob_about.jpg"/>
          <p:cNvPicPr>
            <a:picLocks noChangeAspect="1"/>
          </p:cNvPicPr>
          <p:nvPr/>
        </p:nvPicPr>
        <p:blipFill>
          <a:blip r:embed="rId22"/>
          <a:stretch>
            <a:fillRect/>
          </a:stretch>
        </p:blipFill>
        <p:spPr>
          <a:xfrm>
            <a:off x="7900416" y="3315333"/>
            <a:ext cx="694944" cy="1507493"/>
          </a:xfrm>
          <a:prstGeom prst="rect">
            <a:avLst/>
          </a:prstGeom>
          <a:ln w="15875">
            <a:solidFill>
              <a:srgbClr val="C68B59"/>
            </a:solidFill>
          </a:ln>
        </p:spPr>
      </p:pic>
      <p:pic>
        <p:nvPicPr>
          <p:cNvPr id="28" name="Picture 27" descr="hi_mob_summary.jpg"/>
          <p:cNvPicPr>
            <a:picLocks noChangeAspect="1"/>
          </p:cNvPicPr>
          <p:nvPr/>
        </p:nvPicPr>
        <p:blipFill>
          <a:blip r:embed="rId23"/>
          <a:stretch>
            <a:fillRect/>
          </a:stretch>
        </p:blipFill>
        <p:spPr>
          <a:xfrm>
            <a:off x="8650224" y="3319787"/>
            <a:ext cx="694944" cy="1498584"/>
          </a:xfrm>
          <a:prstGeom prst="rect">
            <a:avLst/>
          </a:prstGeom>
          <a:ln w="15875">
            <a:solidFill>
              <a:srgbClr val="C68B59"/>
            </a:solidFill>
          </a:ln>
        </p:spPr>
      </p:pic>
      <p:pic>
        <p:nvPicPr>
          <p:cNvPr id="29" name="Picture 28" descr="hi_mob_detail.jpg"/>
          <p:cNvPicPr>
            <a:picLocks noChangeAspect="1"/>
          </p:cNvPicPr>
          <p:nvPr/>
        </p:nvPicPr>
        <p:blipFill>
          <a:blip r:embed="rId24"/>
          <a:stretch>
            <a:fillRect/>
          </a:stretch>
        </p:blipFill>
        <p:spPr>
          <a:xfrm>
            <a:off x="9400032" y="3324242"/>
            <a:ext cx="694944" cy="1489674"/>
          </a:xfrm>
          <a:prstGeom prst="rect">
            <a:avLst/>
          </a:prstGeom>
          <a:ln w="15875">
            <a:solidFill>
              <a:srgbClr val="C68B59"/>
            </a:solidFill>
          </a:ln>
        </p:spPr>
      </p:pic>
      <p:pic>
        <p:nvPicPr>
          <p:cNvPr id="30" name="Picture 29" descr="hi_mob_fees.jpg"/>
          <p:cNvPicPr>
            <a:picLocks noChangeAspect="1"/>
          </p:cNvPicPr>
          <p:nvPr/>
        </p:nvPicPr>
        <p:blipFill>
          <a:blip r:embed="rId25"/>
          <a:stretch>
            <a:fillRect/>
          </a:stretch>
        </p:blipFill>
        <p:spPr>
          <a:xfrm>
            <a:off x="10149840" y="3296623"/>
            <a:ext cx="694944" cy="1544913"/>
          </a:xfrm>
          <a:prstGeom prst="rect">
            <a:avLst/>
          </a:prstGeom>
          <a:ln w="15875">
            <a:solidFill>
              <a:srgbClr val="C68B59"/>
            </a:solidFill>
          </a:ln>
        </p:spPr>
      </p:pic>
      <p:pic>
        <p:nvPicPr>
          <p:cNvPr id="31" name="Picture 30" descr="hi_mob_contact.jpg"/>
          <p:cNvPicPr>
            <a:picLocks noChangeAspect="1"/>
          </p:cNvPicPr>
          <p:nvPr/>
        </p:nvPicPr>
        <p:blipFill>
          <a:blip r:embed="rId26"/>
          <a:stretch>
            <a:fillRect/>
          </a:stretch>
        </p:blipFill>
        <p:spPr>
          <a:xfrm>
            <a:off x="10899648" y="3293950"/>
            <a:ext cx="694944" cy="1550259"/>
          </a:xfrm>
          <a:prstGeom prst="rect">
            <a:avLst/>
          </a:prstGeom>
          <a:ln w="15875">
            <a:solidFill>
              <a:srgbClr val="C68B59"/>
            </a:solidFill>
          </a:ln>
        </p:spPr>
      </p:pic>
      <p:sp>
        <p:nvSpPr>
          <p:cNvPr id="32" name="TextBox 31"/>
          <p:cNvSpPr txBox="1"/>
          <p:nvPr/>
        </p:nvSpPr>
        <p:spPr>
          <a:xfrm>
            <a:off x="548640" y="5074920"/>
            <a:ext cx="5486400" cy="128016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Low-fi: grey boxes, layout and flow only. No colour, no photos.</a:t>
            </a:r>
          </a:p>
        </p:txBody>
      </p:sp>
      <p:sp>
        <p:nvSpPr>
          <p:cNvPr id="33" name="TextBox 32"/>
          <p:cNvSpPr txBox="1"/>
          <p:nvPr/>
        </p:nvSpPr>
        <p:spPr>
          <a:xfrm>
            <a:off x="6400800" y="5074920"/>
            <a:ext cx="5303520" cy="128016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High-fi: real palette, fonts, photos and content.</a:t>
            </a:r>
          </a:p>
        </p:txBody>
      </p:sp>
      <p:sp>
        <p:nvSpPr>
          <p:cNvPr id="34" name="TextBox 33"/>
          <p:cNvSpPr txBox="1"/>
          <p:nvPr/>
        </p:nvSpPr>
        <p:spPr>
          <a:xfrm>
            <a:off x="548640" y="5852160"/>
            <a:ext cx="10972800" cy="548640"/>
          </a:xfrm>
          <a:prstGeom prst="rect">
            <a:avLst/>
          </a:prstGeom>
          <a:noFill/>
        </p:spPr>
        <p:txBody>
          <a:bodyPr wrap="square" anchor="t" lIns="45720" rIns="45720">
            <a:spAutoFit/>
          </a:bodyPr>
          <a:lstStyle/>
          <a:p>
            <a:pPr algn="l">
              <a:spcAft>
                <a:spcPts val="600"/>
              </a:spcAft>
            </a:pPr>
            <a:r>
              <a:rPr sz="1300" b="0">
                <a:solidFill>
                  <a:srgbClr val="5A3E2B"/>
                </a:solidFill>
                <a:latin typeface="Calibri"/>
              </a:rPr>
              <a:t>Top row: website screens. Bottom row: mobile screens.</a:t>
            </a:r>
          </a:p>
        </p:txBody>
      </p:sp>
      <p:sp>
        <p:nvSpPr>
          <p:cNvPr id="35" name="TextBox 34"/>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Theolin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6"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childTnLst>
                                </p:cTn>
                              </p:par>
                              <p:par>
                                <p:cTn id="44" presetID="10" presetClass="entr" presetSubtype="0" fill="hold" nodeType="withEffect">
                                  <p:stCondLst>
                                    <p:cond delay="150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childTnLst>
                                </p:cTn>
                              </p:par>
                              <p:par>
                                <p:cTn id="48" presetID="10" presetClass="entr" presetSubtype="0" fill="hold" nodeType="withEffect">
                                  <p:stCondLst>
                                    <p:cond delay="16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1000"/>
                                        <p:tgtEl>
                                          <p:spTgt spid="21"/>
                                        </p:tgtEl>
                                      </p:cBhvr>
                                    </p:animEffect>
                                  </p:childTnLst>
                                </p:cTn>
                              </p:par>
                              <p:par>
                                <p:cTn id="52" presetID="10" presetClass="entr" presetSubtype="0" fill="hold" nodeType="withEffect">
                                  <p:stCondLst>
                                    <p:cond delay="180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1000"/>
                                        <p:tgtEl>
                                          <p:spTgt spid="23"/>
                                        </p:tgtEl>
                                      </p:cBhvr>
                                    </p:animEffect>
                                  </p:childTnLst>
                                </p:cTn>
                              </p:par>
                              <p:par>
                                <p:cTn id="56" presetID="10" presetClass="entr" presetSubtype="0" fill="hold" nodeType="withEffect">
                                  <p:stCondLst>
                                    <p:cond delay="1800"/>
                                  </p:stCondLst>
                                  <p:childTnLst>
                                    <p:set>
                                      <p:cBhvr>
                                        <p:cTn id="57" dur="1" fill="hold">
                                          <p:stCondLst>
                                            <p:cond delay="0"/>
                                          </p:stCondLst>
                                        </p:cTn>
                                        <p:tgtEl>
                                          <p:spTgt spid="9"/>
                                        </p:tgtEl>
                                        <p:attrNameLst>
                                          <p:attrName>style.visibility</p:attrName>
                                        </p:attrNameLst>
                                      </p:cBhvr>
                                      <p:to>
                                        <p:strVal val="visible"/>
                                      </p:to>
                                    </p:set>
                                    <p:animEffect transition="in" filter="fade">
                                      <p:cBhvr>
                                        <p:cTn id="58" dur="1000"/>
                                        <p:tgtEl>
                                          <p:spTgt spid="9"/>
                                        </p:tgtEl>
                                      </p:cBhvr>
                                    </p:animEffect>
                                  </p:childTnLst>
                                </p:cTn>
                              </p:par>
                              <p:par>
                                <p:cTn id="60" presetID="10" presetClass="entr" presetSubtype="0" fill="hold" nodeType="withEffect">
                                  <p:stCondLst>
                                    <p:cond delay="180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1000"/>
                                        <p:tgtEl>
                                          <p:spTgt spid="11"/>
                                        </p:tgtEl>
                                      </p:cBhvr>
                                    </p:animEffect>
                                  </p:childTnLst>
                                </p:cTn>
                              </p:par>
                              <p:par>
                                <p:cTn id="64" presetID="10" presetClass="entr" presetSubtype="0" fill="hold" nodeType="withEffect">
                                  <p:stCondLst>
                                    <p:cond delay="180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1000"/>
                                        <p:tgtEl>
                                          <p:spTgt spid="24"/>
                                        </p:tgtEl>
                                      </p:cBhvr>
                                    </p:animEffect>
                                  </p:childTnLst>
                                </p:cTn>
                              </p:par>
                              <p:par>
                                <p:cTn id="68" presetID="10" presetClass="entr" presetSubtype="0" fill="hold" nodeType="withEffect">
                                  <p:stCondLst>
                                    <p:cond delay="180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1000"/>
                                        <p:tgtEl>
                                          <p:spTgt spid="22"/>
                                        </p:tgtEl>
                                      </p:cBhvr>
                                    </p:animEffect>
                                  </p:childTnLst>
                                </p:cTn>
                              </p:par>
                              <p:par>
                                <p:cTn id="72" presetID="10" presetClass="entr" presetSubtype="0" fill="hold" nodeType="withEffect">
                                  <p:stCondLst>
                                    <p:cond delay="180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1000"/>
                                        <p:tgtEl>
                                          <p:spTgt spid="12"/>
                                        </p:tgtEl>
                                      </p:cBhvr>
                                    </p:animEffect>
                                  </p:childTnLst>
                                </p:cTn>
                              </p:par>
                              <p:par>
                                <p:cTn id="76" presetID="10" presetClass="entr" presetSubtype="0" fill="hold" nodeType="withEffect">
                                  <p:stCondLst>
                                    <p:cond delay="1800"/>
                                  </p:stCondLst>
                                  <p:childTnLst>
                                    <p:set>
                                      <p:cBhvr>
                                        <p:cTn id="77" dur="1" fill="hold">
                                          <p:stCondLst>
                                            <p:cond delay="0"/>
                                          </p:stCondLst>
                                        </p:cTn>
                                        <p:tgtEl>
                                          <p:spTgt spid="13"/>
                                        </p:tgtEl>
                                        <p:attrNameLst>
                                          <p:attrName>style.visibility</p:attrName>
                                        </p:attrNameLst>
                                      </p:cBhvr>
                                      <p:to>
                                        <p:strVal val="visible"/>
                                      </p:to>
                                    </p:set>
                                    <p:animEffect transition="in" filter="fade">
                                      <p:cBhvr>
                                        <p:cTn id="78" dur="1000"/>
                                        <p:tgtEl>
                                          <p:spTgt spid="13"/>
                                        </p:tgtEl>
                                      </p:cBhvr>
                                    </p:animEffect>
                                  </p:childTnLst>
                                </p:cTn>
                              </p:par>
                              <p:par>
                                <p:cTn id="80" presetID="10" presetClass="entr" presetSubtype="0" fill="hold" nodeType="withEffect">
                                  <p:stCondLst>
                                    <p:cond delay="180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1000"/>
                                        <p:tgtEl>
                                          <p:spTgt spid="14"/>
                                        </p:tgtEl>
                                      </p:cBhvr>
                                    </p:animEffect>
                                  </p:childTnLst>
                                </p:cTn>
                              </p:par>
                              <p:par>
                                <p:cTn id="84" presetID="10" presetClass="entr" presetSubtype="0" fill="hold" nodeType="withEffect">
                                  <p:stCondLst>
                                    <p:cond delay="180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1000"/>
                                        <p:tgtEl>
                                          <p:spTgt spid="15"/>
                                        </p:tgtEl>
                                      </p:cBhvr>
                                    </p:animEffect>
                                  </p:childTnLst>
                                </p:cTn>
                              </p:par>
                              <p:par>
                                <p:cTn id="88" presetID="10" presetClass="entr" presetSubtype="0" fill="hold" nodeType="withEffect">
                                  <p:stCondLst>
                                    <p:cond delay="1800"/>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1000"/>
                                        <p:tgtEl>
                                          <p:spTgt spid="16"/>
                                        </p:tgtEl>
                                      </p:cBhvr>
                                    </p:animEffect>
                                  </p:childTnLst>
                                </p:cTn>
                              </p:par>
                              <p:par>
                                <p:cTn id="92" presetID="10" presetClass="entr" presetSubtype="0" fill="hold" nodeType="withEffect">
                                  <p:stCondLst>
                                    <p:cond delay="180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1000"/>
                                        <p:tgtEl>
                                          <p:spTgt spid="17"/>
                                        </p:tgtEl>
                                      </p:cBhvr>
                                    </p:animEffect>
                                  </p:childTnLst>
                                </p:cTn>
                              </p:par>
                              <p:par>
                                <p:cTn id="96" presetID="10" presetClass="entr" presetSubtype="0" fill="hold" nodeType="withEffect">
                                  <p:stCondLst>
                                    <p:cond delay="180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1000"/>
                                        <p:tgtEl>
                                          <p:spTgt spid="25"/>
                                        </p:tgtEl>
                                      </p:cBhvr>
                                    </p:animEffect>
                                  </p:childTnLst>
                                </p:cTn>
                              </p:par>
                              <p:par>
                                <p:cTn id="100" presetID="10" presetClass="entr" presetSubtype="0" fill="hold" nodeType="withEffect">
                                  <p:stCondLst>
                                    <p:cond delay="180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1000"/>
                                        <p:tgtEl>
                                          <p:spTgt spid="26"/>
                                        </p:tgtEl>
                                      </p:cBhvr>
                                    </p:animEffect>
                                  </p:childTnLst>
                                </p:cTn>
                              </p:par>
                              <p:par>
                                <p:cTn id="104" presetID="10" presetClass="entr" presetSubtype="0" fill="hold" nodeType="withEffect">
                                  <p:stCondLst>
                                    <p:cond delay="180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1000"/>
                                        <p:tgtEl>
                                          <p:spTgt spid="27"/>
                                        </p:tgtEl>
                                      </p:cBhvr>
                                    </p:animEffect>
                                  </p:childTnLst>
                                </p:cTn>
                              </p:par>
                              <p:par>
                                <p:cTn id="108" presetID="10" presetClass="entr" presetSubtype="0" fill="hold" nodeType="withEffect">
                                  <p:stCondLst>
                                    <p:cond delay="180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1000"/>
                                        <p:tgtEl>
                                          <p:spTgt spid="28"/>
                                        </p:tgtEl>
                                      </p:cBhvr>
                                    </p:animEffect>
                                  </p:childTnLst>
                                </p:cTn>
                              </p:par>
                              <p:par>
                                <p:cTn id="112" presetID="10" presetClass="entr" presetSubtype="0" fill="hold" nodeType="withEffect">
                                  <p:stCondLst>
                                    <p:cond delay="180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1000"/>
                                        <p:tgtEl>
                                          <p:spTgt spid="29"/>
                                        </p:tgtEl>
                                      </p:cBhvr>
                                    </p:animEffect>
                                  </p:childTnLst>
                                </p:cTn>
                              </p:par>
                              <p:par>
                                <p:cTn id="116" presetID="10" presetClass="entr" presetSubtype="0" fill="hold" nodeType="withEffect">
                                  <p:stCondLst>
                                    <p:cond delay="180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1000"/>
                                        <p:tgtEl>
                                          <p:spTgt spid="30"/>
                                        </p:tgtEl>
                                      </p:cBhvr>
                                    </p:animEffect>
                                  </p:childTnLst>
                                </p:cTn>
                              </p:par>
                              <p:par>
                                <p:cTn id="120" presetID="10" presetClass="entr" presetSubtype="0" fill="hold" nodeType="withEffect">
                                  <p:stCondLst>
                                    <p:cond delay="180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1000"/>
                                        <p:tgtEl>
                                          <p:spTgt spid="31"/>
                                        </p:tgtEl>
                                      </p:cBhvr>
                                    </p:animEffect>
                                  </p:childTnLst>
                                </p:cTn>
                              </p:par>
                              <p:par>
                                <p:cTn id="124" presetID="10" presetClass="entr" presetSubtype="0" fill="hold" nodeType="withEffect">
                                  <p:stCondLst>
                                    <p:cond delay="1800"/>
                                  </p:stCondLst>
                                  <p:childTnLst>
                                    <p:set>
                                      <p:cBhvr>
                                        <p:cTn id="125" dur="1" fill="hold">
                                          <p:stCondLst>
                                            <p:cond delay="0"/>
                                          </p:stCondLst>
                                        </p:cTn>
                                        <p:tgtEl>
                                          <p:spTgt spid="32"/>
                                        </p:tgtEl>
                                        <p:attrNameLst>
                                          <p:attrName>style.visibility</p:attrName>
                                        </p:attrNameLst>
                                      </p:cBhvr>
                                      <p:to>
                                        <p:strVal val="visible"/>
                                      </p:to>
                                    </p:set>
                                    <p:animEffect transition="in" filter="fade">
                                      <p:cBhvr>
                                        <p:cTn id="126" dur="1000"/>
                                        <p:tgtEl>
                                          <p:spTgt spid="32"/>
                                        </p:tgtEl>
                                      </p:cBhvr>
                                    </p:animEffect>
                                  </p:childTnLst>
                                </p:cTn>
                              </p:par>
                              <p:par>
                                <p:cTn id="128" presetID="10" presetClass="entr" presetSubtype="0" fill="hold" nodeType="withEffect">
                                  <p:stCondLst>
                                    <p:cond delay="1800"/>
                                  </p:stCondLst>
                                  <p:childTnLst>
                                    <p:set>
                                      <p:cBhvr>
                                        <p:cTn id="129" dur="1" fill="hold">
                                          <p:stCondLst>
                                            <p:cond delay="0"/>
                                          </p:stCondLst>
                                        </p:cTn>
                                        <p:tgtEl>
                                          <p:spTgt spid="33"/>
                                        </p:tgtEl>
                                        <p:attrNameLst>
                                          <p:attrName>style.visibility</p:attrName>
                                        </p:attrNameLst>
                                      </p:cBhvr>
                                      <p:to>
                                        <p:strVal val="visible"/>
                                      </p:to>
                                    </p:set>
                                    <p:animEffect transition="in" filter="fade">
                                      <p:cBhvr>
                                        <p:cTn id="130" dur="1000"/>
                                        <p:tgtEl>
                                          <p:spTgt spid="33"/>
                                        </p:tgtEl>
                                      </p:cBhvr>
                                    </p:animEffect>
                                  </p:childTnLst>
                                </p:cTn>
                              </p:par>
                              <p:par>
                                <p:cTn id="132" presetID="10" presetClass="entr" presetSubtype="0" fill="hold" nodeType="withEffect">
                                  <p:stCondLst>
                                    <p:cond delay="1800"/>
                                  </p:stCondLst>
                                  <p:childTnLst>
                                    <p:set>
                                      <p:cBhvr>
                                        <p:cTn id="133" dur="1" fill="hold">
                                          <p:stCondLst>
                                            <p:cond delay="0"/>
                                          </p:stCondLst>
                                        </p:cTn>
                                        <p:tgtEl>
                                          <p:spTgt spid="34"/>
                                        </p:tgtEl>
                                        <p:attrNameLst>
                                          <p:attrName>style.visibility</p:attrName>
                                        </p:attrNameLst>
                                      </p:cBhvr>
                                      <p:to>
                                        <p:strVal val="visible"/>
                                      </p:to>
                                    </p:set>
                                    <p:animEffect transition="in" filter="fade">
                                      <p:cBhvr>
                                        <p:cTn id="134"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Before and after: Fees Calculator (website)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Same layout, now with brand colour, real prices and a clear total</a:t>
            </a:r>
          </a:p>
        </p:txBody>
      </p:sp>
      <p:sp>
        <p:nvSpPr>
          <p:cNvPr id="5" name="Rounded Rectangle 4"/>
          <p:cNvSpPr/>
          <p:nvPr/>
        </p:nvSpPr>
        <p:spPr>
          <a:xfrm>
            <a:off x="548640" y="1737360"/>
            <a:ext cx="548640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_web_fees.jpg"/>
          <p:cNvPicPr>
            <a:picLocks noChangeAspect="1"/>
          </p:cNvPicPr>
          <p:nvPr/>
        </p:nvPicPr>
        <p:blipFill>
          <a:blip r:embed="rId2"/>
          <a:stretch>
            <a:fillRect/>
          </a:stretch>
        </p:blipFill>
        <p:spPr>
          <a:xfrm>
            <a:off x="1451538" y="1828800"/>
            <a:ext cx="3680603" cy="3657600"/>
          </a:xfrm>
          <a:prstGeom prst="rect">
            <a:avLst/>
          </a:prstGeom>
        </p:spPr>
      </p:pic>
      <p:sp>
        <p:nvSpPr>
          <p:cNvPr id="7" name="Rounded Rectangle 6"/>
          <p:cNvSpPr/>
          <p:nvPr/>
        </p:nvSpPr>
        <p:spPr>
          <a:xfrm>
            <a:off x="2377440" y="5532120"/>
            <a:ext cx="18288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Low-fi</a:t>
            </a:r>
          </a:p>
        </p:txBody>
      </p:sp>
      <p:sp>
        <p:nvSpPr>
          <p:cNvPr id="8" name="Rounded Rectangle 7"/>
          <p:cNvSpPr/>
          <p:nvPr/>
        </p:nvSpPr>
        <p:spPr>
          <a:xfrm>
            <a:off x="6217920" y="1737360"/>
            <a:ext cx="548640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i_web_fees.jpg"/>
          <p:cNvPicPr>
            <a:picLocks noChangeAspect="1"/>
          </p:cNvPicPr>
          <p:nvPr/>
        </p:nvPicPr>
        <p:blipFill>
          <a:blip r:embed="rId3"/>
          <a:stretch>
            <a:fillRect/>
          </a:stretch>
        </p:blipFill>
        <p:spPr>
          <a:xfrm>
            <a:off x="7393227" y="1828800"/>
            <a:ext cx="3135785" cy="3657600"/>
          </a:xfrm>
          <a:prstGeom prst="rect">
            <a:avLst/>
          </a:prstGeom>
        </p:spPr>
      </p:pic>
      <p:sp>
        <p:nvSpPr>
          <p:cNvPr id="10" name="Rounded Rectangle 9"/>
          <p:cNvSpPr/>
          <p:nvPr/>
        </p:nvSpPr>
        <p:spPr>
          <a:xfrm>
            <a:off x="8046720" y="5532120"/>
            <a:ext cx="18288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High-fi</a:t>
            </a:r>
          </a:p>
        </p:txBody>
      </p:sp>
      <p:sp>
        <p:nvSpPr>
          <p:cNvPr id="11" name="TextBox 10"/>
          <p:cNvSpPr txBox="1"/>
          <p:nvPr/>
        </p:nvSpPr>
        <p:spPr>
          <a:xfrm>
            <a:off x="548640" y="6035040"/>
            <a:ext cx="11155680" cy="64008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Low-fi placed a rates table and a discount table. High-fi adds the cream/blue/tan palette, the tan call-to-action and a highlighted enrolment summary.</a:t>
            </a:r>
          </a:p>
        </p:txBody>
      </p:sp>
      <p:sp>
        <p:nvSpPr>
          <p:cNvPr id="12" name="TextBox 11"/>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Theolin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Before and after: Fees Calculator (mobile)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Low-fi, then high-fi, and what changed in the finished app</a:t>
            </a:r>
          </a:p>
        </p:txBody>
      </p:sp>
      <p:sp>
        <p:nvSpPr>
          <p:cNvPr id="5" name="Rounded Rectangle 4"/>
          <p:cNvSpPr/>
          <p:nvPr/>
        </p:nvSpPr>
        <p:spPr>
          <a:xfrm>
            <a:off x="731520" y="1783080"/>
            <a:ext cx="2743200" cy="44805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_mob_fees.jpg"/>
          <p:cNvPicPr>
            <a:picLocks noChangeAspect="1"/>
          </p:cNvPicPr>
          <p:nvPr/>
        </p:nvPicPr>
        <p:blipFill>
          <a:blip r:embed="rId2"/>
          <a:stretch>
            <a:fillRect/>
          </a:stretch>
        </p:blipFill>
        <p:spPr>
          <a:xfrm>
            <a:off x="1236931" y="1874519"/>
            <a:ext cx="1732376" cy="3749039"/>
          </a:xfrm>
          <a:prstGeom prst="rect">
            <a:avLst/>
          </a:prstGeom>
        </p:spPr>
      </p:pic>
      <p:sp>
        <p:nvSpPr>
          <p:cNvPr id="7" name="Rounded Rectangle 6"/>
          <p:cNvSpPr/>
          <p:nvPr/>
        </p:nvSpPr>
        <p:spPr>
          <a:xfrm>
            <a:off x="1234440" y="5760720"/>
            <a:ext cx="173736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Low-fi</a:t>
            </a:r>
          </a:p>
        </p:txBody>
      </p:sp>
      <p:sp>
        <p:nvSpPr>
          <p:cNvPr id="8" name="Rounded Rectangle 7"/>
          <p:cNvSpPr/>
          <p:nvPr/>
        </p:nvSpPr>
        <p:spPr>
          <a:xfrm>
            <a:off x="3749039" y="1783080"/>
            <a:ext cx="2743200" cy="44805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i_mob_fees.jpg"/>
          <p:cNvPicPr>
            <a:picLocks noChangeAspect="1"/>
          </p:cNvPicPr>
          <p:nvPr/>
        </p:nvPicPr>
        <p:blipFill>
          <a:blip r:embed="rId3"/>
          <a:stretch>
            <a:fillRect/>
          </a:stretch>
        </p:blipFill>
        <p:spPr>
          <a:xfrm>
            <a:off x="4277430" y="1874519"/>
            <a:ext cx="1686419" cy="3749039"/>
          </a:xfrm>
          <a:prstGeom prst="rect">
            <a:avLst/>
          </a:prstGeom>
        </p:spPr>
      </p:pic>
      <p:sp>
        <p:nvSpPr>
          <p:cNvPr id="10" name="Rounded Rectangle 9"/>
          <p:cNvSpPr/>
          <p:nvPr/>
        </p:nvSpPr>
        <p:spPr>
          <a:xfrm>
            <a:off x="4251959" y="5760720"/>
            <a:ext cx="173736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High-fi</a:t>
            </a:r>
          </a:p>
        </p:txBody>
      </p:sp>
      <p:sp>
        <p:nvSpPr>
          <p:cNvPr id="11" name="TextBox 10"/>
          <p:cNvSpPr txBox="1"/>
          <p:nvPr/>
        </p:nvSpPr>
        <p:spPr>
          <a:xfrm>
            <a:off x="6949440" y="1828800"/>
            <a:ext cx="475488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What changed in the build</a:t>
            </a:r>
          </a:p>
        </p:txBody>
      </p:sp>
      <p:sp>
        <p:nvSpPr>
          <p:cNvPr id="12" name="TextBox 11"/>
          <p:cNvSpPr txBox="1"/>
          <p:nvPr/>
        </p:nvSpPr>
        <p:spPr>
          <a:xfrm>
            <a:off x="6949440" y="2377440"/>
            <a:ext cx="4754880" cy="4114800"/>
          </a:xfrm>
          <a:prstGeom prst="rect">
            <a:avLst/>
          </a:prstGeom>
          <a:noFill/>
        </p:spPr>
        <p:txBody>
          <a:bodyPr wrap="square">
            <a:spAutoFit/>
          </a:bodyPr>
          <a:lstStyle/>
          <a:p>
            <a:pPr>
              <a:spcAft>
                <a:spcPts val="800"/>
              </a:spcAft>
            </a:pPr>
            <a:r>
              <a:rPr sz="1700">
                <a:solidFill>
                  <a:srgbClr val="2F302D"/>
                </a:solidFill>
                <a:latin typeface="Calibri"/>
              </a:rPr>
              <a:t>•  All 7 courses are listed with a checkbox each</a:t>
            </a:r>
          </a:p>
          <a:p>
            <a:pPr>
              <a:spcAft>
                <a:spcPts val="800"/>
              </a:spcAft>
            </a:pPr>
            <a:r>
              <a:rPr sz="1700">
                <a:solidFill>
                  <a:srgbClr val="2F302D"/>
                </a:solidFill>
                <a:latin typeface="Calibri"/>
              </a:rPr>
              <a:t>•  A 5%, 10% or 15% discount appears automatically</a:t>
            </a:r>
          </a:p>
          <a:p>
            <a:pPr>
              <a:spcAft>
                <a:spcPts val="800"/>
              </a:spcAft>
            </a:pPr>
            <a:r>
              <a:rPr sz="1700">
                <a:solidFill>
                  <a:srgbClr val="2F302D"/>
                </a:solidFill>
                <a:latin typeface="Calibri"/>
              </a:rPr>
              <a:t>•  15% VAT is added after the discount (the mockup did not show it)</a:t>
            </a:r>
          </a:p>
          <a:p>
            <a:pPr>
              <a:spcAft>
                <a:spcPts val="800"/>
              </a:spcAft>
            </a:pPr>
            <a:r>
              <a:rPr sz="1700">
                <a:solidFill>
                  <a:srgbClr val="2F302D"/>
                </a:solidFill>
                <a:latin typeface="Calibri"/>
              </a:rPr>
              <a:t>•  Navigation became a bottom bar: Home, Courses, Fees, Contact</a:t>
            </a:r>
          </a:p>
        </p:txBody>
      </p:sp>
      <p:sp>
        <p:nvSpPr>
          <p:cNvPr id="13" name="TextBox 12"/>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Theolin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childTnLst>
                                </p:cTn>
                              </p:par>
                              <p:par>
                                <p:cTn id="36" presetID="10" presetClass="entr" presetSubtype="0" fill="hold" nodeType="withEffect">
                                  <p:stCondLst>
                                    <p:cond delay="12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Design choices: colour and type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Soft, warm and easy on the eyes, on the website and in the app</a:t>
            </a:r>
          </a:p>
        </p:txBody>
      </p:sp>
      <p:sp>
        <p:nvSpPr>
          <p:cNvPr id="5" name="Rounded Rectangle 4"/>
          <p:cNvSpPr/>
          <p:nvPr/>
        </p:nvSpPr>
        <p:spPr>
          <a:xfrm>
            <a:off x="640080" y="1783080"/>
            <a:ext cx="2331720" cy="1554480"/>
          </a:xfrm>
          <a:prstGeom prst="roundRect">
            <a:avLst>
              <a:gd name="adj" fmla="val 6000"/>
            </a:avLst>
          </a:prstGeom>
          <a:solidFill>
            <a:srgbClr val="FFFDD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2103120" cy="457200"/>
          </a:xfrm>
          <a:prstGeom prst="rect">
            <a:avLst/>
          </a:prstGeom>
          <a:noFill/>
        </p:spPr>
        <p:txBody>
          <a:bodyPr wrap="square" anchor="t" lIns="45720" rIns="45720">
            <a:spAutoFit/>
          </a:bodyPr>
          <a:lstStyle/>
          <a:p>
            <a:pPr algn="l">
              <a:spcAft>
                <a:spcPts val="600"/>
              </a:spcAft>
            </a:pPr>
            <a:r>
              <a:rPr sz="2000" b="1">
                <a:solidFill>
                  <a:srgbClr val="2F302D"/>
                </a:solidFill>
                <a:latin typeface="Book Antiqua"/>
              </a:rPr>
              <a:t>Cream</a:t>
            </a:r>
          </a:p>
        </p:txBody>
      </p:sp>
      <p:sp>
        <p:nvSpPr>
          <p:cNvPr id="7" name="TextBox 6"/>
          <p:cNvSpPr txBox="1"/>
          <p:nvPr/>
        </p:nvSpPr>
        <p:spPr>
          <a:xfrm>
            <a:off x="777240" y="2423160"/>
            <a:ext cx="2103120" cy="36576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#FFFDD0</a:t>
            </a:r>
          </a:p>
        </p:txBody>
      </p:sp>
      <p:sp>
        <p:nvSpPr>
          <p:cNvPr id="8" name="TextBox 7"/>
          <p:cNvSpPr txBox="1"/>
          <p:nvPr/>
        </p:nvSpPr>
        <p:spPr>
          <a:xfrm>
            <a:off x="640080" y="3429000"/>
            <a:ext cx="2331720" cy="914400"/>
          </a:xfrm>
          <a:prstGeom prst="rect">
            <a:avLst/>
          </a:prstGeom>
          <a:noFill/>
        </p:spPr>
        <p:txBody>
          <a:bodyPr wrap="square" anchor="t" lIns="45720" rIns="45720">
            <a:spAutoFit/>
          </a:bodyPr>
          <a:lstStyle/>
          <a:p>
            <a:pPr algn="l">
              <a:spcAft>
                <a:spcPts val="600"/>
              </a:spcAft>
            </a:pPr>
            <a:r>
              <a:rPr sz="1400" b="0">
                <a:solidFill>
                  <a:srgbClr val="2F302D"/>
                </a:solidFill>
                <a:latin typeface="Calibri"/>
              </a:rPr>
              <a:t>Main backgrounds. Soft and warm.</a:t>
            </a:r>
          </a:p>
        </p:txBody>
      </p:sp>
      <p:sp>
        <p:nvSpPr>
          <p:cNvPr id="9" name="Rounded Rectangle 8"/>
          <p:cNvSpPr/>
          <p:nvPr/>
        </p:nvSpPr>
        <p:spPr>
          <a:xfrm>
            <a:off x="3154680" y="1783080"/>
            <a:ext cx="2331720" cy="15544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920240"/>
            <a:ext cx="2103120" cy="457200"/>
          </a:xfrm>
          <a:prstGeom prst="rect">
            <a:avLst/>
          </a:prstGeom>
          <a:noFill/>
        </p:spPr>
        <p:txBody>
          <a:bodyPr wrap="square" anchor="t" lIns="45720" rIns="45720">
            <a:spAutoFit/>
          </a:bodyPr>
          <a:lstStyle/>
          <a:p>
            <a:pPr algn="l">
              <a:spcAft>
                <a:spcPts val="600"/>
              </a:spcAft>
            </a:pPr>
            <a:r>
              <a:rPr sz="2000" b="1">
                <a:solidFill>
                  <a:srgbClr val="2F302D"/>
                </a:solidFill>
                <a:latin typeface="Book Antiqua"/>
              </a:rPr>
              <a:t>Powder Blue</a:t>
            </a:r>
          </a:p>
        </p:txBody>
      </p:sp>
      <p:sp>
        <p:nvSpPr>
          <p:cNvPr id="11" name="TextBox 10"/>
          <p:cNvSpPr txBox="1"/>
          <p:nvPr/>
        </p:nvSpPr>
        <p:spPr>
          <a:xfrm>
            <a:off x="3291840" y="2423160"/>
            <a:ext cx="2103120" cy="36576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#B0E0E6</a:t>
            </a:r>
          </a:p>
        </p:txBody>
      </p:sp>
      <p:sp>
        <p:nvSpPr>
          <p:cNvPr id="12" name="TextBox 11"/>
          <p:cNvSpPr txBox="1"/>
          <p:nvPr/>
        </p:nvSpPr>
        <p:spPr>
          <a:xfrm>
            <a:off x="3154680" y="3429000"/>
            <a:ext cx="2331720" cy="914400"/>
          </a:xfrm>
          <a:prstGeom prst="rect">
            <a:avLst/>
          </a:prstGeom>
          <a:noFill/>
        </p:spPr>
        <p:txBody>
          <a:bodyPr wrap="square" anchor="t" lIns="45720" rIns="45720">
            <a:spAutoFit/>
          </a:bodyPr>
          <a:lstStyle/>
          <a:p>
            <a:pPr algn="l">
              <a:spcAft>
                <a:spcPts val="600"/>
              </a:spcAft>
            </a:pPr>
            <a:r>
              <a:rPr sz="1400" b="0">
                <a:solidFill>
                  <a:srgbClr val="2F302D"/>
                </a:solidFill>
                <a:latin typeface="Calibri"/>
              </a:rPr>
              <a:t>Cards and sections that group information.</a:t>
            </a:r>
          </a:p>
        </p:txBody>
      </p:sp>
      <p:sp>
        <p:nvSpPr>
          <p:cNvPr id="13" name="Rounded Rectangle 12"/>
          <p:cNvSpPr/>
          <p:nvPr/>
        </p:nvSpPr>
        <p:spPr>
          <a:xfrm>
            <a:off x="5669280" y="1783080"/>
            <a:ext cx="2331720" cy="1554480"/>
          </a:xfrm>
          <a:prstGeom prst="roundRect">
            <a:avLst>
              <a:gd name="adj" fmla="val 6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06440" y="1920240"/>
            <a:ext cx="2103120" cy="457200"/>
          </a:xfrm>
          <a:prstGeom prst="rect">
            <a:avLst/>
          </a:prstGeom>
          <a:noFill/>
        </p:spPr>
        <p:txBody>
          <a:bodyPr wrap="square" anchor="t" lIns="45720" rIns="45720">
            <a:spAutoFit/>
          </a:bodyPr>
          <a:lstStyle/>
          <a:p>
            <a:pPr algn="l">
              <a:spcAft>
                <a:spcPts val="600"/>
              </a:spcAft>
            </a:pPr>
            <a:r>
              <a:rPr sz="2000" b="1">
                <a:solidFill>
                  <a:srgbClr val="FFFFFF"/>
                </a:solidFill>
                <a:latin typeface="Book Antiqua"/>
              </a:rPr>
              <a:t>Tan</a:t>
            </a:r>
          </a:p>
        </p:txBody>
      </p:sp>
      <p:sp>
        <p:nvSpPr>
          <p:cNvPr id="15" name="TextBox 14"/>
          <p:cNvSpPr txBox="1"/>
          <p:nvPr/>
        </p:nvSpPr>
        <p:spPr>
          <a:xfrm>
            <a:off x="5806440" y="2423160"/>
            <a:ext cx="2103120" cy="365760"/>
          </a:xfrm>
          <a:prstGeom prst="rect">
            <a:avLst/>
          </a:prstGeom>
          <a:noFill/>
        </p:spPr>
        <p:txBody>
          <a:bodyPr wrap="square" anchor="t" lIns="45720" rIns="45720">
            <a:spAutoFit/>
          </a:bodyPr>
          <a:lstStyle/>
          <a:p>
            <a:pPr algn="l">
              <a:spcAft>
                <a:spcPts val="600"/>
              </a:spcAft>
            </a:pPr>
            <a:r>
              <a:rPr sz="1600" b="0">
                <a:solidFill>
                  <a:srgbClr val="FFFFFF"/>
                </a:solidFill>
                <a:latin typeface="Calibri"/>
              </a:rPr>
              <a:t>#C68B59</a:t>
            </a:r>
          </a:p>
        </p:txBody>
      </p:sp>
      <p:sp>
        <p:nvSpPr>
          <p:cNvPr id="16" name="TextBox 15"/>
          <p:cNvSpPr txBox="1"/>
          <p:nvPr/>
        </p:nvSpPr>
        <p:spPr>
          <a:xfrm>
            <a:off x="5669280" y="3429000"/>
            <a:ext cx="2331720" cy="914400"/>
          </a:xfrm>
          <a:prstGeom prst="rect">
            <a:avLst/>
          </a:prstGeom>
          <a:noFill/>
        </p:spPr>
        <p:txBody>
          <a:bodyPr wrap="square" anchor="t" lIns="45720" rIns="45720">
            <a:spAutoFit/>
          </a:bodyPr>
          <a:lstStyle/>
          <a:p>
            <a:pPr algn="l">
              <a:spcAft>
                <a:spcPts val="600"/>
              </a:spcAft>
            </a:pPr>
            <a:r>
              <a:rPr sz="1400" b="0">
                <a:solidFill>
                  <a:srgbClr val="2F302D"/>
                </a:solidFill>
                <a:latin typeface="Calibri"/>
              </a:rPr>
              <a:t>Actions only: buttons, borders, highlights.</a:t>
            </a:r>
          </a:p>
        </p:txBody>
      </p:sp>
      <p:sp>
        <p:nvSpPr>
          <p:cNvPr id="17" name="TextBox 16"/>
          <p:cNvSpPr txBox="1"/>
          <p:nvPr/>
        </p:nvSpPr>
        <p:spPr>
          <a:xfrm>
            <a:off x="640080" y="4572000"/>
            <a:ext cx="7315200" cy="1097280"/>
          </a:xfrm>
          <a:prstGeom prst="rect">
            <a:avLst/>
          </a:prstGeom>
          <a:noFill/>
        </p:spPr>
        <p:txBody>
          <a:bodyPr wrap="square" anchor="t" lIns="45720" rIns="45720">
            <a:spAutoFit/>
          </a:bodyPr>
          <a:lstStyle/>
          <a:p>
            <a:pPr algn="l">
              <a:spcAft>
                <a:spcPts val="600"/>
              </a:spcAft>
            </a:pPr>
            <a:r>
              <a:rPr sz="1600" b="0">
                <a:solidFill>
                  <a:srgbClr val="5A3E2B"/>
                </a:solidFill>
                <a:latin typeface="Calibri"/>
              </a:rPr>
              <a:t>Tan is kept for things people click, so the eye goes straight to the next step. Cream and blue carry everything else.</a:t>
            </a:r>
          </a:p>
        </p:txBody>
      </p:sp>
      <p:sp>
        <p:nvSpPr>
          <p:cNvPr id="18" name="Rounded Rectangle 17"/>
          <p:cNvSpPr/>
          <p:nvPr/>
        </p:nvSpPr>
        <p:spPr>
          <a:xfrm>
            <a:off x="8229600" y="1783080"/>
            <a:ext cx="3383280" cy="38404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874519"/>
            <a:ext cx="301752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Fonts</a:t>
            </a:r>
          </a:p>
        </p:txBody>
      </p:sp>
      <p:sp>
        <p:nvSpPr>
          <p:cNvPr id="20" name="TextBox 19"/>
          <p:cNvSpPr txBox="1"/>
          <p:nvPr/>
        </p:nvSpPr>
        <p:spPr>
          <a:xfrm>
            <a:off x="8412480" y="2468880"/>
            <a:ext cx="3017520" cy="548640"/>
          </a:xfrm>
          <a:prstGeom prst="rect">
            <a:avLst/>
          </a:prstGeom>
          <a:noFill/>
        </p:spPr>
        <p:txBody>
          <a:bodyPr wrap="square" anchor="t" lIns="45720" rIns="45720">
            <a:spAutoFit/>
          </a:bodyPr>
          <a:lstStyle/>
          <a:p>
            <a:pPr algn="l">
              <a:spcAft>
                <a:spcPts val="600"/>
              </a:spcAft>
            </a:pPr>
            <a:r>
              <a:rPr sz="1200" b="0">
                <a:solidFill>
                  <a:srgbClr val="5A3E2B"/>
                </a:solidFill>
                <a:latin typeface="Calibri"/>
              </a:rPr>
              <a:t>Headings</a:t>
            </a:r>
          </a:p>
        </p:txBody>
      </p:sp>
      <p:sp>
        <p:nvSpPr>
          <p:cNvPr id="21" name="TextBox 20"/>
          <p:cNvSpPr txBox="1"/>
          <p:nvPr/>
        </p:nvSpPr>
        <p:spPr>
          <a:xfrm>
            <a:off x="8412480" y="2697480"/>
            <a:ext cx="3017520" cy="548640"/>
          </a:xfrm>
          <a:prstGeom prst="rect">
            <a:avLst/>
          </a:prstGeom>
          <a:noFill/>
        </p:spPr>
        <p:txBody>
          <a:bodyPr wrap="square" anchor="t" lIns="45720" rIns="45720">
            <a:spAutoFit/>
          </a:bodyPr>
          <a:lstStyle/>
          <a:p>
            <a:pPr algn="l">
              <a:spcAft>
                <a:spcPts val="600"/>
              </a:spcAft>
            </a:pPr>
            <a:r>
              <a:rPr sz="2200" b="0">
                <a:solidFill>
                  <a:srgbClr val="2F302D"/>
                </a:solidFill>
                <a:latin typeface="Book Antiqua"/>
              </a:rPr>
              <a:t>Book Antiqua</a:t>
            </a:r>
          </a:p>
        </p:txBody>
      </p:sp>
      <p:sp>
        <p:nvSpPr>
          <p:cNvPr id="22" name="TextBox 21"/>
          <p:cNvSpPr txBox="1"/>
          <p:nvPr/>
        </p:nvSpPr>
        <p:spPr>
          <a:xfrm>
            <a:off x="8412480" y="3337560"/>
            <a:ext cx="3017520" cy="365760"/>
          </a:xfrm>
          <a:prstGeom prst="rect">
            <a:avLst/>
          </a:prstGeom>
          <a:noFill/>
        </p:spPr>
        <p:txBody>
          <a:bodyPr wrap="square" anchor="t" lIns="45720" rIns="45720">
            <a:spAutoFit/>
          </a:bodyPr>
          <a:lstStyle/>
          <a:p>
            <a:pPr algn="l">
              <a:spcAft>
                <a:spcPts val="600"/>
              </a:spcAft>
            </a:pPr>
            <a:r>
              <a:rPr sz="1200" b="0">
                <a:solidFill>
                  <a:srgbClr val="5A3E2B"/>
                </a:solidFill>
                <a:latin typeface="Calibri"/>
              </a:rPr>
              <a:t>Subheadings</a:t>
            </a:r>
          </a:p>
        </p:txBody>
      </p:sp>
      <p:sp>
        <p:nvSpPr>
          <p:cNvPr id="23" name="TextBox 22"/>
          <p:cNvSpPr txBox="1"/>
          <p:nvPr/>
        </p:nvSpPr>
        <p:spPr>
          <a:xfrm>
            <a:off x="8412480" y="3566160"/>
            <a:ext cx="3017520" cy="457200"/>
          </a:xfrm>
          <a:prstGeom prst="rect">
            <a:avLst/>
          </a:prstGeom>
          <a:noFill/>
        </p:spPr>
        <p:txBody>
          <a:bodyPr wrap="square" anchor="t" lIns="45720" rIns="45720">
            <a:spAutoFit/>
          </a:bodyPr>
          <a:lstStyle/>
          <a:p>
            <a:pPr algn="l">
              <a:spcAft>
                <a:spcPts val="600"/>
              </a:spcAft>
            </a:pPr>
            <a:r>
              <a:rPr sz="1900" b="0">
                <a:solidFill>
                  <a:srgbClr val="2F302D"/>
                </a:solidFill>
                <a:latin typeface="Arial Narrow"/>
              </a:rPr>
              <a:t>Arial Narrow</a:t>
            </a:r>
          </a:p>
        </p:txBody>
      </p:sp>
      <p:sp>
        <p:nvSpPr>
          <p:cNvPr id="24" name="TextBox 23"/>
          <p:cNvSpPr txBox="1"/>
          <p:nvPr/>
        </p:nvSpPr>
        <p:spPr>
          <a:xfrm>
            <a:off x="8412480" y="4160520"/>
            <a:ext cx="3017520" cy="365760"/>
          </a:xfrm>
          <a:prstGeom prst="rect">
            <a:avLst/>
          </a:prstGeom>
          <a:noFill/>
        </p:spPr>
        <p:txBody>
          <a:bodyPr wrap="square" anchor="t" lIns="45720" rIns="45720">
            <a:spAutoFit/>
          </a:bodyPr>
          <a:lstStyle/>
          <a:p>
            <a:pPr algn="l">
              <a:spcAft>
                <a:spcPts val="600"/>
              </a:spcAft>
            </a:pPr>
            <a:r>
              <a:rPr sz="1200" b="0">
                <a:solidFill>
                  <a:srgbClr val="5A3E2B"/>
                </a:solidFill>
                <a:latin typeface="Calibri"/>
              </a:rPr>
              <a:t>Body text</a:t>
            </a:r>
          </a:p>
        </p:txBody>
      </p:sp>
      <p:sp>
        <p:nvSpPr>
          <p:cNvPr id="25" name="TextBox 24"/>
          <p:cNvSpPr txBox="1"/>
          <p:nvPr/>
        </p:nvSpPr>
        <p:spPr>
          <a:xfrm>
            <a:off x="8412480" y="4389120"/>
            <a:ext cx="3017520" cy="457200"/>
          </a:xfrm>
          <a:prstGeom prst="rect">
            <a:avLst/>
          </a:prstGeom>
          <a:noFill/>
        </p:spPr>
        <p:txBody>
          <a:bodyPr wrap="square" anchor="t" lIns="45720" rIns="45720">
            <a:spAutoFit/>
          </a:bodyPr>
          <a:lstStyle/>
          <a:p>
            <a:pPr algn="l">
              <a:spcAft>
                <a:spcPts val="600"/>
              </a:spcAft>
            </a:pPr>
            <a:r>
              <a:rPr sz="1900" b="0">
                <a:solidFill>
                  <a:srgbClr val="2F302D"/>
                </a:solidFill>
                <a:latin typeface="Calibri"/>
              </a:rPr>
              <a:t>Calibri</a:t>
            </a:r>
          </a:p>
        </p:txBody>
      </p:sp>
      <p:sp>
        <p:nvSpPr>
          <p:cNvPr id="26" name="TextBox 25"/>
          <p:cNvSpPr txBox="1"/>
          <p:nvPr/>
        </p:nvSpPr>
        <p:spPr>
          <a:xfrm>
            <a:off x="8412480" y="4983480"/>
            <a:ext cx="3017520" cy="548640"/>
          </a:xfrm>
          <a:prstGeom prst="rect">
            <a:avLst/>
          </a:prstGeom>
          <a:noFill/>
        </p:spPr>
        <p:txBody>
          <a:bodyPr wrap="square" anchor="t" lIns="45720" rIns="45720">
            <a:spAutoFit/>
          </a:bodyPr>
          <a:lstStyle/>
          <a:p>
            <a:pPr algn="l">
              <a:spcAft>
                <a:spcPts val="600"/>
              </a:spcAft>
            </a:pPr>
            <a:r>
              <a:rPr sz="1200" b="0">
                <a:solidFill>
                  <a:srgbClr val="2F302D"/>
                </a:solidFill>
                <a:latin typeface="Calibri"/>
              </a:rPr>
              <a:t>Serif headings feel warm; clean body text stays easy to read.</a:t>
            </a:r>
          </a:p>
        </p:txBody>
      </p:sp>
      <p:sp>
        <p:nvSpPr>
          <p:cNvPr id="27" name="TextBox 26"/>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par>
                                <p:cTn id="24" presetID="10" presetClass="entr" presetSubtype="0" fill="hold" nodeType="withEffect">
                                  <p:stCondLst>
                                    <p:cond delay="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childTnLst>
                                </p:cTn>
                              </p:par>
                              <p:par>
                                <p:cTn id="28" presetID="10" presetClass="entr" presetSubtype="0" fill="hold" nodeType="withEffect">
                                  <p:stCondLst>
                                    <p:cond delay="90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1000"/>
                                        <p:tgtEl>
                                          <p:spTgt spid="18"/>
                                        </p:tgtEl>
                                      </p:cBhvr>
                                    </p:animEffect>
                                  </p:childTnLst>
                                </p:cTn>
                              </p:par>
                              <p:par>
                                <p:cTn id="32" presetID="10" presetClass="entr" presetSubtype="0" fill="hold" nodeType="withEffect">
                                  <p:stCondLst>
                                    <p:cond delay="105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childTnLst>
                                </p:cTn>
                              </p:par>
                              <p:par>
                                <p:cTn id="36" presetID="10" presetClass="entr" presetSubtype="0" fill="hold" nodeType="withEffect">
                                  <p:stCondLst>
                                    <p:cond delay="120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1000"/>
                                        <p:tgtEl>
                                          <p:spTgt spid="7"/>
                                        </p:tgtEl>
                                      </p:cBhvr>
                                    </p:animEffect>
                                  </p:childTnLst>
                                </p:cTn>
                              </p:par>
                              <p:par>
                                <p:cTn id="52" presetID="10" presetClass="entr" presetSubtype="0" fill="hold" nodeType="withEffect">
                                  <p:stCondLst>
                                    <p:cond delay="180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childTnLst>
                                </p:cTn>
                              </p:par>
                              <p:par>
                                <p:cTn id="56" presetID="10" presetClass="entr" presetSubtype="0" fill="hold" nodeType="withEffect">
                                  <p:stCondLst>
                                    <p:cond delay="180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childTnLst>
                                </p:cTn>
                              </p:par>
                              <p:par>
                                <p:cTn id="60" presetID="10" presetClass="entr" presetSubtype="0" fill="hold" nodeType="withEffect">
                                  <p:stCondLst>
                                    <p:cond delay="180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1000"/>
                                        <p:tgtEl>
                                          <p:spTgt spid="20"/>
                                        </p:tgtEl>
                                      </p:cBhvr>
                                    </p:animEffect>
                                  </p:childTnLst>
                                </p:cTn>
                              </p:par>
                              <p:par>
                                <p:cTn id="64" presetID="10" presetClass="entr" presetSubtype="0" fill="hold" nodeType="withEffect">
                                  <p:stCondLst>
                                    <p:cond delay="180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1000"/>
                                        <p:tgtEl>
                                          <p:spTgt spid="21"/>
                                        </p:tgtEl>
                                      </p:cBhvr>
                                    </p:animEffect>
                                  </p:childTnLst>
                                </p:cTn>
                              </p:par>
                              <p:par>
                                <p:cTn id="68" presetID="10" presetClass="entr" presetSubtype="0" fill="hold" nodeType="withEffect">
                                  <p:stCondLst>
                                    <p:cond delay="180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1000"/>
                                        <p:tgtEl>
                                          <p:spTgt spid="22"/>
                                        </p:tgtEl>
                                      </p:cBhvr>
                                    </p:animEffect>
                                  </p:childTnLst>
                                </p:cTn>
                              </p:par>
                              <p:par>
                                <p:cTn id="72" presetID="10" presetClass="entr" presetSubtype="0" fill="hold" nodeType="withEffect">
                                  <p:stCondLst>
                                    <p:cond delay="1800"/>
                                  </p:stCondLst>
                                  <p:childTnLst>
                                    <p:set>
                                      <p:cBhvr>
                                        <p:cTn id="73" dur="1" fill="hold">
                                          <p:stCondLst>
                                            <p:cond delay="0"/>
                                          </p:stCondLst>
                                        </p:cTn>
                                        <p:tgtEl>
                                          <p:spTgt spid="8"/>
                                        </p:tgtEl>
                                        <p:attrNameLst>
                                          <p:attrName>style.visibility</p:attrName>
                                        </p:attrNameLst>
                                      </p:cBhvr>
                                      <p:to>
                                        <p:strVal val="visible"/>
                                      </p:to>
                                    </p:set>
                                    <p:animEffect transition="in" filter="fade">
                                      <p:cBhvr>
                                        <p:cTn id="74" dur="1000"/>
                                        <p:tgtEl>
                                          <p:spTgt spid="8"/>
                                        </p:tgtEl>
                                      </p:cBhvr>
                                    </p:animEffect>
                                  </p:childTnLst>
                                </p:cTn>
                              </p:par>
                              <p:par>
                                <p:cTn id="76" presetID="10" presetClass="entr" presetSubtype="0" fill="hold" nodeType="withEffect">
                                  <p:stCondLst>
                                    <p:cond delay="180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1000"/>
                                        <p:tgtEl>
                                          <p:spTgt spid="12"/>
                                        </p:tgtEl>
                                      </p:cBhvr>
                                    </p:animEffect>
                                  </p:childTnLst>
                                </p:cTn>
                              </p:par>
                              <p:par>
                                <p:cTn id="80" presetID="10" presetClass="entr" presetSubtype="0" fill="hold" nodeType="withEffect">
                                  <p:stCondLst>
                                    <p:cond delay="1800"/>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1000"/>
                                        <p:tgtEl>
                                          <p:spTgt spid="16"/>
                                        </p:tgtEl>
                                      </p:cBhvr>
                                    </p:animEffect>
                                  </p:childTnLst>
                                </p:cTn>
                              </p:par>
                              <p:par>
                                <p:cTn id="84" presetID="10" presetClass="entr" presetSubtype="0" fill="hold" nodeType="withEffect">
                                  <p:stCondLst>
                                    <p:cond delay="180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1000"/>
                                        <p:tgtEl>
                                          <p:spTgt spid="23"/>
                                        </p:tgtEl>
                                      </p:cBhvr>
                                    </p:animEffect>
                                  </p:childTnLst>
                                </p:cTn>
                              </p:par>
                              <p:par>
                                <p:cTn id="88" presetID="10" presetClass="entr" presetSubtype="0" fill="hold" nodeType="withEffect">
                                  <p:stCondLst>
                                    <p:cond delay="180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1000"/>
                                        <p:tgtEl>
                                          <p:spTgt spid="24"/>
                                        </p:tgtEl>
                                      </p:cBhvr>
                                    </p:animEffect>
                                  </p:childTnLst>
                                </p:cTn>
                              </p:par>
                              <p:par>
                                <p:cTn id="92" presetID="10" presetClass="entr" presetSubtype="0" fill="hold" nodeType="withEffect">
                                  <p:stCondLst>
                                    <p:cond delay="180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1000"/>
                                        <p:tgtEl>
                                          <p:spTgt spid="25"/>
                                        </p:tgtEl>
                                      </p:cBhvr>
                                    </p:animEffect>
                                  </p:childTnLst>
                                </p:cTn>
                              </p:par>
                              <p:par>
                                <p:cTn id="96" presetID="10" presetClass="entr" presetSubtype="0" fill="hold" nodeType="withEffect">
                                  <p:stCondLst>
                                    <p:cond delay="1800"/>
                                  </p:stCondLst>
                                  <p:childTnLst>
                                    <p:set>
                                      <p:cBhvr>
                                        <p:cTn id="97" dur="1" fill="hold">
                                          <p:stCondLst>
                                            <p:cond delay="0"/>
                                          </p:stCondLst>
                                        </p:cTn>
                                        <p:tgtEl>
                                          <p:spTgt spid="17"/>
                                        </p:tgtEl>
                                        <p:attrNameLst>
                                          <p:attrName>style.visibility</p:attrName>
                                        </p:attrNameLst>
                                      </p:cBhvr>
                                      <p:to>
                                        <p:strVal val="visible"/>
                                      </p:to>
                                    </p:set>
                                    <p:animEffect transition="in" filter="fade">
                                      <p:cBhvr>
                                        <p:cTn id="98" dur="1000"/>
                                        <p:tgtEl>
                                          <p:spTgt spid="17"/>
                                        </p:tgtEl>
                                      </p:cBhvr>
                                    </p:animEffect>
                                  </p:childTnLst>
                                </p:cTn>
                              </p:par>
                              <p:par>
                                <p:cTn id="100" presetID="10" presetClass="entr" presetSubtype="0" fill="hold" nodeType="withEffect">
                                  <p:stCondLst>
                                    <p:cond delay="180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Why the app uses bottom tabs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A phone is a thumb device, so the main places stay one tap away</a:t>
            </a:r>
          </a:p>
        </p:txBody>
      </p:sp>
      <p:sp>
        <p:nvSpPr>
          <p:cNvPr id="5" name="TextBox 4"/>
          <p:cNvSpPr txBox="1"/>
          <p:nvPr/>
        </p:nvSpPr>
        <p:spPr>
          <a:xfrm>
            <a:off x="640080" y="1828800"/>
            <a:ext cx="6035040" cy="4114800"/>
          </a:xfrm>
          <a:prstGeom prst="rect">
            <a:avLst/>
          </a:prstGeom>
          <a:noFill/>
        </p:spPr>
        <p:txBody>
          <a:bodyPr wrap="square">
            <a:spAutoFit/>
          </a:bodyPr>
          <a:lstStyle/>
          <a:p>
            <a:pPr>
              <a:spcAft>
                <a:spcPts val="1200"/>
              </a:spcAft>
            </a:pPr>
            <a:r>
              <a:rPr sz="1900">
                <a:solidFill>
                  <a:srgbClr val="2F302D"/>
                </a:solidFill>
                <a:latin typeface="Calibri"/>
              </a:rPr>
              <a:t>•  Four main places always visible: Home, Courses, Fees, Contact</a:t>
            </a:r>
          </a:p>
          <a:p>
            <a:pPr>
              <a:spcAft>
                <a:spcPts val="1200"/>
              </a:spcAft>
            </a:pPr>
            <a:r>
              <a:rPr sz="1900">
                <a:solidFill>
                  <a:srgbClr val="2F302D"/>
                </a:solidFill>
                <a:latin typeface="Calibri"/>
              </a:rPr>
              <a:t>•  Easy to reach with one thumb, unlike a menu at the top</a:t>
            </a:r>
          </a:p>
          <a:p>
            <a:pPr>
              <a:spcAft>
                <a:spcPts val="1200"/>
              </a:spcAft>
            </a:pPr>
            <a:r>
              <a:rPr sz="1900">
                <a:solidFill>
                  <a:srgbClr val="2F302D"/>
                </a:solidFill>
                <a:latin typeface="Calibri"/>
              </a:rPr>
              <a:t>•  Hidden menus (hamburger) get used less; visible tabs get used more</a:t>
            </a:r>
          </a:p>
          <a:p>
            <a:pPr>
              <a:spcAft>
                <a:spcPts val="1200"/>
              </a:spcAft>
            </a:pPr>
            <a:r>
              <a:rPr sz="1900">
                <a:solidFill>
                  <a:srgbClr val="2F302D"/>
                </a:solidFill>
                <a:latin typeface="Calibri"/>
              </a:rPr>
              <a:t>•  The website keeps a top bar instead. Different screen, different pattern</a:t>
            </a:r>
          </a:p>
          <a:p>
            <a:pPr>
              <a:spcAft>
                <a:spcPts val="1200"/>
              </a:spcAft>
            </a:pPr>
            <a:r>
              <a:rPr sz="1900">
                <a:solidFill>
                  <a:srgbClr val="2F302D"/>
                </a:solidFill>
                <a:latin typeface="Calibri"/>
              </a:rPr>
              <a:t>•  Less-used pages (About Us, Pricing) sit in a top menu</a:t>
            </a:r>
          </a:p>
        </p:txBody>
      </p:sp>
      <p:sp>
        <p:nvSpPr>
          <p:cNvPr id="6" name="Rounded Rectangle 5"/>
          <p:cNvSpPr/>
          <p:nvPr/>
        </p:nvSpPr>
        <p:spPr>
          <a:xfrm>
            <a:off x="7315200" y="1783080"/>
            <a:ext cx="4297680" cy="42976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43800" y="1920240"/>
            <a:ext cx="384048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App bottom bar</a:t>
            </a:r>
          </a:p>
        </p:txBody>
      </p:sp>
      <p:sp>
        <p:nvSpPr>
          <p:cNvPr id="8" name="Rounded Rectangle 7"/>
          <p:cNvSpPr/>
          <p:nvPr/>
        </p:nvSpPr>
        <p:spPr>
          <a:xfrm>
            <a:off x="7680960" y="4663440"/>
            <a:ext cx="3566160" cy="868680"/>
          </a:xfrm>
          <a:prstGeom prst="roundRect">
            <a:avLst>
              <a:gd name="adj" fmla="val 6000"/>
            </a:avLst>
          </a:prstGeom>
          <a:solidFill>
            <a:srgbClr val="FFFFFF"/>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4892040"/>
            <a:ext cx="868680" cy="45720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Home</a:t>
            </a:r>
          </a:p>
        </p:txBody>
      </p:sp>
      <p:sp>
        <p:nvSpPr>
          <p:cNvPr id="10" name="TextBox 9"/>
          <p:cNvSpPr txBox="1"/>
          <p:nvPr/>
        </p:nvSpPr>
        <p:spPr>
          <a:xfrm>
            <a:off x="8613648" y="4892040"/>
            <a:ext cx="868680" cy="45720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Courses</a:t>
            </a:r>
          </a:p>
        </p:txBody>
      </p:sp>
      <p:sp>
        <p:nvSpPr>
          <p:cNvPr id="11" name="TextBox 10"/>
          <p:cNvSpPr txBox="1"/>
          <p:nvPr/>
        </p:nvSpPr>
        <p:spPr>
          <a:xfrm>
            <a:off x="9500615" y="4892040"/>
            <a:ext cx="868680" cy="457200"/>
          </a:xfrm>
          <a:prstGeom prst="rect">
            <a:avLst/>
          </a:prstGeom>
          <a:noFill/>
        </p:spPr>
        <p:txBody>
          <a:bodyPr wrap="square" anchor="t" lIns="45720" rIns="45720">
            <a:spAutoFit/>
          </a:bodyPr>
          <a:lstStyle/>
          <a:p>
            <a:pPr algn="ctr">
              <a:spcAft>
                <a:spcPts val="600"/>
              </a:spcAft>
            </a:pPr>
            <a:r>
              <a:rPr sz="1300" b="1">
                <a:solidFill>
                  <a:srgbClr val="C68B59"/>
                </a:solidFill>
                <a:latin typeface="Calibri"/>
              </a:rPr>
              <a:t>Fees</a:t>
            </a:r>
          </a:p>
        </p:txBody>
      </p:sp>
      <p:sp>
        <p:nvSpPr>
          <p:cNvPr id="12" name="TextBox 11"/>
          <p:cNvSpPr txBox="1"/>
          <p:nvPr/>
        </p:nvSpPr>
        <p:spPr>
          <a:xfrm>
            <a:off x="10387584" y="4892040"/>
            <a:ext cx="868680" cy="45720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Contact</a:t>
            </a:r>
          </a:p>
        </p:txBody>
      </p:sp>
      <p:sp>
        <p:nvSpPr>
          <p:cNvPr id="13" name="TextBox 12"/>
          <p:cNvSpPr txBox="1"/>
          <p:nvPr/>
        </p:nvSpPr>
        <p:spPr>
          <a:xfrm>
            <a:off x="7543800" y="2468880"/>
            <a:ext cx="3840480" cy="201168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Fees and Contact are the two pages people want most, so they are in the bar, not behind a menu.</a:t>
            </a:r>
          </a:p>
        </p:txBody>
      </p:sp>
      <p:sp>
        <p:nvSpPr>
          <p:cNvPr id="14" name="TextBox 13"/>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Theolin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childTnLst>
                                </p:cTn>
                              </p:par>
                              <p:par>
                                <p:cTn id="20" presetID="10" presetClass="entr" presetSubtype="0" fill="hold"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par>
                                <p:cTn id="28" presetID="10" presetClass="entr" presetSubtype="0" fill="hold" nodeType="withEffect">
                                  <p:stCondLst>
                                    <p:cond delay="9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par>
                                <p:cTn id="44" presetID="10" presetClass="entr" presetSubtype="0" fill="hold" nodeType="withEffect">
                                  <p:stCondLst>
                                    <p:cond delay="15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childTnLst>
                                </p:cTn>
                              </p:par>
                              <p:par>
                                <p:cTn id="48" presetID="10" presetClass="entr" presetSubtype="0" fill="hold" nodeType="withEffect">
                                  <p:stCondLst>
                                    <p:cond delay="165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Challenges and lessons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Problems we hit and what we learned</a:t>
            </a:r>
          </a:p>
        </p:txBody>
      </p:sp>
      <p:sp>
        <p:nvSpPr>
          <p:cNvPr id="5" name="Rounded Rectangle 4"/>
          <p:cNvSpPr/>
          <p:nvPr/>
        </p:nvSpPr>
        <p:spPr>
          <a:xfrm>
            <a:off x="640080" y="1783080"/>
            <a:ext cx="5394960" cy="20116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892807"/>
            <a:ext cx="50292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Merge conflicts</a:t>
            </a:r>
          </a:p>
        </p:txBody>
      </p:sp>
      <p:sp>
        <p:nvSpPr>
          <p:cNvPr id="7" name="TextBox 6"/>
          <p:cNvSpPr txBox="1"/>
          <p:nvPr/>
        </p:nvSpPr>
        <p:spPr>
          <a:xfrm>
            <a:off x="822959" y="2423160"/>
            <a:ext cx="5029200" cy="128016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Several branches changed the same files. We learned to pull first and to review before merging.</a:t>
            </a:r>
          </a:p>
        </p:txBody>
      </p:sp>
      <p:sp>
        <p:nvSpPr>
          <p:cNvPr id="8" name="Rounded Rectangle 7"/>
          <p:cNvSpPr/>
          <p:nvPr/>
        </p:nvSpPr>
        <p:spPr>
          <a:xfrm>
            <a:off x="6217920" y="1783080"/>
            <a:ext cx="539496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92807"/>
            <a:ext cx="50292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Missing courses</a:t>
            </a:r>
          </a:p>
        </p:txBody>
      </p:sp>
      <p:sp>
        <p:nvSpPr>
          <p:cNvPr id="10" name="TextBox 9"/>
          <p:cNvSpPr txBox="1"/>
          <p:nvPr/>
        </p:nvSpPr>
        <p:spPr>
          <a:xfrm>
            <a:off x="6400800" y="2423160"/>
            <a:ext cx="5029200" cy="128016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The first build had only 3 of 7 courses, so the 15% tier could not trigger. We added all seven.</a:t>
            </a:r>
          </a:p>
        </p:txBody>
      </p:sp>
      <p:sp>
        <p:nvSpPr>
          <p:cNvPr id="11" name="Rounded Rectangle 10"/>
          <p:cNvSpPr/>
          <p:nvPr/>
        </p:nvSpPr>
        <p:spPr>
          <a:xfrm>
            <a:off x="640080" y="3977639"/>
            <a:ext cx="539496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4087368"/>
            <a:ext cx="50292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Build errors</a:t>
            </a:r>
          </a:p>
        </p:txBody>
      </p:sp>
      <p:sp>
        <p:nvSpPr>
          <p:cNvPr id="13" name="TextBox 12"/>
          <p:cNvSpPr txBox="1"/>
          <p:nvPr/>
        </p:nvSpPr>
        <p:spPr>
          <a:xfrm>
            <a:off x="822959" y="4617720"/>
            <a:ext cx="5029200" cy="128016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A manifest merger error in Android Studio, fixed while splitting the code into separate pages.</a:t>
            </a:r>
          </a:p>
        </p:txBody>
      </p:sp>
      <p:sp>
        <p:nvSpPr>
          <p:cNvPr id="14" name="Rounded Rectangle 13"/>
          <p:cNvSpPr/>
          <p:nvPr/>
        </p:nvSpPr>
        <p:spPr>
          <a:xfrm>
            <a:off x="6217920" y="3977639"/>
            <a:ext cx="5394960" cy="20116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87368"/>
            <a:ext cx="50292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Images</a:t>
            </a:r>
          </a:p>
        </p:txBody>
      </p:sp>
      <p:sp>
        <p:nvSpPr>
          <p:cNvPr id="16" name="TextBox 15"/>
          <p:cNvSpPr txBox="1"/>
          <p:nvPr/>
        </p:nvSpPr>
        <p:spPr>
          <a:xfrm>
            <a:off x="6400800" y="4617720"/>
            <a:ext cx="5029200" cy="128016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Paid stock images had to be replaced with royalty-free icons.</a:t>
            </a:r>
          </a:p>
        </p:txBody>
      </p:sp>
      <p:sp>
        <p:nvSpPr>
          <p:cNvPr id="17" name="TextBox 16"/>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Theolin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childTnLst>
                                </p:cTn>
                              </p:par>
                              <p:par>
                                <p:cTn id="52" presetID="10" presetClass="entr" presetSubtype="0" fill="hold" nodeType="withEffect">
                                  <p:stCondLst>
                                    <p:cond delay="180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1000"/>
                                        <p:tgtEl>
                                          <p:spTgt spid="15"/>
                                        </p:tgtEl>
                                      </p:cBhvr>
                                    </p:animEffect>
                                  </p:childTnLst>
                                </p:cTn>
                              </p:par>
                              <p:par>
                                <p:cTn id="56" presetID="10" presetClass="entr" presetSubtype="0" fill="hold" nodeType="withEffect">
                                  <p:stCondLst>
                                    <p:cond delay="18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childTnLst>
                                </p:cTn>
                              </p:par>
                              <p:par>
                                <p:cTn id="60" presetID="10" presetClass="entr" presetSubtype="0" fill="hold" nodeType="withEffect">
                                  <p:stCondLst>
                                    <p:cond delay="18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589520" y="822960"/>
            <a:ext cx="4389120" cy="2926080"/>
          </a:xfrm>
          <a:prstGeom prst="rect">
            <a:avLst/>
          </a:prstGeom>
          <a:noFill/>
        </p:spPr>
        <p:txBody>
          <a:bodyPr wrap="square" anchor="t" lIns="45720" rIns="45720">
            <a:spAutoFit/>
          </a:bodyPr>
          <a:lstStyle/>
          <a:p>
            <a:pPr algn="r">
              <a:spcAft>
                <a:spcPts val="600"/>
              </a:spcAft>
            </a:pPr>
            <a:r>
              <a:rPr sz="19000" b="1">
                <a:solidFill>
                  <a:srgbClr val="1E1E1E"/>
                </a:solidFill>
                <a:latin typeface="Book Antiqua"/>
              </a:rPr>
              <a:t>03</a:t>
            </a:r>
          </a:p>
        </p:txBody>
      </p:sp>
      <p:sp>
        <p:nvSpPr>
          <p:cNvPr id="3" name="TextBox 2"/>
          <p:cNvSpPr txBox="1"/>
          <p:nvPr/>
        </p:nvSpPr>
        <p:spPr>
          <a:xfrm>
            <a:off x="822960" y="1234440"/>
            <a:ext cx="7315200" cy="457200"/>
          </a:xfrm>
          <a:prstGeom prst="rect">
            <a:avLst/>
          </a:prstGeom>
          <a:noFill/>
        </p:spPr>
        <p:txBody>
          <a:bodyPr wrap="square" anchor="t" lIns="45720" rIns="45720">
            <a:spAutoFit/>
          </a:bodyPr>
          <a:lstStyle/>
          <a:p>
            <a:pPr algn="l">
              <a:spcAft>
                <a:spcPts val="600"/>
              </a:spcAft>
            </a:pPr>
            <a:r>
              <a:rPr sz="1400" b="1">
                <a:solidFill>
                  <a:srgbClr val="C68B59"/>
                </a:solidFill>
                <a:latin typeface="Calibri"/>
              </a:rPr>
              <a:t>PART 03 OF 03</a:t>
            </a:r>
          </a:p>
        </p:txBody>
      </p:sp>
      <p:sp>
        <p:nvSpPr>
          <p:cNvPr id="4" name="TextBox 3"/>
          <p:cNvSpPr txBox="1"/>
          <p:nvPr/>
        </p:nvSpPr>
        <p:spPr>
          <a:xfrm>
            <a:off x="822960" y="1920240"/>
            <a:ext cx="8686800" cy="1463040"/>
          </a:xfrm>
          <a:prstGeom prst="rect">
            <a:avLst/>
          </a:prstGeom>
          <a:noFill/>
        </p:spPr>
        <p:txBody>
          <a:bodyPr wrap="square" anchor="t" lIns="45720" rIns="45720">
            <a:spAutoFit/>
          </a:bodyPr>
          <a:lstStyle/>
          <a:p>
            <a:pPr algn="l">
              <a:spcAft>
                <a:spcPts val="600"/>
              </a:spcAft>
            </a:pPr>
            <a:r>
              <a:rPr sz="8800" b="1">
                <a:solidFill>
                  <a:srgbClr val="FFFFFF"/>
                </a:solidFill>
                <a:latin typeface="Book Antiqua"/>
              </a:rPr>
              <a:t>Mohamed</a:t>
            </a:r>
          </a:p>
        </p:txBody>
      </p:sp>
      <p:sp>
        <p:nvSpPr>
          <p:cNvPr id="5" name="Rectangle 4"/>
          <p:cNvSpPr/>
          <p:nvPr/>
        </p:nvSpPr>
        <p:spPr>
          <a:xfrm>
            <a:off x="896112" y="3520440"/>
            <a:ext cx="292608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9144000" cy="640080"/>
          </a:xfrm>
          <a:prstGeom prst="rect">
            <a:avLst/>
          </a:prstGeom>
          <a:noFill/>
        </p:spPr>
        <p:txBody>
          <a:bodyPr wrap="square" anchor="t" lIns="45720" rIns="45720">
            <a:spAutoFit/>
          </a:bodyPr>
          <a:lstStyle/>
          <a:p>
            <a:pPr algn="l">
              <a:spcAft>
                <a:spcPts val="600"/>
              </a:spcAft>
            </a:pPr>
            <a:r>
              <a:rPr sz="2600" b="0">
                <a:solidFill>
                  <a:srgbClr val="FFFDD0"/>
                </a:solidFill>
                <a:latin typeface="Calibri"/>
              </a:rPr>
              <a:t>Logo, my pages and Git</a:t>
            </a:r>
          </a:p>
        </p:txBody>
      </p:sp>
      <p:sp>
        <p:nvSpPr>
          <p:cNvPr id="7" name="Rounded Rectangle 6"/>
          <p:cNvSpPr/>
          <p:nvPr/>
        </p:nvSpPr>
        <p:spPr>
          <a:xfrm>
            <a:off x="868680" y="4754880"/>
            <a:ext cx="676656"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Logo</a:t>
            </a:r>
          </a:p>
        </p:txBody>
      </p:sp>
      <p:sp>
        <p:nvSpPr>
          <p:cNvPr id="10" name="Rounded Rectangle 9"/>
          <p:cNvSpPr/>
          <p:nvPr/>
        </p:nvSpPr>
        <p:spPr>
          <a:xfrm>
            <a:off x="1728216" y="4754880"/>
            <a:ext cx="183337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Fees Calculator</a:t>
            </a:r>
          </a:p>
        </p:txBody>
      </p:sp>
      <p:sp>
        <p:nvSpPr>
          <p:cNvPr id="11" name="Rounded Rectangle 10"/>
          <p:cNvSpPr/>
          <p:nvPr/>
        </p:nvSpPr>
        <p:spPr>
          <a:xfrm>
            <a:off x="3744468" y="4754880"/>
            <a:ext cx="130759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Contact Us</a:t>
            </a:r>
          </a:p>
        </p:txBody>
      </p:sp>
      <p:sp>
        <p:nvSpPr>
          <p:cNvPr id="12" name="Rounded Rectangle 11"/>
          <p:cNvSpPr/>
          <p:nvPr/>
        </p:nvSpPr>
        <p:spPr>
          <a:xfrm>
            <a:off x="5234940" y="4754880"/>
            <a:ext cx="571500"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Git</a:t>
            </a:r>
          </a:p>
        </p:txBody>
      </p:sp>
      <p:sp>
        <p:nvSpPr>
          <p:cNvPr id="13" name="Rounded Rectangle 12"/>
          <p:cNvSpPr/>
          <p:nvPr/>
        </p:nvSpPr>
        <p:spPr>
          <a:xfrm>
            <a:off x="5989320" y="4754880"/>
            <a:ext cx="1202436"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Live demo</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000"/>
                                        <p:tgtEl>
                                          <p:spTgt spid="2"/>
                                        </p:tgtEl>
                                      </p:cBhvr>
                                    </p:animEffect>
                                  </p:childTnLst>
                                </p:cTn>
                              </p:par>
                              <p:par>
                                <p:cTn id="8" presetID="10" presetClass="entr" presetSubtype="0" fill="hold" nodeType="withEffect">
                                  <p:stCondLst>
                                    <p:cond delay="4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200"/>
                                        <p:tgtEl>
                                          <p:spTgt spid="3"/>
                                        </p:tgtEl>
                                      </p:cBhvr>
                                    </p:animEffect>
                                  </p:childTnLst>
                                </p:cTn>
                              </p:par>
                              <p:par>
                                <p:cTn id="12" presetID="10" presetClass="entr" presetSubtype="0" fill="hold" nodeType="withEffect">
                                  <p:stCondLst>
                                    <p:cond delay="7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800"/>
                                        <p:tgtEl>
                                          <p:spTgt spid="4"/>
                                        </p:tgtEl>
                                      </p:cBhvr>
                                    </p:animEffect>
                                  </p:childTnLst>
                                </p:cTn>
                              </p:par>
                              <p:par>
                                <p:cTn id="16" presetID="22" presetClass="entr" presetSubtype="8" fill="hold" nodeType="withEffect">
                                  <p:stCondLst>
                                    <p:cond delay="180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par>
                                <p:cTn id="20" presetID="10" presetClass="entr" presetSubtype="0" fill="hold" nodeType="withEffect">
                                  <p:stCondLst>
                                    <p:cond delay="23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200"/>
                                        <p:tgtEl>
                                          <p:spTgt spid="6"/>
                                        </p:tgtEl>
                                      </p:cBhvr>
                                    </p:animEffect>
                                  </p:childTnLst>
                                </p:cTn>
                              </p:par>
                              <p:par>
                                <p:cTn id="24" presetID="10" presetClass="entr" presetSubtype="0" fill="hold" nodeType="withEffect">
                                  <p:stCondLst>
                                    <p:cond delay="30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900"/>
                                        <p:tgtEl>
                                          <p:spTgt spid="7"/>
                                        </p:tgtEl>
                                      </p:cBhvr>
                                    </p:animEffect>
                                  </p:childTnLst>
                                </p:cTn>
                              </p:par>
                              <p:par>
                                <p:cTn id="28" presetID="10" presetClass="entr" presetSubtype="0" fill="hold" nodeType="withEffect">
                                  <p:stCondLst>
                                    <p:cond delay="32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900"/>
                                        <p:tgtEl>
                                          <p:spTgt spid="8"/>
                                        </p:tgtEl>
                                      </p:cBhvr>
                                    </p:animEffect>
                                  </p:childTnLst>
                                </p:cTn>
                              </p:par>
                              <p:par>
                                <p:cTn id="32" presetID="10" presetClass="entr" presetSubtype="0" fill="hold" nodeType="withEffect">
                                  <p:stCondLst>
                                    <p:cond delay="34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900"/>
                                        <p:tgtEl>
                                          <p:spTgt spid="9"/>
                                        </p:tgtEl>
                                      </p:cBhvr>
                                    </p:animEffect>
                                  </p:childTnLst>
                                </p:cTn>
                              </p:par>
                              <p:par>
                                <p:cTn id="36" presetID="10" presetClass="entr" presetSubtype="0" fill="hold" nodeType="withEffect">
                                  <p:stCondLst>
                                    <p:cond delay="36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900"/>
                                        <p:tgtEl>
                                          <p:spTgt spid="10"/>
                                        </p:tgtEl>
                                      </p:cBhvr>
                                    </p:animEffect>
                                  </p:childTnLst>
                                </p:cTn>
                              </p:par>
                              <p:par>
                                <p:cTn id="40" presetID="10" presetClass="entr" presetSubtype="0" fill="hold" nodeType="withEffect">
                                  <p:stCondLst>
                                    <p:cond delay="38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900"/>
                                        <p:tgtEl>
                                          <p:spTgt spid="11"/>
                                        </p:tgtEl>
                                      </p:cBhvr>
                                    </p:animEffect>
                                  </p:childTnLst>
                                </p:cTn>
                              </p:par>
                              <p:par>
                                <p:cTn id="44" presetID="10" presetClass="entr" presetSubtype="0" fill="hold" nodeType="withEffect">
                                  <p:stCondLst>
                                    <p:cond delay="400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900"/>
                                        <p:tgtEl>
                                          <p:spTgt spid="12"/>
                                        </p:tgtEl>
                                      </p:cBhvr>
                                    </p:animEffect>
                                  </p:childTnLst>
                                </p:cTn>
                              </p:par>
                              <p:par>
                                <p:cTn id="48" presetID="10" presetClass="entr" presetSubtype="0" fill="hold" nodeType="withEffect">
                                  <p:stCondLst>
                                    <p:cond delay="42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9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Our logo: from Phase 1 to final</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My dog logo was chosen in Phase 1, then recoloured to the group palette</a:t>
            </a:r>
          </a:p>
        </p:txBody>
      </p:sp>
      <p:sp>
        <p:nvSpPr>
          <p:cNvPr id="5" name="Rounded Rectangle 4"/>
          <p:cNvSpPr/>
          <p:nvPr/>
        </p:nvSpPr>
        <p:spPr>
          <a:xfrm>
            <a:off x="640080" y="1783080"/>
            <a:ext cx="512064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original_crop.jpg"/>
          <p:cNvPicPr>
            <a:picLocks noChangeAspect="1"/>
          </p:cNvPicPr>
          <p:nvPr/>
        </p:nvPicPr>
        <p:blipFill>
          <a:blip r:embed="rId2"/>
          <a:stretch>
            <a:fillRect/>
          </a:stretch>
        </p:blipFill>
        <p:spPr>
          <a:xfrm>
            <a:off x="1554480" y="2103120"/>
            <a:ext cx="3291840" cy="3291840"/>
          </a:xfrm>
          <a:prstGeom prst="rect">
            <a:avLst/>
          </a:prstGeom>
        </p:spPr>
      </p:pic>
      <p:sp>
        <p:nvSpPr>
          <p:cNvPr id="7" name="Rounded Rectangle 6"/>
          <p:cNvSpPr/>
          <p:nvPr/>
        </p:nvSpPr>
        <p:spPr>
          <a:xfrm>
            <a:off x="2148840" y="5486400"/>
            <a:ext cx="155448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Original</a:t>
            </a:r>
          </a:p>
        </p:txBody>
      </p:sp>
      <p:sp>
        <p:nvSpPr>
          <p:cNvPr id="8" name="Rounded Rectangle 7"/>
          <p:cNvSpPr/>
          <p:nvPr/>
        </p:nvSpPr>
        <p:spPr>
          <a:xfrm>
            <a:off x="6400800" y="1783080"/>
            <a:ext cx="512064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ogo_final_site.jpg"/>
          <p:cNvPicPr>
            <a:picLocks noChangeAspect="1"/>
          </p:cNvPicPr>
          <p:nvPr/>
        </p:nvPicPr>
        <p:blipFill>
          <a:blip r:embed="rId3"/>
          <a:stretch>
            <a:fillRect/>
          </a:stretch>
        </p:blipFill>
        <p:spPr>
          <a:xfrm>
            <a:off x="6583680" y="2489739"/>
            <a:ext cx="4754880" cy="2518600"/>
          </a:xfrm>
          <a:prstGeom prst="rect">
            <a:avLst/>
          </a:prstGeom>
        </p:spPr>
      </p:pic>
      <p:sp>
        <p:nvSpPr>
          <p:cNvPr id="10" name="Rounded Rectangle 9"/>
          <p:cNvSpPr/>
          <p:nvPr/>
        </p:nvSpPr>
        <p:spPr>
          <a:xfrm>
            <a:off x="8183879" y="5486400"/>
            <a:ext cx="155448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Final</a:t>
            </a:r>
          </a:p>
        </p:txBody>
      </p:sp>
      <p:sp>
        <p:nvSpPr>
          <p:cNvPr id="11" name="TextBox 10"/>
          <p:cNvSpPr txBox="1"/>
          <p:nvPr/>
        </p:nvSpPr>
        <p:spPr>
          <a:xfrm>
            <a:off x="5623560" y="3383280"/>
            <a:ext cx="914400" cy="640080"/>
          </a:xfrm>
          <a:prstGeom prst="rect">
            <a:avLst/>
          </a:prstGeom>
          <a:noFill/>
        </p:spPr>
        <p:txBody>
          <a:bodyPr wrap="square" anchor="t" lIns="45720" rIns="45720">
            <a:spAutoFit/>
          </a:bodyPr>
          <a:lstStyle/>
          <a:p>
            <a:pPr algn="ctr">
              <a:spcAft>
                <a:spcPts val="600"/>
              </a:spcAft>
            </a:pPr>
            <a:r>
              <a:rPr sz="4400" b="1">
                <a:solidFill>
                  <a:srgbClr val="C68B59"/>
                </a:solidFill>
                <a:latin typeface="Calibri"/>
              </a:rPr>
              <a:t>→</a:t>
            </a:r>
          </a:p>
        </p:txBody>
      </p:sp>
      <p:sp>
        <p:nvSpPr>
          <p:cNvPr id="12" name="TextBox 11"/>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childTnLst>
                                </p:cTn>
                              </p:par>
                              <p:par>
                                <p:cTn id="36" presetID="10" presetClass="entr" presetSubtype="0" fill="hold" nodeType="withEffect">
                                  <p:stCondLst>
                                    <p:cond delay="120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My pages: Fees Calculator</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On the website and in the app</a:t>
            </a:r>
          </a:p>
        </p:txBody>
      </p:sp>
      <p:pic>
        <p:nvPicPr>
          <p:cNvPr id="5" name="Picture 4" descr="hi_web_fees.jpg"/>
          <p:cNvPicPr>
            <a:picLocks noChangeAspect="1"/>
          </p:cNvPicPr>
          <p:nvPr/>
        </p:nvPicPr>
        <p:blipFill>
          <a:blip r:embed="rId2"/>
          <a:stretch>
            <a:fillRect/>
          </a:stretch>
        </p:blipFill>
        <p:spPr>
          <a:xfrm>
            <a:off x="1671643" y="1737360"/>
            <a:ext cx="3606153" cy="4206240"/>
          </a:xfrm>
          <a:prstGeom prst="rect">
            <a:avLst/>
          </a:prstGeom>
          <a:ln w="15875">
            <a:solidFill>
              <a:srgbClr val="C68B59"/>
            </a:solidFill>
          </a:ln>
        </p:spPr>
      </p:pic>
      <p:pic>
        <p:nvPicPr>
          <p:cNvPr id="6" name="Picture 5" descr="hi_mob_fees.jpg"/>
          <p:cNvPicPr>
            <a:picLocks noChangeAspect="1"/>
          </p:cNvPicPr>
          <p:nvPr/>
        </p:nvPicPr>
        <p:blipFill>
          <a:blip r:embed="rId3"/>
          <a:stretch>
            <a:fillRect/>
          </a:stretch>
        </p:blipFill>
        <p:spPr>
          <a:xfrm>
            <a:off x="6872079" y="1737360"/>
            <a:ext cx="1892080" cy="4206240"/>
          </a:xfrm>
          <a:prstGeom prst="rect">
            <a:avLst/>
          </a:prstGeom>
          <a:ln w="15875">
            <a:solidFill>
              <a:srgbClr val="C68B59"/>
            </a:solidFill>
          </a:ln>
        </p:spPr>
      </p:pic>
      <p:sp>
        <p:nvSpPr>
          <p:cNvPr id="7" name="TextBox 6"/>
          <p:cNvSpPr txBox="1"/>
          <p:nvPr/>
        </p:nvSpPr>
        <p:spPr>
          <a:xfrm>
            <a:off x="9052560" y="1737360"/>
            <a:ext cx="283464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How it works</a:t>
            </a:r>
          </a:p>
        </p:txBody>
      </p:sp>
      <p:sp>
        <p:nvSpPr>
          <p:cNvPr id="8" name="TextBox 7"/>
          <p:cNvSpPr txBox="1"/>
          <p:nvPr/>
        </p:nvSpPr>
        <p:spPr>
          <a:xfrm>
            <a:off x="9052560" y="2240280"/>
            <a:ext cx="2926080" cy="4114800"/>
          </a:xfrm>
          <a:prstGeom prst="rect">
            <a:avLst/>
          </a:prstGeom>
          <a:noFill/>
        </p:spPr>
        <p:txBody>
          <a:bodyPr wrap="square">
            <a:spAutoFit/>
          </a:bodyPr>
          <a:lstStyle/>
          <a:p>
            <a:pPr>
              <a:spcAft>
                <a:spcPts val="800"/>
              </a:spcAft>
            </a:pPr>
            <a:r>
              <a:rPr sz="1500">
                <a:solidFill>
                  <a:srgbClr val="2F302D"/>
                </a:solidFill>
                <a:latin typeface="Calibri"/>
              </a:rPr>
              <a:t>•  Tick the courses you want</a:t>
            </a:r>
          </a:p>
          <a:p>
            <a:pPr>
              <a:spcAft>
                <a:spcPts val="800"/>
              </a:spcAft>
            </a:pPr>
            <a:r>
              <a:rPr sz="1500">
                <a:solidFill>
                  <a:srgbClr val="2F302D"/>
                </a:solidFill>
                <a:latin typeface="Calibri"/>
              </a:rPr>
              <a:t>•  Subtotal, discount, VAT and total update at once</a:t>
            </a:r>
          </a:p>
          <a:p>
            <a:pPr>
              <a:spcAft>
                <a:spcPts val="800"/>
              </a:spcAft>
            </a:pPr>
            <a:r>
              <a:rPr sz="1500">
                <a:solidFill>
                  <a:srgbClr val="2F302D"/>
                </a:solidFill>
                <a:latin typeface="Calibri"/>
              </a:rPr>
              <a:t>•  Request a quote when ready</a:t>
            </a:r>
          </a:p>
        </p:txBody>
      </p:sp>
      <p:sp>
        <p:nvSpPr>
          <p:cNvPr id="9" name="TextBox 8"/>
          <p:cNvSpPr txBox="1"/>
          <p:nvPr/>
        </p:nvSpPr>
        <p:spPr>
          <a:xfrm>
            <a:off x="548640" y="6035040"/>
            <a:ext cx="10972800" cy="54864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Website (left) and Android app (right). Same prices and rules on both, so a quote is identical on either platform.</a:t>
            </a:r>
          </a:p>
        </p:txBody>
      </p:sp>
      <p:sp>
        <p:nvSpPr>
          <p:cNvPr id="10" name="TextBox 9"/>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6"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par>
                                <p:cTn id="28" presetID="10" presetClass="entr" presetSubtype="0" fill="hold" nodeType="withEffect">
                                  <p:stCondLst>
                                    <p:cond delay="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par>
                                <p:cTn id="32" presetID="10" presetClass="entr" presetSubtype="0" fill="hold" nodeType="withEffect">
                                  <p:stCondLst>
                                    <p:cond delay="10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My pages: Contact Us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Everything a customer needs to reach Sarah and the team</a:t>
            </a:r>
          </a:p>
        </p:txBody>
      </p:sp>
      <p:pic>
        <p:nvPicPr>
          <p:cNvPr id="5" name="Picture 4" descr="hi_web_contact.jpg"/>
          <p:cNvPicPr>
            <a:picLocks noChangeAspect="1"/>
          </p:cNvPicPr>
          <p:nvPr/>
        </p:nvPicPr>
        <p:blipFill>
          <a:blip r:embed="rId2"/>
          <a:stretch>
            <a:fillRect/>
          </a:stretch>
        </p:blipFill>
        <p:spPr>
          <a:xfrm>
            <a:off x="864433" y="1737360"/>
            <a:ext cx="4854812" cy="4206240"/>
          </a:xfrm>
          <a:prstGeom prst="rect">
            <a:avLst/>
          </a:prstGeom>
          <a:ln w="15875">
            <a:solidFill>
              <a:srgbClr val="C68B59"/>
            </a:solidFill>
          </a:ln>
        </p:spPr>
      </p:pic>
      <p:pic>
        <p:nvPicPr>
          <p:cNvPr id="6" name="Picture 5" descr="hi_mob_contact.jpg"/>
          <p:cNvPicPr>
            <a:picLocks noChangeAspect="1"/>
          </p:cNvPicPr>
          <p:nvPr/>
        </p:nvPicPr>
        <p:blipFill>
          <a:blip r:embed="rId3"/>
          <a:stretch>
            <a:fillRect/>
          </a:stretch>
        </p:blipFill>
        <p:spPr>
          <a:xfrm>
            <a:off x="6418142" y="1737360"/>
            <a:ext cx="1885555" cy="4206240"/>
          </a:xfrm>
          <a:prstGeom prst="rect">
            <a:avLst/>
          </a:prstGeom>
          <a:ln w="15875">
            <a:solidFill>
              <a:srgbClr val="C68B59"/>
            </a:solidFill>
          </a:ln>
        </p:spPr>
      </p:pic>
      <p:sp>
        <p:nvSpPr>
          <p:cNvPr id="7" name="TextBox 6"/>
          <p:cNvSpPr txBox="1"/>
          <p:nvPr/>
        </p:nvSpPr>
        <p:spPr>
          <a:xfrm>
            <a:off x="8595360" y="1737360"/>
            <a:ext cx="32004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On both platforms</a:t>
            </a:r>
          </a:p>
        </p:txBody>
      </p:sp>
      <p:sp>
        <p:nvSpPr>
          <p:cNvPr id="8" name="TextBox 7"/>
          <p:cNvSpPr txBox="1"/>
          <p:nvPr/>
        </p:nvSpPr>
        <p:spPr>
          <a:xfrm>
            <a:off x="8595360" y="2240280"/>
            <a:ext cx="3291840" cy="4114800"/>
          </a:xfrm>
          <a:prstGeom prst="rect">
            <a:avLst/>
          </a:prstGeom>
          <a:noFill/>
        </p:spPr>
        <p:txBody>
          <a:bodyPr wrap="square">
            <a:spAutoFit/>
          </a:bodyPr>
          <a:lstStyle/>
          <a:p>
            <a:pPr>
              <a:spcAft>
                <a:spcPts val="600"/>
              </a:spcAft>
            </a:pPr>
            <a:r>
              <a:rPr sz="1500">
                <a:solidFill>
                  <a:srgbClr val="2F302D"/>
                </a:solidFill>
                <a:latin typeface="Calibri"/>
              </a:rPr>
              <a:t>•  Phone, email and address (12 Florida Road, Morningside, Durban)</a:t>
            </a:r>
          </a:p>
          <a:p>
            <a:pPr>
              <a:spcAft>
                <a:spcPts val="600"/>
              </a:spcAft>
            </a:pPr>
            <a:r>
              <a:rPr sz="1500">
                <a:solidFill>
                  <a:srgbClr val="2F302D"/>
                </a:solidFill>
                <a:latin typeface="Calibri"/>
              </a:rPr>
              <a:t>•  Office hours: Mon to Fri, 08:00 to 17:00</a:t>
            </a:r>
          </a:p>
          <a:p>
            <a:pPr>
              <a:spcAft>
                <a:spcPts val="600"/>
              </a:spcAft>
            </a:pPr>
            <a:r>
              <a:rPr sz="1500">
                <a:solidFill>
                  <a:srgbClr val="2F302D"/>
                </a:solidFill>
                <a:latin typeface="Calibri"/>
              </a:rPr>
              <a:t>•  Social media links</a:t>
            </a:r>
          </a:p>
          <a:p>
            <a:pPr>
              <a:spcAft>
                <a:spcPts val="600"/>
              </a:spcAft>
            </a:pPr>
            <a:r>
              <a:rPr sz="1500">
                <a:solidFill>
                  <a:srgbClr val="2F302D"/>
                </a:solidFill>
                <a:latin typeface="Calibri"/>
              </a:rPr>
              <a:t>•  A map with directions</a:t>
            </a:r>
          </a:p>
          <a:p>
            <a:pPr>
              <a:spcAft>
                <a:spcPts val="600"/>
              </a:spcAft>
            </a:pPr>
            <a:r>
              <a:rPr sz="1500">
                <a:solidFill>
                  <a:srgbClr val="2F302D"/>
                </a:solidFill>
                <a:latin typeface="Calibri"/>
              </a:rPr>
              <a:t>•  A message form (name, email, message)</a:t>
            </a:r>
          </a:p>
        </p:txBody>
      </p:sp>
      <p:sp>
        <p:nvSpPr>
          <p:cNvPr id="9" name="TextBox 8"/>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par>
                                <p:cTn id="28" presetID="10" presetClass="entr" presetSubtype="0" fill="hold" nodeType="withEffect">
                                  <p:stCondLst>
                                    <p:cond delay="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Discount tiers, then VAT</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VAT is added after the discount, so customers are taxed on what they actually pay</a:t>
            </a:r>
          </a:p>
        </p:txBody>
      </p:sp>
      <p:sp>
        <p:nvSpPr>
          <p:cNvPr id="5" name="Rectangle 4"/>
          <p:cNvSpPr/>
          <p:nvPr/>
        </p:nvSpPr>
        <p:spPr>
          <a:xfrm>
            <a:off x="640080" y="1828800"/>
            <a:ext cx="4754880" cy="548640"/>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2743200" cy="457200"/>
          </a:xfrm>
          <a:prstGeom prst="rect">
            <a:avLst/>
          </a:prstGeom>
          <a:noFill/>
        </p:spPr>
        <p:txBody>
          <a:bodyPr wrap="square" anchor="ctr" lIns="45720" rIns="45720">
            <a:spAutoFit/>
          </a:bodyPr>
          <a:lstStyle/>
          <a:p>
            <a:pPr algn="l">
              <a:spcAft>
                <a:spcPts val="600"/>
              </a:spcAft>
            </a:pPr>
            <a:r>
              <a:rPr sz="1800" b="1">
                <a:solidFill>
                  <a:srgbClr val="FFFFFF"/>
                </a:solidFill>
                <a:latin typeface="Calibri"/>
              </a:rPr>
              <a:t>Courses chosen</a:t>
            </a:r>
          </a:p>
        </p:txBody>
      </p:sp>
      <p:sp>
        <p:nvSpPr>
          <p:cNvPr id="7" name="TextBox 6"/>
          <p:cNvSpPr txBox="1"/>
          <p:nvPr/>
        </p:nvSpPr>
        <p:spPr>
          <a:xfrm>
            <a:off x="3657600" y="1874519"/>
            <a:ext cx="1645920" cy="457200"/>
          </a:xfrm>
          <a:prstGeom prst="rect">
            <a:avLst/>
          </a:prstGeom>
          <a:noFill/>
        </p:spPr>
        <p:txBody>
          <a:bodyPr wrap="square" anchor="ctr" lIns="45720" rIns="45720">
            <a:spAutoFit/>
          </a:bodyPr>
          <a:lstStyle/>
          <a:p>
            <a:pPr algn="r">
              <a:spcAft>
                <a:spcPts val="600"/>
              </a:spcAft>
            </a:pPr>
            <a:r>
              <a:rPr sz="1800" b="1">
                <a:solidFill>
                  <a:srgbClr val="FFFFFF"/>
                </a:solidFill>
                <a:latin typeface="Calibri"/>
              </a:rPr>
              <a:t>Discount</a:t>
            </a:r>
          </a:p>
        </p:txBody>
      </p:sp>
      <p:sp>
        <p:nvSpPr>
          <p:cNvPr id="8" name="Rectangle 7"/>
          <p:cNvSpPr/>
          <p:nvPr/>
        </p:nvSpPr>
        <p:spPr>
          <a:xfrm>
            <a:off x="640080" y="2450592"/>
            <a:ext cx="4754880" cy="548640"/>
          </a:xfrm>
          <a:prstGeom prst="rect">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96312"/>
            <a:ext cx="2743200" cy="457200"/>
          </a:xfrm>
          <a:prstGeom prst="rect">
            <a:avLst/>
          </a:prstGeom>
          <a:noFill/>
        </p:spPr>
        <p:txBody>
          <a:bodyPr wrap="square" anchor="ctr" lIns="45720" rIns="45720">
            <a:spAutoFit/>
          </a:bodyPr>
          <a:lstStyle/>
          <a:p>
            <a:pPr algn="l">
              <a:spcAft>
                <a:spcPts val="600"/>
              </a:spcAft>
            </a:pPr>
            <a:r>
              <a:rPr sz="1800" b="0">
                <a:solidFill>
                  <a:srgbClr val="2F302D"/>
                </a:solidFill>
                <a:latin typeface="Calibri"/>
              </a:rPr>
              <a:t>1 course</a:t>
            </a:r>
          </a:p>
        </p:txBody>
      </p:sp>
      <p:sp>
        <p:nvSpPr>
          <p:cNvPr id="10" name="TextBox 9"/>
          <p:cNvSpPr txBox="1"/>
          <p:nvPr/>
        </p:nvSpPr>
        <p:spPr>
          <a:xfrm>
            <a:off x="3657600" y="2496312"/>
            <a:ext cx="1645920" cy="457200"/>
          </a:xfrm>
          <a:prstGeom prst="rect">
            <a:avLst/>
          </a:prstGeom>
          <a:noFill/>
        </p:spPr>
        <p:txBody>
          <a:bodyPr wrap="square" anchor="ctr" lIns="45720" rIns="45720">
            <a:spAutoFit/>
          </a:bodyPr>
          <a:lstStyle/>
          <a:p>
            <a:pPr algn="r">
              <a:spcAft>
                <a:spcPts val="600"/>
              </a:spcAft>
            </a:pPr>
            <a:r>
              <a:rPr sz="1800" b="1">
                <a:solidFill>
                  <a:srgbClr val="2F302D"/>
                </a:solidFill>
                <a:latin typeface="Calibri"/>
              </a:rPr>
              <a:t>0%</a:t>
            </a:r>
          </a:p>
        </p:txBody>
      </p:sp>
      <p:sp>
        <p:nvSpPr>
          <p:cNvPr id="11" name="Rectangle 10"/>
          <p:cNvSpPr/>
          <p:nvPr/>
        </p:nvSpPr>
        <p:spPr>
          <a:xfrm>
            <a:off x="640080" y="3072384"/>
            <a:ext cx="47548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118104"/>
            <a:ext cx="2743200" cy="457200"/>
          </a:xfrm>
          <a:prstGeom prst="rect">
            <a:avLst/>
          </a:prstGeom>
          <a:noFill/>
        </p:spPr>
        <p:txBody>
          <a:bodyPr wrap="square" anchor="ctr" lIns="45720" rIns="45720">
            <a:spAutoFit/>
          </a:bodyPr>
          <a:lstStyle/>
          <a:p>
            <a:pPr algn="l">
              <a:spcAft>
                <a:spcPts val="600"/>
              </a:spcAft>
            </a:pPr>
            <a:r>
              <a:rPr sz="1800" b="0">
                <a:solidFill>
                  <a:srgbClr val="2F302D"/>
                </a:solidFill>
                <a:latin typeface="Calibri"/>
              </a:rPr>
              <a:t>2 courses</a:t>
            </a:r>
          </a:p>
        </p:txBody>
      </p:sp>
      <p:sp>
        <p:nvSpPr>
          <p:cNvPr id="13" name="TextBox 12"/>
          <p:cNvSpPr txBox="1"/>
          <p:nvPr/>
        </p:nvSpPr>
        <p:spPr>
          <a:xfrm>
            <a:off x="3657600" y="3118104"/>
            <a:ext cx="1645920" cy="457200"/>
          </a:xfrm>
          <a:prstGeom prst="rect">
            <a:avLst/>
          </a:prstGeom>
          <a:noFill/>
        </p:spPr>
        <p:txBody>
          <a:bodyPr wrap="square" anchor="ctr" lIns="45720" rIns="45720">
            <a:spAutoFit/>
          </a:bodyPr>
          <a:lstStyle/>
          <a:p>
            <a:pPr algn="r">
              <a:spcAft>
                <a:spcPts val="600"/>
              </a:spcAft>
            </a:pPr>
            <a:r>
              <a:rPr sz="1800" b="1">
                <a:solidFill>
                  <a:srgbClr val="2F302D"/>
                </a:solidFill>
                <a:latin typeface="Calibri"/>
              </a:rPr>
              <a:t>5%</a:t>
            </a:r>
          </a:p>
        </p:txBody>
      </p:sp>
      <p:sp>
        <p:nvSpPr>
          <p:cNvPr id="14" name="Rectangle 13"/>
          <p:cNvSpPr/>
          <p:nvPr/>
        </p:nvSpPr>
        <p:spPr>
          <a:xfrm>
            <a:off x="640080" y="3694176"/>
            <a:ext cx="4754880" cy="548640"/>
          </a:xfrm>
          <a:prstGeom prst="rect">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739896"/>
            <a:ext cx="2743200" cy="457200"/>
          </a:xfrm>
          <a:prstGeom prst="rect">
            <a:avLst/>
          </a:prstGeom>
          <a:noFill/>
        </p:spPr>
        <p:txBody>
          <a:bodyPr wrap="square" anchor="ctr" lIns="45720" rIns="45720">
            <a:spAutoFit/>
          </a:bodyPr>
          <a:lstStyle/>
          <a:p>
            <a:pPr algn="l">
              <a:spcAft>
                <a:spcPts val="600"/>
              </a:spcAft>
            </a:pPr>
            <a:r>
              <a:rPr sz="1800" b="0">
                <a:solidFill>
                  <a:srgbClr val="2F302D"/>
                </a:solidFill>
                <a:latin typeface="Calibri"/>
              </a:rPr>
              <a:t>3 courses</a:t>
            </a:r>
          </a:p>
        </p:txBody>
      </p:sp>
      <p:sp>
        <p:nvSpPr>
          <p:cNvPr id="16" name="TextBox 15"/>
          <p:cNvSpPr txBox="1"/>
          <p:nvPr/>
        </p:nvSpPr>
        <p:spPr>
          <a:xfrm>
            <a:off x="3657600" y="3739896"/>
            <a:ext cx="1645920" cy="457200"/>
          </a:xfrm>
          <a:prstGeom prst="rect">
            <a:avLst/>
          </a:prstGeom>
          <a:noFill/>
        </p:spPr>
        <p:txBody>
          <a:bodyPr wrap="square" anchor="ctr" lIns="45720" rIns="45720">
            <a:spAutoFit/>
          </a:bodyPr>
          <a:lstStyle/>
          <a:p>
            <a:pPr algn="r">
              <a:spcAft>
                <a:spcPts val="600"/>
              </a:spcAft>
            </a:pPr>
            <a:r>
              <a:rPr sz="1800" b="1">
                <a:solidFill>
                  <a:srgbClr val="2F302D"/>
                </a:solidFill>
                <a:latin typeface="Calibri"/>
              </a:rPr>
              <a:t>10%</a:t>
            </a:r>
          </a:p>
        </p:txBody>
      </p:sp>
      <p:sp>
        <p:nvSpPr>
          <p:cNvPr id="17" name="Rectangle 16"/>
          <p:cNvSpPr/>
          <p:nvPr/>
        </p:nvSpPr>
        <p:spPr>
          <a:xfrm>
            <a:off x="640080" y="4315968"/>
            <a:ext cx="47548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361688"/>
            <a:ext cx="2743200" cy="457200"/>
          </a:xfrm>
          <a:prstGeom prst="rect">
            <a:avLst/>
          </a:prstGeom>
          <a:noFill/>
        </p:spPr>
        <p:txBody>
          <a:bodyPr wrap="square" anchor="ctr" lIns="45720" rIns="45720">
            <a:spAutoFit/>
          </a:bodyPr>
          <a:lstStyle/>
          <a:p>
            <a:pPr algn="l">
              <a:spcAft>
                <a:spcPts val="600"/>
              </a:spcAft>
            </a:pPr>
            <a:r>
              <a:rPr sz="1800" b="0">
                <a:solidFill>
                  <a:srgbClr val="2F302D"/>
                </a:solidFill>
                <a:latin typeface="Calibri"/>
              </a:rPr>
              <a:t>4 or more</a:t>
            </a:r>
          </a:p>
        </p:txBody>
      </p:sp>
      <p:sp>
        <p:nvSpPr>
          <p:cNvPr id="19" name="TextBox 18"/>
          <p:cNvSpPr txBox="1"/>
          <p:nvPr/>
        </p:nvSpPr>
        <p:spPr>
          <a:xfrm>
            <a:off x="3657600" y="4361688"/>
            <a:ext cx="1645920" cy="457200"/>
          </a:xfrm>
          <a:prstGeom prst="rect">
            <a:avLst/>
          </a:prstGeom>
          <a:noFill/>
        </p:spPr>
        <p:txBody>
          <a:bodyPr wrap="square" anchor="ctr" lIns="45720" rIns="45720">
            <a:spAutoFit/>
          </a:bodyPr>
          <a:lstStyle/>
          <a:p>
            <a:pPr algn="r">
              <a:spcAft>
                <a:spcPts val="600"/>
              </a:spcAft>
            </a:pPr>
            <a:r>
              <a:rPr sz="1800" b="1">
                <a:solidFill>
                  <a:srgbClr val="2F302D"/>
                </a:solidFill>
                <a:latin typeface="Calibri"/>
              </a:rPr>
              <a:t>15%</a:t>
            </a:r>
          </a:p>
        </p:txBody>
      </p:sp>
      <p:sp>
        <p:nvSpPr>
          <p:cNvPr id="20" name="TextBox 19"/>
          <p:cNvSpPr txBox="1"/>
          <p:nvPr/>
        </p:nvSpPr>
        <p:spPr>
          <a:xfrm>
            <a:off x="640080" y="5074920"/>
            <a:ext cx="4754880" cy="1097280"/>
          </a:xfrm>
          <a:prstGeom prst="rect">
            <a:avLst/>
          </a:prstGeom>
          <a:noFill/>
        </p:spPr>
        <p:txBody>
          <a:bodyPr wrap="square" anchor="t" lIns="45720" rIns="45720">
            <a:spAutoFit/>
          </a:bodyPr>
          <a:lstStyle/>
          <a:p>
            <a:pPr algn="l">
              <a:spcAft>
                <a:spcPts val="600"/>
              </a:spcAft>
            </a:pPr>
            <a:r>
              <a:rPr sz="1600" b="0">
                <a:solidFill>
                  <a:srgbClr val="5A3E2B"/>
                </a:solidFill>
                <a:latin typeface="Calibri"/>
              </a:rPr>
              <a:t>Prices: 6-month course R1,500</a:t>
            </a:r>
          </a:p>
          <a:p>
            <a:pPr algn="l">
              <a:spcAft>
                <a:spcPts val="600"/>
              </a:spcAft>
            </a:pPr>
            <a:r>
              <a:rPr sz="1600" b="0">
                <a:solidFill>
                  <a:srgbClr val="5A3E2B"/>
                </a:solidFill>
                <a:latin typeface="Calibri"/>
              </a:rPr>
              <a:t>6-week course R750   |   VAT: 15%</a:t>
            </a:r>
          </a:p>
        </p:txBody>
      </p:sp>
      <p:sp>
        <p:nvSpPr>
          <p:cNvPr id="21" name="TextBox 20"/>
          <p:cNvSpPr txBox="1"/>
          <p:nvPr/>
        </p:nvSpPr>
        <p:spPr>
          <a:xfrm>
            <a:off x="5943600" y="1783080"/>
            <a:ext cx="566928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The order of steps</a:t>
            </a:r>
          </a:p>
        </p:txBody>
      </p:sp>
      <p:sp>
        <p:nvSpPr>
          <p:cNvPr id="22" name="Oval 21"/>
          <p:cNvSpPr/>
          <p:nvPr/>
        </p:nvSpPr>
        <p:spPr>
          <a:xfrm>
            <a:off x="5943600" y="2377440"/>
            <a:ext cx="640080" cy="64008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Calibri"/>
              </a:rPr>
              <a:t>1</a:t>
            </a:r>
          </a:p>
        </p:txBody>
      </p:sp>
      <p:sp>
        <p:nvSpPr>
          <p:cNvPr id="23" name="TextBox 22"/>
          <p:cNvSpPr txBox="1"/>
          <p:nvPr/>
        </p:nvSpPr>
        <p:spPr>
          <a:xfrm>
            <a:off x="6766560" y="2359152"/>
            <a:ext cx="4937760" cy="41148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Add up the course prices</a:t>
            </a:r>
          </a:p>
        </p:txBody>
      </p:sp>
      <p:sp>
        <p:nvSpPr>
          <p:cNvPr id="24" name="TextBox 23"/>
          <p:cNvSpPr txBox="1"/>
          <p:nvPr/>
        </p:nvSpPr>
        <p:spPr>
          <a:xfrm>
            <a:off x="6766560" y="2706624"/>
            <a:ext cx="49377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subtotal</a:t>
            </a:r>
          </a:p>
        </p:txBody>
      </p:sp>
      <p:sp>
        <p:nvSpPr>
          <p:cNvPr id="25" name="Oval 24"/>
          <p:cNvSpPr/>
          <p:nvPr/>
        </p:nvSpPr>
        <p:spPr>
          <a:xfrm>
            <a:off x="5943600" y="3291840"/>
            <a:ext cx="640080" cy="64008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Calibri"/>
              </a:rPr>
              <a:t>2</a:t>
            </a:r>
          </a:p>
        </p:txBody>
      </p:sp>
      <p:sp>
        <p:nvSpPr>
          <p:cNvPr id="26" name="TextBox 25"/>
          <p:cNvSpPr txBox="1"/>
          <p:nvPr/>
        </p:nvSpPr>
        <p:spPr>
          <a:xfrm>
            <a:off x="6766560" y="3273552"/>
            <a:ext cx="4937760" cy="41148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Apply the discount tier</a:t>
            </a:r>
          </a:p>
        </p:txBody>
      </p:sp>
      <p:sp>
        <p:nvSpPr>
          <p:cNvPr id="27" name="TextBox 26"/>
          <p:cNvSpPr txBox="1"/>
          <p:nvPr/>
        </p:nvSpPr>
        <p:spPr>
          <a:xfrm>
            <a:off x="6766560" y="3621024"/>
            <a:ext cx="49377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subtotal x rate</a:t>
            </a:r>
          </a:p>
        </p:txBody>
      </p:sp>
      <p:sp>
        <p:nvSpPr>
          <p:cNvPr id="28" name="Oval 27"/>
          <p:cNvSpPr/>
          <p:nvPr/>
        </p:nvSpPr>
        <p:spPr>
          <a:xfrm>
            <a:off x="5943600" y="4206240"/>
            <a:ext cx="640080" cy="64008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Calibri"/>
              </a:rPr>
              <a:t>3</a:t>
            </a:r>
          </a:p>
        </p:txBody>
      </p:sp>
      <p:sp>
        <p:nvSpPr>
          <p:cNvPr id="29" name="TextBox 28"/>
          <p:cNvSpPr txBox="1"/>
          <p:nvPr/>
        </p:nvSpPr>
        <p:spPr>
          <a:xfrm>
            <a:off x="6766560" y="4187952"/>
            <a:ext cx="4937760" cy="41148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Add 15% VAT on what is left</a:t>
            </a:r>
          </a:p>
        </p:txBody>
      </p:sp>
      <p:sp>
        <p:nvSpPr>
          <p:cNvPr id="30" name="TextBox 29"/>
          <p:cNvSpPr txBox="1"/>
          <p:nvPr/>
        </p:nvSpPr>
        <p:spPr>
          <a:xfrm>
            <a:off x="6766560" y="4535424"/>
            <a:ext cx="49377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(subtotal - discount) x 15%</a:t>
            </a:r>
          </a:p>
        </p:txBody>
      </p:sp>
      <p:sp>
        <p:nvSpPr>
          <p:cNvPr id="31" name="Oval 30"/>
          <p:cNvSpPr/>
          <p:nvPr/>
        </p:nvSpPr>
        <p:spPr>
          <a:xfrm>
            <a:off x="5943600" y="5120640"/>
            <a:ext cx="640080" cy="64008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Calibri"/>
              </a:rPr>
              <a:t>4</a:t>
            </a:r>
          </a:p>
        </p:txBody>
      </p:sp>
      <p:sp>
        <p:nvSpPr>
          <p:cNvPr id="32" name="TextBox 31"/>
          <p:cNvSpPr txBox="1"/>
          <p:nvPr/>
        </p:nvSpPr>
        <p:spPr>
          <a:xfrm>
            <a:off x="6766560" y="5102352"/>
            <a:ext cx="4937760" cy="41148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Total</a:t>
            </a:r>
          </a:p>
        </p:txBody>
      </p:sp>
      <p:sp>
        <p:nvSpPr>
          <p:cNvPr id="33" name="TextBox 32"/>
          <p:cNvSpPr txBox="1"/>
          <p:nvPr/>
        </p:nvSpPr>
        <p:spPr>
          <a:xfrm>
            <a:off x="6766560" y="5449824"/>
            <a:ext cx="49377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subtotal - discount + VAT</a:t>
            </a:r>
          </a:p>
        </p:txBody>
      </p:sp>
      <p:sp>
        <p:nvSpPr>
          <p:cNvPr id="34" name="TextBox 33"/>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1000"/>
                                        <p:tgtEl>
                                          <p:spTgt spid="21"/>
                                        </p:tgtEl>
                                      </p:cBhvr>
                                    </p:animEffect>
                                  </p:childTnLst>
                                </p:cTn>
                              </p:par>
                              <p:par>
                                <p:cTn id="20" presetID="10" presetClass="entr" presetSubtype="0" fill="hold"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1000"/>
                                        <p:tgtEl>
                                          <p:spTgt spid="22"/>
                                        </p:tgtEl>
                                      </p:cBhvr>
                                    </p:animEffect>
                                  </p:childTnLst>
                                </p:cTn>
                              </p:par>
                              <p:par>
                                <p:cTn id="36" presetID="10" presetClass="entr" presetSubtype="0" fill="hold" nodeType="withEffect">
                                  <p:stCondLst>
                                    <p:cond delay="120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1000"/>
                                        <p:tgtEl>
                                          <p:spTgt spid="23"/>
                                        </p:tgtEl>
                                      </p:cBhvr>
                                    </p:animEffect>
                                  </p:childTnLst>
                                </p:cTn>
                              </p:par>
                              <p:par>
                                <p:cTn id="40" presetID="10" presetClass="entr" presetSubtype="0" fill="hold" nodeType="withEffect">
                                  <p:stCondLst>
                                    <p:cond delay="135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childTnLst>
                                </p:cTn>
                              </p:par>
                              <p:par>
                                <p:cTn id="44" presetID="10" presetClass="entr" presetSubtype="0" fill="hold" nodeType="withEffect">
                                  <p:stCondLst>
                                    <p:cond delay="150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childTnLst>
                                </p:cTn>
                              </p:par>
                              <p:par>
                                <p:cTn id="48" presetID="10" presetClass="entr" presetSubtype="0" fill="hold" nodeType="withEffect">
                                  <p:stCondLst>
                                    <p:cond delay="165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childTnLst>
                                </p:cTn>
                              </p:par>
                              <p:par>
                                <p:cTn id="52" presetID="10" presetClass="entr" presetSubtype="0" fill="hold" nodeType="withEffect">
                                  <p:stCondLst>
                                    <p:cond delay="180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1000"/>
                                        <p:tgtEl>
                                          <p:spTgt spid="24"/>
                                        </p:tgtEl>
                                      </p:cBhvr>
                                    </p:animEffect>
                                  </p:childTnLst>
                                </p:cTn>
                              </p:par>
                              <p:par>
                                <p:cTn id="56" presetID="10" presetClass="entr" presetSubtype="0" fill="hold" nodeType="withEffect">
                                  <p:stCondLst>
                                    <p:cond delay="180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1000"/>
                                        <p:tgtEl>
                                          <p:spTgt spid="11"/>
                                        </p:tgtEl>
                                      </p:cBhvr>
                                    </p:animEffect>
                                  </p:childTnLst>
                                </p:cTn>
                              </p:par>
                              <p:par>
                                <p:cTn id="60" presetID="10" presetClass="entr" presetSubtype="0" fill="hold" nodeType="withEffect">
                                  <p:stCondLst>
                                    <p:cond delay="180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1000"/>
                                        <p:tgtEl>
                                          <p:spTgt spid="12"/>
                                        </p:tgtEl>
                                      </p:cBhvr>
                                    </p:animEffect>
                                  </p:childTnLst>
                                </p:cTn>
                              </p:par>
                              <p:par>
                                <p:cTn id="64" presetID="10" presetClass="entr" presetSubtype="0" fill="hold" nodeType="withEffect">
                                  <p:stCondLst>
                                    <p:cond delay="180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1000"/>
                                        <p:tgtEl>
                                          <p:spTgt spid="13"/>
                                        </p:tgtEl>
                                      </p:cBhvr>
                                    </p:animEffect>
                                  </p:childTnLst>
                                </p:cTn>
                              </p:par>
                              <p:par>
                                <p:cTn id="68" presetID="10" presetClass="entr" presetSubtype="0" fill="hold" nodeType="withEffect">
                                  <p:stCondLst>
                                    <p:cond delay="18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1000"/>
                                        <p:tgtEl>
                                          <p:spTgt spid="25"/>
                                        </p:tgtEl>
                                      </p:cBhvr>
                                    </p:animEffect>
                                  </p:childTnLst>
                                </p:cTn>
                              </p:par>
                              <p:par>
                                <p:cTn id="72" presetID="10" presetClass="entr" presetSubtype="0" fill="hold" nodeType="withEffect">
                                  <p:stCondLst>
                                    <p:cond delay="180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1000"/>
                                        <p:tgtEl>
                                          <p:spTgt spid="26"/>
                                        </p:tgtEl>
                                      </p:cBhvr>
                                    </p:animEffect>
                                  </p:childTnLst>
                                </p:cTn>
                              </p:par>
                              <p:par>
                                <p:cTn id="76" presetID="10" presetClass="entr" presetSubtype="0" fill="hold" nodeType="withEffect">
                                  <p:stCondLst>
                                    <p:cond delay="180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1000"/>
                                        <p:tgtEl>
                                          <p:spTgt spid="14"/>
                                        </p:tgtEl>
                                      </p:cBhvr>
                                    </p:animEffect>
                                  </p:childTnLst>
                                </p:cTn>
                              </p:par>
                              <p:par>
                                <p:cTn id="80" presetID="10" presetClass="entr" presetSubtype="0" fill="hold" nodeType="withEffect">
                                  <p:stCondLst>
                                    <p:cond delay="180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1000"/>
                                        <p:tgtEl>
                                          <p:spTgt spid="27"/>
                                        </p:tgtEl>
                                      </p:cBhvr>
                                    </p:animEffect>
                                  </p:childTnLst>
                                </p:cTn>
                              </p:par>
                              <p:par>
                                <p:cTn id="84" presetID="10" presetClass="entr" presetSubtype="0" fill="hold" nodeType="withEffect">
                                  <p:stCondLst>
                                    <p:cond delay="180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1000"/>
                                        <p:tgtEl>
                                          <p:spTgt spid="15"/>
                                        </p:tgtEl>
                                      </p:cBhvr>
                                    </p:animEffect>
                                  </p:childTnLst>
                                </p:cTn>
                              </p:par>
                              <p:par>
                                <p:cTn id="88" presetID="10" presetClass="entr" presetSubtype="0" fill="hold" nodeType="withEffect">
                                  <p:stCondLst>
                                    <p:cond delay="1800"/>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1000"/>
                                        <p:tgtEl>
                                          <p:spTgt spid="16"/>
                                        </p:tgtEl>
                                      </p:cBhvr>
                                    </p:animEffect>
                                  </p:childTnLst>
                                </p:cTn>
                              </p:par>
                              <p:par>
                                <p:cTn id="92" presetID="10" presetClass="entr" presetSubtype="0" fill="hold" nodeType="withEffect">
                                  <p:stCondLst>
                                    <p:cond delay="180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1000"/>
                                        <p:tgtEl>
                                          <p:spTgt spid="28"/>
                                        </p:tgtEl>
                                      </p:cBhvr>
                                    </p:animEffect>
                                  </p:childTnLst>
                                </p:cTn>
                              </p:par>
                              <p:par>
                                <p:cTn id="96" presetID="10" presetClass="entr" presetSubtype="0" fill="hold" nodeType="withEffect">
                                  <p:stCondLst>
                                    <p:cond delay="180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1000"/>
                                        <p:tgtEl>
                                          <p:spTgt spid="29"/>
                                        </p:tgtEl>
                                      </p:cBhvr>
                                    </p:animEffect>
                                  </p:childTnLst>
                                </p:cTn>
                              </p:par>
                              <p:par>
                                <p:cTn id="100" presetID="10" presetClass="entr" presetSubtype="0" fill="hold" nodeType="withEffect">
                                  <p:stCondLst>
                                    <p:cond delay="1800"/>
                                  </p:stCondLst>
                                  <p:childTnLst>
                                    <p:set>
                                      <p:cBhvr>
                                        <p:cTn id="101" dur="1" fill="hold">
                                          <p:stCondLst>
                                            <p:cond delay="0"/>
                                          </p:stCondLst>
                                        </p:cTn>
                                        <p:tgtEl>
                                          <p:spTgt spid="17"/>
                                        </p:tgtEl>
                                        <p:attrNameLst>
                                          <p:attrName>style.visibility</p:attrName>
                                        </p:attrNameLst>
                                      </p:cBhvr>
                                      <p:to>
                                        <p:strVal val="visible"/>
                                      </p:to>
                                    </p:set>
                                    <p:animEffect transition="in" filter="fade">
                                      <p:cBhvr>
                                        <p:cTn id="102" dur="1000"/>
                                        <p:tgtEl>
                                          <p:spTgt spid="17"/>
                                        </p:tgtEl>
                                      </p:cBhvr>
                                    </p:animEffect>
                                  </p:childTnLst>
                                </p:cTn>
                              </p:par>
                              <p:par>
                                <p:cTn id="104" presetID="10" presetClass="entr" presetSubtype="0" fill="hold" nodeType="withEffect">
                                  <p:stCondLst>
                                    <p:cond delay="1800"/>
                                  </p:stCondLst>
                                  <p:childTnLst>
                                    <p:set>
                                      <p:cBhvr>
                                        <p:cTn id="105" dur="1" fill="hold">
                                          <p:stCondLst>
                                            <p:cond delay="0"/>
                                          </p:stCondLst>
                                        </p:cTn>
                                        <p:tgtEl>
                                          <p:spTgt spid="18"/>
                                        </p:tgtEl>
                                        <p:attrNameLst>
                                          <p:attrName>style.visibility</p:attrName>
                                        </p:attrNameLst>
                                      </p:cBhvr>
                                      <p:to>
                                        <p:strVal val="visible"/>
                                      </p:to>
                                    </p:set>
                                    <p:animEffect transition="in" filter="fade">
                                      <p:cBhvr>
                                        <p:cTn id="106" dur="1000"/>
                                        <p:tgtEl>
                                          <p:spTgt spid="18"/>
                                        </p:tgtEl>
                                      </p:cBhvr>
                                    </p:animEffect>
                                  </p:childTnLst>
                                </p:cTn>
                              </p:par>
                              <p:par>
                                <p:cTn id="108" presetID="10" presetClass="entr" presetSubtype="0" fill="hold" nodeType="withEffect">
                                  <p:stCondLst>
                                    <p:cond delay="1800"/>
                                  </p:stCondLst>
                                  <p:childTnLst>
                                    <p:set>
                                      <p:cBhvr>
                                        <p:cTn id="109" dur="1" fill="hold">
                                          <p:stCondLst>
                                            <p:cond delay="0"/>
                                          </p:stCondLst>
                                        </p:cTn>
                                        <p:tgtEl>
                                          <p:spTgt spid="19"/>
                                        </p:tgtEl>
                                        <p:attrNameLst>
                                          <p:attrName>style.visibility</p:attrName>
                                        </p:attrNameLst>
                                      </p:cBhvr>
                                      <p:to>
                                        <p:strVal val="visible"/>
                                      </p:to>
                                    </p:set>
                                    <p:animEffect transition="in" filter="fade">
                                      <p:cBhvr>
                                        <p:cTn id="110" dur="1000"/>
                                        <p:tgtEl>
                                          <p:spTgt spid="19"/>
                                        </p:tgtEl>
                                      </p:cBhvr>
                                    </p:animEffect>
                                  </p:childTnLst>
                                </p:cTn>
                              </p:par>
                              <p:par>
                                <p:cTn id="112" presetID="10" presetClass="entr" presetSubtype="0" fill="hold" nodeType="withEffect">
                                  <p:stCondLst>
                                    <p:cond delay="180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1000"/>
                                        <p:tgtEl>
                                          <p:spTgt spid="30"/>
                                        </p:tgtEl>
                                      </p:cBhvr>
                                    </p:animEffect>
                                  </p:childTnLst>
                                </p:cTn>
                              </p:par>
                              <p:par>
                                <p:cTn id="116" presetID="10" presetClass="entr" presetSubtype="0" fill="hold" nodeType="withEffect">
                                  <p:stCondLst>
                                    <p:cond delay="1800"/>
                                  </p:stCondLst>
                                  <p:childTnLst>
                                    <p:set>
                                      <p:cBhvr>
                                        <p:cTn id="117" dur="1" fill="hold">
                                          <p:stCondLst>
                                            <p:cond delay="0"/>
                                          </p:stCondLst>
                                        </p:cTn>
                                        <p:tgtEl>
                                          <p:spTgt spid="20"/>
                                        </p:tgtEl>
                                        <p:attrNameLst>
                                          <p:attrName>style.visibility</p:attrName>
                                        </p:attrNameLst>
                                      </p:cBhvr>
                                      <p:to>
                                        <p:strVal val="visible"/>
                                      </p:to>
                                    </p:set>
                                    <p:animEffect transition="in" filter="fade">
                                      <p:cBhvr>
                                        <p:cTn id="118" dur="1000"/>
                                        <p:tgtEl>
                                          <p:spTgt spid="20"/>
                                        </p:tgtEl>
                                      </p:cBhvr>
                                    </p:animEffect>
                                  </p:childTnLst>
                                </p:cTn>
                              </p:par>
                              <p:par>
                                <p:cTn id="120" presetID="10" presetClass="entr" presetSubtype="0" fill="hold" nodeType="withEffect">
                                  <p:stCondLst>
                                    <p:cond delay="180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1000"/>
                                        <p:tgtEl>
                                          <p:spTgt spid="31"/>
                                        </p:tgtEl>
                                      </p:cBhvr>
                                    </p:animEffect>
                                  </p:childTnLst>
                                </p:cTn>
                              </p:par>
                              <p:par>
                                <p:cTn id="124" presetID="10" presetClass="entr" presetSubtype="0" fill="hold" nodeType="withEffect">
                                  <p:stCondLst>
                                    <p:cond delay="1800"/>
                                  </p:stCondLst>
                                  <p:childTnLst>
                                    <p:set>
                                      <p:cBhvr>
                                        <p:cTn id="125" dur="1" fill="hold">
                                          <p:stCondLst>
                                            <p:cond delay="0"/>
                                          </p:stCondLst>
                                        </p:cTn>
                                        <p:tgtEl>
                                          <p:spTgt spid="32"/>
                                        </p:tgtEl>
                                        <p:attrNameLst>
                                          <p:attrName>style.visibility</p:attrName>
                                        </p:attrNameLst>
                                      </p:cBhvr>
                                      <p:to>
                                        <p:strVal val="visible"/>
                                      </p:to>
                                    </p:set>
                                    <p:animEffect transition="in" filter="fade">
                                      <p:cBhvr>
                                        <p:cTn id="126" dur="1000"/>
                                        <p:tgtEl>
                                          <p:spTgt spid="32"/>
                                        </p:tgtEl>
                                      </p:cBhvr>
                                    </p:animEffect>
                                  </p:childTnLst>
                                </p:cTn>
                              </p:par>
                              <p:par>
                                <p:cTn id="128" presetID="10" presetClass="entr" presetSubtype="0" fill="hold" nodeType="withEffect">
                                  <p:stCondLst>
                                    <p:cond delay="1800"/>
                                  </p:stCondLst>
                                  <p:childTnLst>
                                    <p:set>
                                      <p:cBhvr>
                                        <p:cTn id="129" dur="1" fill="hold">
                                          <p:stCondLst>
                                            <p:cond delay="0"/>
                                          </p:stCondLst>
                                        </p:cTn>
                                        <p:tgtEl>
                                          <p:spTgt spid="33"/>
                                        </p:tgtEl>
                                        <p:attrNameLst>
                                          <p:attrName>style.visibility</p:attrName>
                                        </p:attrNameLst>
                                      </p:cBhvr>
                                      <p:to>
                                        <p:strVal val="visible"/>
                                      </p:to>
                                    </p:set>
                                    <p:animEffect transition="in" filter="fade">
                                      <p:cBhvr>
                                        <p:cTn id="130"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Git workflow: branches, Pull Requests, reviews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I set this up for the group on both repositories</a:t>
            </a:r>
          </a:p>
        </p:txBody>
      </p:sp>
      <p:sp>
        <p:nvSpPr>
          <p:cNvPr id="5" name="Rounded Rectangle 4"/>
          <p:cNvSpPr/>
          <p:nvPr/>
        </p:nvSpPr>
        <p:spPr>
          <a:xfrm>
            <a:off x="502920" y="1920240"/>
            <a:ext cx="210312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Pull main</a:t>
            </a:r>
          </a:p>
        </p:txBody>
      </p:sp>
      <p:sp>
        <p:nvSpPr>
          <p:cNvPr id="7" name="TextBox 6"/>
          <p:cNvSpPr txBox="1"/>
          <p:nvPr/>
        </p:nvSpPr>
        <p:spPr>
          <a:xfrm>
            <a:off x="594360"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Start from the latest code</a:t>
            </a:r>
          </a:p>
        </p:txBody>
      </p:sp>
      <p:sp>
        <p:nvSpPr>
          <p:cNvPr id="8" name="TextBox 7"/>
          <p:cNvSpPr txBox="1"/>
          <p:nvPr/>
        </p:nvSpPr>
        <p:spPr>
          <a:xfrm>
            <a:off x="2514600" y="2606040"/>
            <a:ext cx="365760" cy="548640"/>
          </a:xfrm>
          <a:prstGeom prst="rect">
            <a:avLst/>
          </a:prstGeom>
          <a:noFill/>
        </p:spPr>
        <p:txBody>
          <a:bodyPr wrap="square" anchor="t" lIns="45720" rIns="45720">
            <a:spAutoFit/>
          </a:bodyPr>
          <a:lstStyle/>
          <a:p>
            <a:pPr algn="ctr">
              <a:spcAft>
                <a:spcPts val="600"/>
              </a:spcAft>
            </a:pPr>
            <a:r>
              <a:rPr sz="2600" b="1">
                <a:solidFill>
                  <a:srgbClr val="C68B59"/>
                </a:solidFill>
                <a:latin typeface="Calibri"/>
              </a:rPr>
              <a:t>→</a:t>
            </a:r>
          </a:p>
        </p:txBody>
      </p:sp>
      <p:sp>
        <p:nvSpPr>
          <p:cNvPr id="9" name="Rounded Rectangle 8"/>
          <p:cNvSpPr/>
          <p:nvPr/>
        </p:nvSpPr>
        <p:spPr>
          <a:xfrm>
            <a:off x="2788920" y="1920240"/>
            <a:ext cx="2103120" cy="20116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Branch</a:t>
            </a:r>
          </a:p>
        </p:txBody>
      </p:sp>
      <p:sp>
        <p:nvSpPr>
          <p:cNvPr id="11" name="TextBox 10"/>
          <p:cNvSpPr txBox="1"/>
          <p:nvPr/>
        </p:nvSpPr>
        <p:spPr>
          <a:xfrm>
            <a:off x="2880360"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One branch per person, e.g. MoZa-Website</a:t>
            </a:r>
          </a:p>
        </p:txBody>
      </p:sp>
      <p:sp>
        <p:nvSpPr>
          <p:cNvPr id="12" name="TextBox 11"/>
          <p:cNvSpPr txBox="1"/>
          <p:nvPr/>
        </p:nvSpPr>
        <p:spPr>
          <a:xfrm>
            <a:off x="4800600" y="2606040"/>
            <a:ext cx="365760" cy="548640"/>
          </a:xfrm>
          <a:prstGeom prst="rect">
            <a:avLst/>
          </a:prstGeom>
          <a:noFill/>
        </p:spPr>
        <p:txBody>
          <a:bodyPr wrap="square" anchor="t" lIns="45720" rIns="45720">
            <a:spAutoFit/>
          </a:bodyPr>
          <a:lstStyle/>
          <a:p>
            <a:pPr algn="ctr">
              <a:spcAft>
                <a:spcPts val="600"/>
              </a:spcAft>
            </a:pPr>
            <a:r>
              <a:rPr sz="2600" b="1">
                <a:solidFill>
                  <a:srgbClr val="C68B59"/>
                </a:solidFill>
                <a:latin typeface="Calibri"/>
              </a:rPr>
              <a:t>→</a:t>
            </a:r>
          </a:p>
        </p:txBody>
      </p:sp>
      <p:sp>
        <p:nvSpPr>
          <p:cNvPr id="13" name="Rounded Rectangle 12"/>
          <p:cNvSpPr/>
          <p:nvPr/>
        </p:nvSpPr>
        <p:spPr>
          <a:xfrm>
            <a:off x="5074920" y="1920240"/>
            <a:ext cx="210312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6359"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Commit + push</a:t>
            </a:r>
          </a:p>
        </p:txBody>
      </p:sp>
      <p:sp>
        <p:nvSpPr>
          <p:cNvPr id="15" name="TextBox 14"/>
          <p:cNvSpPr txBox="1"/>
          <p:nvPr/>
        </p:nvSpPr>
        <p:spPr>
          <a:xfrm>
            <a:off x="5166359"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Save small changes to your own branch</a:t>
            </a:r>
          </a:p>
        </p:txBody>
      </p:sp>
      <p:sp>
        <p:nvSpPr>
          <p:cNvPr id="16" name="TextBox 15"/>
          <p:cNvSpPr txBox="1"/>
          <p:nvPr/>
        </p:nvSpPr>
        <p:spPr>
          <a:xfrm>
            <a:off x="7086600" y="2606040"/>
            <a:ext cx="365760" cy="548640"/>
          </a:xfrm>
          <a:prstGeom prst="rect">
            <a:avLst/>
          </a:prstGeom>
          <a:noFill/>
        </p:spPr>
        <p:txBody>
          <a:bodyPr wrap="square" anchor="t" lIns="45720" rIns="45720">
            <a:spAutoFit/>
          </a:bodyPr>
          <a:lstStyle/>
          <a:p>
            <a:pPr algn="ctr">
              <a:spcAft>
                <a:spcPts val="600"/>
              </a:spcAft>
            </a:pPr>
            <a:r>
              <a:rPr sz="2600" b="1">
                <a:solidFill>
                  <a:srgbClr val="C68B59"/>
                </a:solidFill>
                <a:latin typeface="Calibri"/>
              </a:rPr>
              <a:t>→</a:t>
            </a:r>
          </a:p>
        </p:txBody>
      </p:sp>
      <p:sp>
        <p:nvSpPr>
          <p:cNvPr id="17" name="Rounded Rectangle 16"/>
          <p:cNvSpPr/>
          <p:nvPr/>
        </p:nvSpPr>
        <p:spPr>
          <a:xfrm>
            <a:off x="7360920" y="1920240"/>
            <a:ext cx="2103120" cy="20116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Pull Request</a:t>
            </a:r>
          </a:p>
        </p:txBody>
      </p:sp>
      <p:sp>
        <p:nvSpPr>
          <p:cNvPr id="19" name="TextBox 18"/>
          <p:cNvSpPr txBox="1"/>
          <p:nvPr/>
        </p:nvSpPr>
        <p:spPr>
          <a:xfrm>
            <a:off x="7452360"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Ask to merge into main</a:t>
            </a:r>
          </a:p>
        </p:txBody>
      </p:sp>
      <p:sp>
        <p:nvSpPr>
          <p:cNvPr id="20" name="TextBox 19"/>
          <p:cNvSpPr txBox="1"/>
          <p:nvPr/>
        </p:nvSpPr>
        <p:spPr>
          <a:xfrm>
            <a:off x="9372600" y="2606040"/>
            <a:ext cx="365760" cy="548640"/>
          </a:xfrm>
          <a:prstGeom prst="rect">
            <a:avLst/>
          </a:prstGeom>
          <a:noFill/>
        </p:spPr>
        <p:txBody>
          <a:bodyPr wrap="square" anchor="t" lIns="45720" rIns="45720">
            <a:spAutoFit/>
          </a:bodyPr>
          <a:lstStyle/>
          <a:p>
            <a:pPr algn="ctr">
              <a:spcAft>
                <a:spcPts val="600"/>
              </a:spcAft>
            </a:pPr>
            <a:r>
              <a:rPr sz="2600" b="1">
                <a:solidFill>
                  <a:srgbClr val="C68B59"/>
                </a:solidFill>
                <a:latin typeface="Calibri"/>
              </a:rPr>
              <a:t>→</a:t>
            </a:r>
          </a:p>
        </p:txBody>
      </p:sp>
      <p:sp>
        <p:nvSpPr>
          <p:cNvPr id="21" name="Rounded Rectangle 20"/>
          <p:cNvSpPr/>
          <p:nvPr/>
        </p:nvSpPr>
        <p:spPr>
          <a:xfrm>
            <a:off x="9646920" y="1920240"/>
            <a:ext cx="210312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38360"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Review + merge</a:t>
            </a:r>
          </a:p>
        </p:txBody>
      </p:sp>
      <p:sp>
        <p:nvSpPr>
          <p:cNvPr id="23" name="TextBox 22"/>
          <p:cNvSpPr txBox="1"/>
          <p:nvPr/>
        </p:nvSpPr>
        <p:spPr>
          <a:xfrm>
            <a:off x="9738360"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Someone else checks it, then merges</a:t>
            </a:r>
          </a:p>
        </p:txBody>
      </p:sp>
      <p:sp>
        <p:nvSpPr>
          <p:cNvPr id="24" name="TextBox 23"/>
          <p:cNvSpPr txBox="1"/>
          <p:nvPr/>
        </p:nvSpPr>
        <p:spPr>
          <a:xfrm>
            <a:off x="640080" y="4297680"/>
            <a:ext cx="10972800" cy="4114800"/>
          </a:xfrm>
          <a:prstGeom prst="rect">
            <a:avLst/>
          </a:prstGeom>
          <a:noFill/>
        </p:spPr>
        <p:txBody>
          <a:bodyPr wrap="square">
            <a:spAutoFit/>
          </a:bodyPr>
          <a:lstStyle/>
          <a:p>
            <a:pPr>
              <a:spcAft>
                <a:spcPts val="800"/>
              </a:spcAft>
            </a:pPr>
            <a:r>
              <a:rPr sz="1700">
                <a:solidFill>
                  <a:srgbClr val="2F302D"/>
                </a:solidFill>
                <a:latin typeface="Calibri"/>
              </a:rPr>
              <a:t>•  Why: nobody works straight on main, so nobody can break the shared code by accident</a:t>
            </a:r>
          </a:p>
          <a:p>
            <a:pPr>
              <a:spcAft>
                <a:spcPts val="800"/>
              </a:spcAft>
            </a:pPr>
            <a:r>
              <a:rPr sz="1700">
                <a:solidFill>
                  <a:srgbClr val="2F302D"/>
                </a:solidFill>
                <a:latin typeface="Calibri"/>
              </a:rPr>
              <a:t>•  Reviews catch mistakes and keep everyone on the same page about what changed</a:t>
            </a:r>
          </a:p>
          <a:p>
            <a:pPr>
              <a:spcAft>
                <a:spcPts val="800"/>
              </a:spcAft>
            </a:pPr>
            <a:r>
              <a:rPr sz="1700">
                <a:solidFill>
                  <a:srgbClr val="2F302D"/>
                </a:solidFill>
                <a:latin typeface="Calibri"/>
              </a:rPr>
              <a:t>•  I wrote the step-by-step guide and recorded a video walkthrough for the group</a:t>
            </a:r>
          </a:p>
        </p:txBody>
      </p:sp>
      <p:sp>
        <p:nvSpPr>
          <p:cNvPr id="25" name="TextBox 24"/>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6"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par>
                                <p:cTn id="24" presetID="10" presetClass="entr" presetSubtype="0" fill="hold" nodeType="withEffect">
                                  <p:stCondLst>
                                    <p:cond delay="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childTnLst>
                                </p:cTn>
                              </p:par>
                              <p:par>
                                <p:cTn id="28" presetID="10" presetClass="entr" presetSubtype="0" fill="hold" nodeType="withEffect">
                                  <p:stCondLst>
                                    <p:cond delay="90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1000"/>
                                        <p:tgtEl>
                                          <p:spTgt spid="17"/>
                                        </p:tgtEl>
                                      </p:cBhvr>
                                    </p:animEffect>
                                  </p:childTnLst>
                                </p:cTn>
                              </p:par>
                              <p:par>
                                <p:cTn id="32" presetID="10" presetClass="entr" presetSubtype="0" fill="hold" nodeType="withEffect">
                                  <p:stCondLst>
                                    <p:cond delay="105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childTnLst>
                                </p:cTn>
                              </p:par>
                              <p:par>
                                <p:cTn id="36" presetID="10" presetClass="entr" presetSubtype="0" fill="hold" nodeType="withEffect">
                                  <p:stCondLst>
                                    <p:cond delay="120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1000"/>
                                        <p:tgtEl>
                                          <p:spTgt spid="18"/>
                                        </p:tgtEl>
                                      </p:cBhvr>
                                    </p:animEffect>
                                  </p:childTnLst>
                                </p:cTn>
                              </p:par>
                              <p:par>
                                <p:cTn id="52" presetID="10" presetClass="entr" presetSubtype="0" fill="hold" nodeType="withEffect">
                                  <p:stCondLst>
                                    <p:cond delay="180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1000"/>
                                        <p:tgtEl>
                                          <p:spTgt spid="22"/>
                                        </p:tgtEl>
                                      </p:cBhvr>
                                    </p:animEffect>
                                  </p:childTnLst>
                                </p:cTn>
                              </p:par>
                              <p:par>
                                <p:cTn id="56" presetID="10" presetClass="entr" presetSubtype="0" fill="hold" nodeType="withEffect">
                                  <p:stCondLst>
                                    <p:cond delay="180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1000"/>
                                        <p:tgtEl>
                                          <p:spTgt spid="8"/>
                                        </p:tgtEl>
                                      </p:cBhvr>
                                    </p:animEffect>
                                  </p:childTnLst>
                                </p:cTn>
                              </p:par>
                              <p:par>
                                <p:cTn id="60" presetID="10" presetClass="entr" presetSubtype="0" fill="hold" nodeType="withEffect">
                                  <p:stCondLst>
                                    <p:cond delay="180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1000"/>
                                        <p:tgtEl>
                                          <p:spTgt spid="12"/>
                                        </p:tgtEl>
                                      </p:cBhvr>
                                    </p:animEffect>
                                  </p:childTnLst>
                                </p:cTn>
                              </p:par>
                              <p:par>
                                <p:cTn id="64" presetID="10" presetClass="entr" presetSubtype="0" fill="hold" nodeType="withEffect">
                                  <p:stCondLst>
                                    <p:cond delay="180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1000"/>
                                        <p:tgtEl>
                                          <p:spTgt spid="16"/>
                                        </p:tgtEl>
                                      </p:cBhvr>
                                    </p:animEffect>
                                  </p:childTnLst>
                                </p:cTn>
                              </p:par>
                              <p:par>
                                <p:cTn id="68" presetID="10" presetClass="entr" presetSubtype="0" fill="hold" nodeType="withEffect">
                                  <p:stCondLst>
                                    <p:cond delay="180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1000"/>
                                        <p:tgtEl>
                                          <p:spTgt spid="20"/>
                                        </p:tgtEl>
                                      </p:cBhvr>
                                    </p:animEffect>
                                  </p:childTnLst>
                                </p:cTn>
                              </p:par>
                              <p:par>
                                <p:cTn id="72" presetID="10" presetClass="entr" presetSubtype="0" fill="hold" nodeType="withEffect">
                                  <p:stCondLst>
                                    <p:cond delay="1800"/>
                                  </p:stCondLst>
                                  <p:childTnLst>
                                    <p:set>
                                      <p:cBhvr>
                                        <p:cTn id="73" dur="1" fill="hold">
                                          <p:stCondLst>
                                            <p:cond delay="0"/>
                                          </p:stCondLst>
                                        </p:cTn>
                                        <p:tgtEl>
                                          <p:spTgt spid="7"/>
                                        </p:tgtEl>
                                        <p:attrNameLst>
                                          <p:attrName>style.visibility</p:attrName>
                                        </p:attrNameLst>
                                      </p:cBhvr>
                                      <p:to>
                                        <p:strVal val="visible"/>
                                      </p:to>
                                    </p:set>
                                    <p:animEffect transition="in" filter="fade">
                                      <p:cBhvr>
                                        <p:cTn id="74" dur="1000"/>
                                        <p:tgtEl>
                                          <p:spTgt spid="7"/>
                                        </p:tgtEl>
                                      </p:cBhvr>
                                    </p:animEffect>
                                  </p:childTnLst>
                                </p:cTn>
                              </p:par>
                              <p:par>
                                <p:cTn id="76" presetID="10" presetClass="entr" presetSubtype="0" fill="hold" nodeType="withEffect">
                                  <p:stCondLst>
                                    <p:cond delay="180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1000"/>
                                        <p:tgtEl>
                                          <p:spTgt spid="11"/>
                                        </p:tgtEl>
                                      </p:cBhvr>
                                    </p:animEffect>
                                  </p:childTnLst>
                                </p:cTn>
                              </p:par>
                              <p:par>
                                <p:cTn id="80" presetID="10" presetClass="entr" presetSubtype="0" fill="hold" nodeType="withEffect">
                                  <p:stCondLst>
                                    <p:cond delay="180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1000"/>
                                        <p:tgtEl>
                                          <p:spTgt spid="15"/>
                                        </p:tgtEl>
                                      </p:cBhvr>
                                    </p:animEffect>
                                  </p:childTnLst>
                                </p:cTn>
                              </p:par>
                              <p:par>
                                <p:cTn id="84" presetID="10" presetClass="entr" presetSubtype="0" fill="hold" nodeType="withEffect">
                                  <p:stCondLst>
                                    <p:cond delay="180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1000"/>
                                        <p:tgtEl>
                                          <p:spTgt spid="19"/>
                                        </p:tgtEl>
                                      </p:cBhvr>
                                    </p:animEffect>
                                  </p:childTnLst>
                                </p:cTn>
                              </p:par>
                              <p:par>
                                <p:cTn id="88" presetID="10" presetClass="entr" presetSubtype="0" fill="hold" nodeType="withEffect">
                                  <p:stCondLst>
                                    <p:cond delay="180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1000"/>
                                        <p:tgtEl>
                                          <p:spTgt spid="23"/>
                                        </p:tgtEl>
                                      </p:cBhvr>
                                    </p:animEffect>
                                  </p:childTnLst>
                                </p:cTn>
                              </p:par>
                              <p:par>
                                <p:cTn id="92" presetID="10" presetClass="entr" presetSubtype="0" fill="hold" nodeType="withEffect">
                                  <p:stCondLst>
                                    <p:cond delay="180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Live demo: Fees Calculator</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Pick 4 courses, then show 15% off and VAT</a:t>
            </a:r>
          </a:p>
        </p:txBody>
      </p:sp>
      <p:sp>
        <p:nvSpPr>
          <p:cNvPr id="5" name="Oval 4"/>
          <p:cNvSpPr/>
          <p:nvPr/>
        </p:nvSpPr>
        <p:spPr>
          <a:xfrm>
            <a:off x="731520" y="178308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1</a:t>
            </a:r>
          </a:p>
        </p:txBody>
      </p:sp>
      <p:sp>
        <p:nvSpPr>
          <p:cNvPr id="6" name="TextBox 5"/>
          <p:cNvSpPr txBox="1"/>
          <p:nvPr/>
        </p:nvSpPr>
        <p:spPr>
          <a:xfrm>
            <a:off x="1417320" y="174650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Open the Fees Calculator</a:t>
            </a:r>
          </a:p>
        </p:txBody>
      </p:sp>
      <p:sp>
        <p:nvSpPr>
          <p:cNvPr id="7" name="TextBox 6"/>
          <p:cNvSpPr txBox="1"/>
          <p:nvPr/>
        </p:nvSpPr>
        <p:spPr>
          <a:xfrm>
            <a:off x="1417320" y="2084831"/>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Website: Pricing / Fees page. Everything starts at R0.00</a:t>
            </a:r>
          </a:p>
        </p:txBody>
      </p:sp>
      <p:sp>
        <p:nvSpPr>
          <p:cNvPr id="8" name="Oval 7"/>
          <p:cNvSpPr/>
          <p:nvPr/>
        </p:nvSpPr>
        <p:spPr>
          <a:xfrm>
            <a:off x="731520" y="251460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2</a:t>
            </a:r>
          </a:p>
        </p:txBody>
      </p:sp>
      <p:sp>
        <p:nvSpPr>
          <p:cNvPr id="9" name="TextBox 8"/>
          <p:cNvSpPr txBox="1"/>
          <p:nvPr/>
        </p:nvSpPr>
        <p:spPr>
          <a:xfrm>
            <a:off x="1417320" y="247802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Tick 4 courses</a:t>
            </a:r>
          </a:p>
        </p:txBody>
      </p:sp>
      <p:sp>
        <p:nvSpPr>
          <p:cNvPr id="10" name="TextBox 9"/>
          <p:cNvSpPr txBox="1"/>
          <p:nvPr/>
        </p:nvSpPr>
        <p:spPr>
          <a:xfrm>
            <a:off x="1417320" y="281635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Canine Obedience, Pet Grooming, Puppy Care, Pet First Aid</a:t>
            </a:r>
          </a:p>
        </p:txBody>
      </p:sp>
      <p:sp>
        <p:nvSpPr>
          <p:cNvPr id="11" name="Oval 10"/>
          <p:cNvSpPr/>
          <p:nvPr/>
        </p:nvSpPr>
        <p:spPr>
          <a:xfrm>
            <a:off x="731520" y="324612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3</a:t>
            </a:r>
          </a:p>
        </p:txBody>
      </p:sp>
      <p:sp>
        <p:nvSpPr>
          <p:cNvPr id="12" name="TextBox 11"/>
          <p:cNvSpPr txBox="1"/>
          <p:nvPr/>
        </p:nvSpPr>
        <p:spPr>
          <a:xfrm>
            <a:off x="1417320" y="320954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Point at the discount</a:t>
            </a:r>
          </a:p>
        </p:txBody>
      </p:sp>
      <p:sp>
        <p:nvSpPr>
          <p:cNvPr id="13" name="TextBox 12"/>
          <p:cNvSpPr txBox="1"/>
          <p:nvPr/>
        </p:nvSpPr>
        <p:spPr>
          <a:xfrm>
            <a:off x="1417320" y="354787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Label changes to Discount 15%. Show -R675.00</a:t>
            </a:r>
          </a:p>
        </p:txBody>
      </p:sp>
      <p:sp>
        <p:nvSpPr>
          <p:cNvPr id="14" name="Oval 13"/>
          <p:cNvSpPr/>
          <p:nvPr/>
        </p:nvSpPr>
        <p:spPr>
          <a:xfrm>
            <a:off x="731520" y="397764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4</a:t>
            </a:r>
          </a:p>
        </p:txBody>
      </p:sp>
      <p:sp>
        <p:nvSpPr>
          <p:cNvPr id="15" name="TextBox 14"/>
          <p:cNvSpPr txBox="1"/>
          <p:nvPr/>
        </p:nvSpPr>
        <p:spPr>
          <a:xfrm>
            <a:off x="1417320" y="394106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Point at VAT</a:t>
            </a:r>
          </a:p>
        </p:txBody>
      </p:sp>
      <p:sp>
        <p:nvSpPr>
          <p:cNvPr id="16" name="TextBox 15"/>
          <p:cNvSpPr txBox="1"/>
          <p:nvPr/>
        </p:nvSpPr>
        <p:spPr>
          <a:xfrm>
            <a:off x="1417320" y="427939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R573.75, charged after the discount</a:t>
            </a:r>
          </a:p>
        </p:txBody>
      </p:sp>
      <p:sp>
        <p:nvSpPr>
          <p:cNvPr id="17" name="Oval 16"/>
          <p:cNvSpPr/>
          <p:nvPr/>
        </p:nvSpPr>
        <p:spPr>
          <a:xfrm>
            <a:off x="731520" y="470916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5</a:t>
            </a:r>
          </a:p>
        </p:txBody>
      </p:sp>
      <p:sp>
        <p:nvSpPr>
          <p:cNvPr id="18" name="TextBox 17"/>
          <p:cNvSpPr txBox="1"/>
          <p:nvPr/>
        </p:nvSpPr>
        <p:spPr>
          <a:xfrm>
            <a:off x="1417320" y="467258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Read the total</a:t>
            </a:r>
          </a:p>
        </p:txBody>
      </p:sp>
      <p:sp>
        <p:nvSpPr>
          <p:cNvPr id="19" name="TextBox 18"/>
          <p:cNvSpPr txBox="1"/>
          <p:nvPr/>
        </p:nvSpPr>
        <p:spPr>
          <a:xfrm>
            <a:off x="1417320" y="501091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R4,398.75</a:t>
            </a:r>
          </a:p>
        </p:txBody>
      </p:sp>
      <p:sp>
        <p:nvSpPr>
          <p:cNvPr id="20" name="Oval 19"/>
          <p:cNvSpPr/>
          <p:nvPr/>
        </p:nvSpPr>
        <p:spPr>
          <a:xfrm>
            <a:off x="731520" y="544068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6</a:t>
            </a:r>
          </a:p>
        </p:txBody>
      </p:sp>
      <p:sp>
        <p:nvSpPr>
          <p:cNvPr id="21" name="TextBox 20"/>
          <p:cNvSpPr txBox="1"/>
          <p:nvPr/>
        </p:nvSpPr>
        <p:spPr>
          <a:xfrm>
            <a:off x="1417320" y="540410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Untick one course</a:t>
            </a:r>
          </a:p>
        </p:txBody>
      </p:sp>
      <p:sp>
        <p:nvSpPr>
          <p:cNvPr id="22" name="TextBox 21"/>
          <p:cNvSpPr txBox="1"/>
          <p:nvPr/>
        </p:nvSpPr>
        <p:spPr>
          <a:xfrm>
            <a:off x="1417320" y="574243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Discount drops to 10%. Shows the tiers live</a:t>
            </a:r>
          </a:p>
        </p:txBody>
      </p:sp>
      <p:sp>
        <p:nvSpPr>
          <p:cNvPr id="23" name="Rounded Rectangle 22"/>
          <p:cNvSpPr/>
          <p:nvPr/>
        </p:nvSpPr>
        <p:spPr>
          <a:xfrm>
            <a:off x="7772400" y="1783080"/>
            <a:ext cx="3840480" cy="420624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1920240"/>
            <a:ext cx="338328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Numbers to have ready</a:t>
            </a:r>
          </a:p>
        </p:txBody>
      </p:sp>
      <p:sp>
        <p:nvSpPr>
          <p:cNvPr id="25" name="TextBox 24"/>
          <p:cNvSpPr txBox="1"/>
          <p:nvPr/>
        </p:nvSpPr>
        <p:spPr>
          <a:xfrm>
            <a:off x="8001000" y="2560320"/>
            <a:ext cx="3383280" cy="329184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Subtotal  R4,500.00</a:t>
            </a:r>
          </a:p>
          <a:p>
            <a:pPr algn="l">
              <a:spcAft>
                <a:spcPts val="600"/>
              </a:spcAft>
            </a:pPr>
            <a:r>
              <a:rPr sz="1600" b="0">
                <a:solidFill>
                  <a:srgbClr val="2F302D"/>
                </a:solidFill>
                <a:latin typeface="Calibri"/>
              </a:rPr>
              <a:t>Discount 15%  -R675.00</a:t>
            </a:r>
          </a:p>
          <a:p>
            <a:pPr algn="l">
              <a:spcAft>
                <a:spcPts val="600"/>
              </a:spcAft>
            </a:pPr>
            <a:r>
              <a:rPr sz="1600" b="0">
                <a:solidFill>
                  <a:srgbClr val="2F302D"/>
                </a:solidFill>
                <a:latin typeface="Calibri"/>
              </a:rPr>
              <a:t>VAT  R573.75</a:t>
            </a:r>
          </a:p>
          <a:p>
            <a:pPr algn="l">
              <a:spcAft>
                <a:spcPts val="600"/>
              </a:spcAft>
            </a:pPr>
            <a:r>
              <a:rPr sz="1600" b="0">
                <a:solidFill>
                  <a:srgbClr val="2F302D"/>
                </a:solidFill>
                <a:latin typeface="Calibri"/>
              </a:rPr>
              <a:t>Total  R4,398.75</a:t>
            </a:r>
          </a:p>
          <a:p>
            <a:pPr algn="l">
              <a:spcAft>
                <a:spcPts val="600"/>
              </a:spcAft>
            </a:pPr>
            <a:r>
              <a:rPr sz="1600" b="0">
                <a:solidFill>
                  <a:srgbClr val="2F302D"/>
                </a:solidFill>
                <a:latin typeface="Calibri"/>
              </a:rPr>
              <a:t/>
            </a:r>
          </a:p>
          <a:p>
            <a:pPr algn="l">
              <a:spcAft>
                <a:spcPts val="600"/>
              </a:spcAft>
            </a:pPr>
            <a:r>
              <a:rPr sz="1600" b="0">
                <a:solidFill>
                  <a:srgbClr val="2F302D"/>
                </a:solidFill>
                <a:latin typeface="Calibri"/>
              </a:rPr>
              <a:t>3 courses (R3,750) would be 10%: total R3,881.25</a:t>
            </a:r>
          </a:p>
        </p:txBody>
      </p:sp>
      <p:sp>
        <p:nvSpPr>
          <p:cNvPr id="26" name="TextBox 25"/>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All</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1000"/>
                                        <p:tgtEl>
                                          <p:spTgt spid="23"/>
                                        </p:tgtEl>
                                      </p:cBhvr>
                                    </p:animEffect>
                                  </p:childTnLst>
                                </p:cTn>
                              </p:par>
                              <p:par>
                                <p:cTn id="28" presetID="10" presetClass="entr" presetSubtype="0" fill="hold" nodeType="withEffect">
                                  <p:stCondLst>
                                    <p:cond delay="90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1000"/>
                                        <p:tgtEl>
                                          <p:spTgt spid="24"/>
                                        </p:tgtEl>
                                      </p:cBhvr>
                                    </p:animEffect>
                                  </p:childTnLst>
                                </p:cTn>
                              </p:par>
                              <p:par>
                                <p:cTn id="32" presetID="10" presetClass="entr" presetSubtype="0" fill="hold" nodeType="withEffect">
                                  <p:stCondLst>
                                    <p:cond delay="105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childTnLst>
                                </p:cTn>
                              </p:par>
                              <p:par>
                                <p:cTn id="36" presetID="10" presetClass="entr" presetSubtype="0" fill="hold" nodeType="withEffect">
                                  <p:stCondLst>
                                    <p:cond delay="12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childTnLst>
                                </p:cTn>
                              </p:par>
                              <p:par>
                                <p:cTn id="40" presetID="10" presetClass="entr" presetSubtype="0" fill="hold" nodeType="withEffect">
                                  <p:stCondLst>
                                    <p:cond delay="135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childTnLst>
                                </p:cTn>
                              </p:par>
                              <p:par>
                                <p:cTn id="44" presetID="10" presetClass="entr" presetSubtype="0" fill="hold" nodeType="withEffect">
                                  <p:stCondLst>
                                    <p:cond delay="150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1000"/>
                                        <p:tgtEl>
                                          <p:spTgt spid="25"/>
                                        </p:tgtEl>
                                      </p:cBhvr>
                                    </p:animEffect>
                                  </p:childTnLst>
                                </p:cTn>
                              </p:par>
                              <p:par>
                                <p:cTn id="48" presetID="10" presetClass="entr" presetSubtype="0" fill="hold" nodeType="withEffect">
                                  <p:stCondLst>
                                    <p:cond delay="165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childTnLst>
                                </p:cTn>
                              </p:par>
                              <p:par>
                                <p:cTn id="52" presetID="10" presetClass="entr" presetSubtype="0" fill="hold" nodeType="withEffect">
                                  <p:stCondLst>
                                    <p:cond delay="180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childTnLst>
                                </p:cTn>
                              </p:par>
                              <p:par>
                                <p:cTn id="56" presetID="10" presetClass="entr" presetSubtype="0" fill="hold" nodeType="withEffect">
                                  <p:stCondLst>
                                    <p:cond delay="180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1000"/>
                                        <p:tgtEl>
                                          <p:spTgt spid="12"/>
                                        </p:tgtEl>
                                      </p:cBhvr>
                                    </p:animEffect>
                                  </p:childTnLst>
                                </p:cTn>
                              </p:par>
                              <p:par>
                                <p:cTn id="60" presetID="10" presetClass="entr" presetSubtype="0" fill="hold" nodeType="withEffect">
                                  <p:stCondLst>
                                    <p:cond delay="180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childTnLst>
                                </p:cTn>
                              </p:par>
                              <p:par>
                                <p:cTn id="64" presetID="10" presetClass="entr" presetSubtype="0" fill="hold" nodeType="withEffect">
                                  <p:stCondLst>
                                    <p:cond delay="180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1000"/>
                                        <p:tgtEl>
                                          <p:spTgt spid="14"/>
                                        </p:tgtEl>
                                      </p:cBhvr>
                                    </p:animEffect>
                                  </p:childTnLst>
                                </p:cTn>
                              </p:par>
                              <p:par>
                                <p:cTn id="68" presetID="10" presetClass="entr" presetSubtype="0" fill="hold" nodeType="withEffect">
                                  <p:stCondLst>
                                    <p:cond delay="180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1000"/>
                                        <p:tgtEl>
                                          <p:spTgt spid="15"/>
                                        </p:tgtEl>
                                      </p:cBhvr>
                                    </p:animEffect>
                                  </p:childTnLst>
                                </p:cTn>
                              </p:par>
                              <p:par>
                                <p:cTn id="72" presetID="10" presetClass="entr" presetSubtype="0" fill="hold" nodeType="withEffect">
                                  <p:stCondLst>
                                    <p:cond delay="180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childTnLst>
                                </p:cTn>
                              </p:par>
                              <p:par>
                                <p:cTn id="76" presetID="10" presetClass="entr" presetSubtype="0" fill="hold" nodeType="withEffect">
                                  <p:stCondLst>
                                    <p:cond delay="180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1000"/>
                                        <p:tgtEl>
                                          <p:spTgt spid="18"/>
                                        </p:tgtEl>
                                      </p:cBhvr>
                                    </p:animEffect>
                                  </p:childTnLst>
                                </p:cTn>
                              </p:par>
                              <p:par>
                                <p:cTn id="80" presetID="10" presetClass="entr" presetSubtype="0" fill="hold" nodeType="withEffect">
                                  <p:stCondLst>
                                    <p:cond delay="180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childTnLst>
                                </p:cTn>
                              </p:par>
                              <p:par>
                                <p:cTn id="84" presetID="10" presetClass="entr" presetSubtype="0" fill="hold" nodeType="withEffect">
                                  <p:stCondLst>
                                    <p:cond delay="180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1000"/>
                                        <p:tgtEl>
                                          <p:spTgt spid="19"/>
                                        </p:tgtEl>
                                      </p:cBhvr>
                                    </p:animEffect>
                                  </p:childTnLst>
                                </p:cTn>
                              </p:par>
                              <p:par>
                                <p:cTn id="88" presetID="10" presetClass="entr" presetSubtype="0" fill="hold" nodeType="withEffect">
                                  <p:stCondLst>
                                    <p:cond delay="18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1000"/>
                                        <p:tgtEl>
                                          <p:spTgt spid="21"/>
                                        </p:tgtEl>
                                      </p:cBhvr>
                                    </p:animEffect>
                                  </p:childTnLst>
                                </p:cTn>
                              </p:par>
                              <p:par>
                                <p:cTn id="92" presetID="10" presetClass="entr" presetSubtype="0" fill="hold" nodeType="withEffect">
                                  <p:stCondLst>
                                    <p:cond delay="180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1000"/>
                                        <p:tgtEl>
                                          <p:spTgt spid="20"/>
                                        </p:tgtEl>
                                      </p:cBhvr>
                                    </p:animEffect>
                                  </p:childTnLst>
                                </p:cTn>
                              </p:par>
                              <p:par>
                                <p:cTn id="96" presetID="10" presetClass="entr" presetSubtype="0" fill="hold" nodeType="withEffect">
                                  <p:stCondLst>
                                    <p:cond delay="180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5A3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inal_site.jpg"/>
          <p:cNvPicPr>
            <a:picLocks noChangeAspect="1"/>
          </p:cNvPicPr>
          <p:nvPr/>
        </p:nvPicPr>
        <p:blipFill>
          <a:blip r:embed="rId2"/>
          <a:stretch>
            <a:fillRect/>
          </a:stretch>
        </p:blipFill>
        <p:spPr>
          <a:xfrm>
            <a:off x="3813048" y="548640"/>
            <a:ext cx="4572000" cy="2421731"/>
          </a:xfrm>
          <a:prstGeom prst="rect">
            <a:avLst/>
          </a:prstGeom>
        </p:spPr>
      </p:pic>
      <p:sp>
        <p:nvSpPr>
          <p:cNvPr id="4" name="TextBox 3"/>
          <p:cNvSpPr txBox="1"/>
          <p:nvPr/>
        </p:nvSpPr>
        <p:spPr>
          <a:xfrm>
            <a:off x="0" y="3840480"/>
            <a:ext cx="12191695" cy="914400"/>
          </a:xfrm>
          <a:prstGeom prst="rect">
            <a:avLst/>
          </a:prstGeom>
          <a:noFill/>
        </p:spPr>
        <p:txBody>
          <a:bodyPr wrap="square" anchor="t" lIns="45720" rIns="45720">
            <a:spAutoFit/>
          </a:bodyPr>
          <a:lstStyle/>
          <a:p>
            <a:pPr algn="ctr">
              <a:spcAft>
                <a:spcPts val="600"/>
              </a:spcAft>
            </a:pPr>
            <a:r>
              <a:rPr sz="4400" b="1">
                <a:solidFill>
                  <a:srgbClr val="FFFDD0"/>
                </a:solidFill>
                <a:latin typeface="Book Antiqua"/>
              </a:rPr>
              <a:t>Thank you</a:t>
            </a:r>
          </a:p>
        </p:txBody>
      </p:sp>
      <p:sp>
        <p:nvSpPr>
          <p:cNvPr id="5" name="TextBox 4"/>
          <p:cNvSpPr txBox="1"/>
          <p:nvPr/>
        </p:nvSpPr>
        <p:spPr>
          <a:xfrm>
            <a:off x="0" y="4846320"/>
            <a:ext cx="12191695" cy="731520"/>
          </a:xfrm>
          <a:prstGeom prst="rect">
            <a:avLst/>
          </a:prstGeom>
          <a:noFill/>
        </p:spPr>
        <p:txBody>
          <a:bodyPr wrap="square" anchor="t" lIns="45720" rIns="45720">
            <a:spAutoFit/>
          </a:bodyPr>
          <a:lstStyle/>
          <a:p>
            <a:pPr algn="ctr">
              <a:spcAft>
                <a:spcPts val="600"/>
              </a:spcAft>
            </a:pPr>
            <a:r>
              <a:rPr sz="2400" b="0">
                <a:solidFill>
                  <a:srgbClr val="B0E0E6"/>
                </a:solidFill>
                <a:latin typeface="Calibri"/>
              </a:rPr>
              <a:t>Questions?</a:t>
            </a:r>
          </a:p>
        </p:txBody>
      </p:sp>
      <p:sp>
        <p:nvSpPr>
          <p:cNvPr id="6" name="TextBox 5"/>
          <p:cNvSpPr txBox="1"/>
          <p:nvPr/>
        </p:nvSpPr>
        <p:spPr>
          <a:xfrm>
            <a:off x="0" y="5852160"/>
            <a:ext cx="12191695" cy="548640"/>
          </a:xfrm>
          <a:prstGeom prst="rect">
            <a:avLst/>
          </a:prstGeom>
          <a:noFill/>
        </p:spPr>
        <p:txBody>
          <a:bodyPr wrap="square" anchor="t" lIns="45720" rIns="45720">
            <a:spAutoFit/>
          </a:bodyPr>
          <a:lstStyle/>
          <a:p>
            <a:pPr algn="ctr">
              <a:spcAft>
                <a:spcPts val="600"/>
              </a:spcAft>
            </a:pPr>
            <a:r>
              <a:rPr sz="1500" b="0">
                <a:solidFill>
                  <a:srgbClr val="FFFDD0"/>
                </a:solidFill>
                <a:latin typeface="Calibri"/>
              </a:rPr>
              <a:t>Meridian Tech Group  |  Pawsitive Pet Academy</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1000"/>
                                        <p:tgtEl>
                                          <p:spTgt spid="3"/>
                                        </p:tgtEl>
                                      </p:cBhvr>
                                    </p:animEffect>
                                  </p:childTnLst>
                                </p:cTn>
                              </p:par>
                              <p:par>
                                <p:cTn id="8" presetID="10" presetClass="entr" presetSubtype="0" fill="hold"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2" presetID="10"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childTnLst>
                                </p:cTn>
                              </p:par>
                              <p:par>
                                <p:cTn id="16" presetID="10" presetClass="entr" presetSubtype="0" fill="hold" nodeType="withEffect">
                                  <p:stCondLst>
                                    <p:cond delay="4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914400"/>
            <a:ext cx="5669280" cy="457200"/>
          </a:xfrm>
          <a:prstGeom prst="rect">
            <a:avLst/>
          </a:prstGeom>
          <a:noFill/>
        </p:spPr>
        <p:txBody>
          <a:bodyPr wrap="square" anchor="t" lIns="45720" rIns="45720">
            <a:spAutoFit/>
          </a:bodyPr>
          <a:lstStyle/>
          <a:p>
            <a:pPr algn="l">
              <a:spcAft>
                <a:spcPts val="600"/>
              </a:spcAft>
            </a:pPr>
            <a:r>
              <a:rPr sz="1400" b="1">
                <a:solidFill>
                  <a:srgbClr val="C68B59"/>
                </a:solidFill>
                <a:latin typeface="Calibri"/>
              </a:rPr>
              <a:t>WATCH THE FULL DEMO</a:t>
            </a:r>
          </a:p>
        </p:txBody>
      </p:sp>
      <p:sp>
        <p:nvSpPr>
          <p:cNvPr id="3" name="TextBox 2"/>
          <p:cNvSpPr txBox="1"/>
          <p:nvPr/>
        </p:nvSpPr>
        <p:spPr>
          <a:xfrm>
            <a:off x="822960" y="1463040"/>
            <a:ext cx="5852160" cy="2194560"/>
          </a:xfrm>
          <a:prstGeom prst="rect">
            <a:avLst/>
          </a:prstGeom>
          <a:noFill/>
        </p:spPr>
        <p:txBody>
          <a:bodyPr wrap="square" anchor="t" lIns="45720" rIns="45720">
            <a:spAutoFit/>
          </a:bodyPr>
          <a:lstStyle/>
          <a:p>
            <a:pPr algn="l">
              <a:spcAft>
                <a:spcPts val="600"/>
              </a:spcAft>
            </a:pPr>
            <a:r>
              <a:rPr sz="4800" b="1">
                <a:solidFill>
                  <a:srgbClr val="FFFFFF"/>
                </a:solidFill>
                <a:latin typeface="Book Antiqua"/>
              </a:rPr>
              <a:t>Scan to watch our video</a:t>
            </a:r>
          </a:p>
        </p:txBody>
      </p:sp>
      <p:sp>
        <p:nvSpPr>
          <p:cNvPr id="4" name="Rectangle 3"/>
          <p:cNvSpPr/>
          <p:nvPr/>
        </p:nvSpPr>
        <p:spPr>
          <a:xfrm>
            <a:off x="896112" y="3703320"/>
            <a:ext cx="274320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977639"/>
            <a:ext cx="5669280" cy="1097280"/>
          </a:xfrm>
          <a:prstGeom prst="rect">
            <a:avLst/>
          </a:prstGeom>
          <a:noFill/>
        </p:spPr>
        <p:txBody>
          <a:bodyPr wrap="square" anchor="t" lIns="45720" rIns="45720">
            <a:spAutoFit/>
          </a:bodyPr>
          <a:lstStyle/>
          <a:p>
            <a:pPr algn="l">
              <a:spcAft>
                <a:spcPts val="600"/>
              </a:spcAft>
            </a:pPr>
            <a:r>
              <a:rPr sz="1800" b="0">
                <a:solidFill>
                  <a:srgbClr val="FFFDD0"/>
                </a:solidFill>
                <a:latin typeface="Calibri"/>
              </a:rPr>
              <a:t>XHAW5112 Phase 2 | Group 4</a:t>
            </a:r>
          </a:p>
          <a:p>
            <a:pPr algn="l">
              <a:spcAft>
                <a:spcPts val="600"/>
              </a:spcAft>
            </a:pPr>
            <a:r>
              <a:rPr sz="1800" b="0">
                <a:solidFill>
                  <a:srgbClr val="FFFDD0"/>
                </a:solidFill>
                <a:latin typeface="Calibri"/>
              </a:rPr>
              <a:t>Pawsitive Pet Academy Website &amp; App Demo</a:t>
            </a:r>
          </a:p>
        </p:txBody>
      </p:sp>
      <p:sp>
        <p:nvSpPr>
          <p:cNvPr id="6" name="TextBox 5"/>
          <p:cNvSpPr txBox="1"/>
          <p:nvPr/>
        </p:nvSpPr>
        <p:spPr>
          <a:xfrm>
            <a:off x="822960" y="5212080"/>
            <a:ext cx="5669280" cy="457200"/>
          </a:xfrm>
          <a:prstGeom prst="rect">
            <a:avLst/>
          </a:prstGeom>
          <a:noFill/>
        </p:spPr>
        <p:txBody>
          <a:bodyPr wrap="square" anchor="t" lIns="45720" rIns="45720">
            <a:spAutoFit/>
          </a:bodyPr>
          <a:lstStyle/>
          <a:p>
            <a:pPr algn="l">
              <a:spcAft>
                <a:spcPts val="600"/>
              </a:spcAft>
            </a:pPr>
            <a:r>
              <a:rPr sz="2000" b="1">
                <a:solidFill>
                  <a:srgbClr val="B0E0E6"/>
                </a:solidFill>
                <a:latin typeface="Calibri"/>
              </a:rPr>
              <a:t>youtu.be/iXkaTIPUEzo</a:t>
            </a:r>
          </a:p>
        </p:txBody>
      </p:sp>
      <p:sp>
        <p:nvSpPr>
          <p:cNvPr id="7" name="Rounded Rectangle 6"/>
          <p:cNvSpPr/>
          <p:nvPr/>
        </p:nvSpPr>
        <p:spPr>
          <a:xfrm>
            <a:off x="7315200" y="1097280"/>
            <a:ext cx="4206240" cy="4480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r_demo.png"/>
          <p:cNvPicPr>
            <a:picLocks noChangeAspect="1"/>
          </p:cNvPicPr>
          <p:nvPr/>
        </p:nvPicPr>
        <p:blipFill>
          <a:blip r:embed="rId2"/>
          <a:stretch>
            <a:fillRect/>
          </a:stretch>
        </p:blipFill>
        <p:spPr>
          <a:xfrm>
            <a:off x="7589520" y="1371600"/>
            <a:ext cx="3657600" cy="3657600"/>
          </a:xfrm>
          <a:prstGeom prst="rect">
            <a:avLst/>
          </a:prstGeom>
        </p:spPr>
      </p:pic>
      <p:sp>
        <p:nvSpPr>
          <p:cNvPr id="9" name="TextBox 8"/>
          <p:cNvSpPr txBox="1"/>
          <p:nvPr/>
        </p:nvSpPr>
        <p:spPr>
          <a:xfrm>
            <a:off x="7315200" y="5074920"/>
            <a:ext cx="4206240" cy="457200"/>
          </a:xfrm>
          <a:prstGeom prst="rect">
            <a:avLst/>
          </a:prstGeom>
          <a:noFill/>
        </p:spPr>
        <p:txBody>
          <a:bodyPr wrap="square" anchor="t" lIns="45720" rIns="45720">
            <a:spAutoFit/>
          </a:bodyPr>
          <a:lstStyle/>
          <a:p>
            <a:pPr algn="ctr">
              <a:spcAft>
                <a:spcPts val="600"/>
              </a:spcAft>
            </a:pPr>
            <a:r>
              <a:rPr sz="1400" b="0">
                <a:solidFill>
                  <a:srgbClr val="5A3E2B"/>
                </a:solidFill>
                <a:latin typeface="Calibri"/>
              </a:rPr>
              <a:t>Point your phone camera here</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4" presetID="10" presetClass="entr" presetSubtype="0" fill="hold" nodeType="withEffect">
                                  <p:stCondLst>
                                    <p:cond delay="30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7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500"/>
                                        <p:tgtEl>
                                          <p:spTgt spid="3"/>
                                        </p:tgtEl>
                                      </p:cBhvr>
                                    </p:animEffect>
                                  </p:childTnLst>
                                </p:cTn>
                              </p:par>
                              <p:par>
                                <p:cTn id="12" presetID="22" presetClass="entr" presetSubtype="8" fill="hold" nodeType="withEffect">
                                  <p:stCondLst>
                                    <p:cond delay="160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900"/>
                                        <p:tgtEl>
                                          <p:spTgt spid="4"/>
                                        </p:tgtEl>
                                      </p:cBhvr>
                                    </p:animEffect>
                                  </p:childTnLst>
                                </p:cTn>
                              </p:par>
                              <p:par>
                                <p:cTn id="16" presetID="10" presetClass="entr" presetSubtype="0" fill="hold" nodeType="withEffect">
                                  <p:stCondLst>
                                    <p:cond delay="20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200"/>
                                        <p:tgtEl>
                                          <p:spTgt spid="5"/>
                                        </p:tgtEl>
                                      </p:cBhvr>
                                    </p:animEffect>
                                  </p:childTnLst>
                                </p:cTn>
                              </p:par>
                              <p:par>
                                <p:cTn id="20" presetID="10" presetClass="entr" presetSubtype="0" fill="hold" nodeType="withEffect">
                                  <p:stCondLst>
                                    <p:cond delay="2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200"/>
                                        <p:tgtEl>
                                          <p:spTgt spid="6"/>
                                        </p:tgtEl>
                                      </p:cBhvr>
                                    </p:animEffect>
                                  </p:childTnLst>
                                </p:cTn>
                              </p:par>
                              <p:par>
                                <p:cTn id="24" presetID="10" presetClass="entr" presetSubtype="0" fill="hold" nodeType="withEffect">
                                  <p:stCondLst>
                                    <p:cond delay="12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500"/>
                                        <p:tgtEl>
                                          <p:spTgt spid="7"/>
                                        </p:tgtEl>
                                      </p:cBhvr>
                                    </p:animEffect>
                                  </p:childTnLst>
                                </p:cTn>
                              </p:par>
                              <p:par>
                                <p:cTn id="28" presetID="10" presetClass="entr" presetSubtype="0" fill="hold" nodeType="withEffect">
                                  <p:stCondLst>
                                    <p:cond delay="15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